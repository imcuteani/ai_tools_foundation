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D46DAAB3-18B9-4F29-29D5-619FFCE23894}">
          <p14:sldIdLst>
            <p14:sldId id="256"/>
            <p14:sldId id="257"/>
            <p14:sldId id="258"/>
            <p14:sldId id="259"/>
            <p14:sldId id="260"/>
          </p14:sldIdLst>
        </p14:section>
        <p14:section name="Core tools" id="{8E29E925-1A0D-5FE1-82F9-6BC86CF85EF9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ules and Agent" id="{8CA7514F-BC48-DFFB-E32B-73542A2FA4B9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Debug and test" id="{2AA4C48E-5657-3781-1CE7-96E1FF401CB8}">
          <p14:sldIdLst>
            <p14:sldId id="274"/>
            <p14:sldId id="275"/>
            <p14:sldId id="276"/>
          </p14:sldIdLst>
        </p14:section>
        <p14:section name="Level up" id="{A149EADE-254C-CD91-D366-580D72B0BFDB}">
          <p14:sldIdLst>
            <p14:sldId id="277"/>
            <p14:sldId id="278"/>
            <p14:sldId id="279"/>
            <p14:sldId id="280"/>
            <p14:sldId id="281"/>
          </p14:sldIdLst>
        </p14:section>
        <p14:section name="Capstone" id="{5E6303F5-16EF-E6D7-6B87-D5EEB05D8987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73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The session runs 240 minutes with no scheduled breaks, so tell people they can step out whenever they need to. About 140 minutes are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short demos, then labs. Ask people to keep Cursor open the whole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no scheduled breaks. Invite people to step out during labs. Labs total 140 minutes (some include a short demo).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Cursor is a fork of VS Code, so it should feel familiar. The AI lives inside the editing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the starter repo in advance and share the link. Help anyone stuck on sign-in while others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two minutes on layout. Ask everyone to find each area in their own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each one live for about three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use the smallest tool that does the job. Escalate to Agent when the change spans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minutes. Early finishers: reject a suggestion and re-prompt with more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same request with and without @ mentions. Context quality is the biggest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people try each prompt on the starter repo before Lab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minutes. The starter repo has one planted bug. Do not reveal it. It is used again in Lab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five lines and add one each time Cursor repeats a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 of lab after a 5 minute explanation. Share a few good rules with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more specific your goal and constraints, the better Agent performs.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works in a loop. It keeps going until the task looks done or it needs your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minutes. Check in at the halfway mark. Remind people to commit before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the AI would have to guess in the vague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for about 5 minutes. Stress asking for the cause before the fix so people learn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Test-first prompts give Agent a clear target and give you a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 of lab after a 10 minute demo and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minutes for slides 22 and 23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MCP server live if possible. Keep permissions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faster the AI writes code, the more review discipline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of these they have already hit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 people screenshot this slide before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minutes. Everything from the day is allowed. Ask people to save one good prompt for the show and tell.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volunteers for demos, then collect prompts in a shared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each person to name one thing they will try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49377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Cursor Hands-On Workshop</a:t>
            </a:r>
            <a:endParaRPr lang="en-US" sz="4400" dirty="0"/>
          </a:p>
        </p:txBody>
      </p:sp>
      <p:sp>
        <p:nvSpPr>
          <p:cNvPr id="4" name="Editor window"/>
          <p:cNvSpPr/>
          <p:nvPr/>
        </p:nvSpPr>
        <p:spPr>
          <a:xfrm>
            <a:off x="594360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Window dot 1"/>
          <p:cNvSpPr/>
          <p:nvPr/>
        </p:nvSpPr>
        <p:spPr>
          <a:xfrm>
            <a:off x="6172200" y="141732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Window dot 2"/>
          <p:cNvSpPr/>
          <p:nvPr/>
        </p:nvSpPr>
        <p:spPr>
          <a:xfrm>
            <a:off x="6428232" y="1417320"/>
            <a:ext cx="146304" cy="146304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Window dot 3"/>
          <p:cNvSpPr/>
          <p:nvPr/>
        </p:nvSpPr>
        <p:spPr>
          <a:xfrm>
            <a:off x="6684264" y="1417320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Mock prompt"/>
          <p:cNvSpPr txBox="1"/>
          <p:nvPr/>
        </p:nvSpPr>
        <p:spPr>
          <a:xfrm>
            <a:off x="617220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add a dark-mode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toggle to @App.tsx</a:t>
            </a:r>
            <a:endParaRPr lang="en-US" sz="1200" dirty="0"/>
          </a:p>
        </p:txBody>
      </p:sp>
      <p:sp>
        <p:nvSpPr>
          <p:cNvPr id="9" name="Mock status"/>
          <p:cNvSpPr txBox="1"/>
          <p:nvPr/>
        </p:nvSpPr>
        <p:spPr>
          <a:xfrm>
            <a:off x="61722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 3 files edited</a:t>
            </a:r>
            <a:endParaRPr lang="en-US" sz="1200" dirty="0"/>
          </a:p>
        </p:txBody>
      </p:sp>
      <p:sp>
        <p:nvSpPr>
          <p:cNvPr id="10" name="Mock button"/>
          <p:cNvSpPr/>
          <p:nvPr/>
        </p:nvSpPr>
        <p:spPr>
          <a:xfrm>
            <a:off x="6172200" y="3200400"/>
            <a:ext cx="128016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Accept all</a:t>
            </a:r>
            <a:endParaRPr lang="en-US" sz="12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11C63CA-EF48-AF13-5A1A-DCD034C4D4FC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US" dirty="0"/>
              <a:t>Day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By the end you will</a:t>
            </a:r>
            <a:endParaRPr lang="en-US" sz="3600" dirty="0"/>
          </a:p>
        </p:txBody>
      </p:sp>
      <p:sp>
        <p:nvSpPr>
          <p:cNvPr id="3" name="Goal Navigate icon circle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Goal Navigate icon" descr="Goal Navigat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588770"/>
            <a:ext cx="251460" cy="251460"/>
          </a:xfrm>
          <a:prstGeom prst="rect">
            <a:avLst/>
          </a:prstGeom>
        </p:spPr>
      </p:pic>
      <p:sp>
        <p:nvSpPr>
          <p:cNvPr id="5" name="Goal Navigate heading"/>
          <p:cNvSpPr txBox="1"/>
          <p:nvPr/>
        </p:nvSpPr>
        <p:spPr>
          <a:xfrm>
            <a:off x="128016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Navigate</a:t>
            </a:r>
            <a:endParaRPr lang="en-US" sz="1800" dirty="0"/>
          </a:p>
        </p:txBody>
      </p:sp>
      <p:sp>
        <p:nvSpPr>
          <p:cNvPr id="6" name="Goal Navigate text"/>
          <p:cNvSpPr txBox="1"/>
          <p:nvPr/>
        </p:nvSpPr>
        <p:spPr>
          <a:xfrm>
            <a:off x="128016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 Tab, inline edit, chat and Agent with confidence.</a:t>
            </a:r>
            <a:endParaRPr lang="en-US" sz="1400" dirty="0"/>
          </a:p>
        </p:txBody>
      </p:sp>
      <p:sp>
        <p:nvSpPr>
          <p:cNvPr id="7" name="Goal Give context icon circle"/>
          <p:cNvSpPr/>
          <p:nvPr/>
        </p:nvSpPr>
        <p:spPr>
          <a:xfrm>
            <a:off x="470916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Goal Give context icon" descr="Goal Give contex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890" y="1588770"/>
            <a:ext cx="251460" cy="251460"/>
          </a:xfrm>
          <a:prstGeom prst="rect">
            <a:avLst/>
          </a:prstGeom>
        </p:spPr>
      </p:pic>
      <p:sp>
        <p:nvSpPr>
          <p:cNvPr id="9" name="Goal Give context heading"/>
          <p:cNvSpPr txBox="1"/>
          <p:nvPr/>
        </p:nvSpPr>
        <p:spPr>
          <a:xfrm>
            <a:off x="544068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Give context</a:t>
            </a:r>
            <a:endParaRPr lang="en-US" sz="1800" dirty="0"/>
          </a:p>
        </p:txBody>
      </p:sp>
      <p:sp>
        <p:nvSpPr>
          <p:cNvPr id="10" name="Goal Give context text"/>
          <p:cNvSpPr txBox="1"/>
          <p:nvPr/>
        </p:nvSpPr>
        <p:spPr>
          <a:xfrm>
            <a:off x="54406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Write prompts and rules that get accurate results.</a:t>
            </a:r>
            <a:endParaRPr lang="en-US" sz="1400" dirty="0"/>
          </a:p>
        </p:txBody>
      </p:sp>
      <p:sp>
        <p:nvSpPr>
          <p:cNvPr id="11" name="Goal Build icon circle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Goal Build icon" descr="Goal Buil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2686050"/>
            <a:ext cx="251460" cy="251460"/>
          </a:xfrm>
          <a:prstGeom prst="rect">
            <a:avLst/>
          </a:prstGeom>
        </p:spPr>
      </p:pic>
      <p:sp>
        <p:nvSpPr>
          <p:cNvPr id="13" name="Goal Build heading"/>
          <p:cNvSpPr txBox="1"/>
          <p:nvPr/>
        </p:nvSpPr>
        <p:spPr>
          <a:xfrm>
            <a:off x="1280160" y="2542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</a:t>
            </a:r>
            <a:endParaRPr lang="en-US" sz="1800" dirty="0"/>
          </a:p>
        </p:txBody>
      </p:sp>
      <p:sp>
        <p:nvSpPr>
          <p:cNvPr id="14" name="Goal Build text"/>
          <p:cNvSpPr txBox="1"/>
          <p:nvPr/>
        </p:nvSpPr>
        <p:spPr>
          <a:xfrm>
            <a:off x="128016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Ship a feature with Agent, then a mini project.</a:t>
            </a:r>
            <a:endParaRPr lang="en-US" sz="1400" dirty="0"/>
          </a:p>
        </p:txBody>
      </p:sp>
      <p:sp>
        <p:nvSpPr>
          <p:cNvPr id="15" name="Goal Review icon circle"/>
          <p:cNvSpPr/>
          <p:nvPr/>
        </p:nvSpPr>
        <p:spPr>
          <a:xfrm>
            <a:off x="470916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Goal Review icon" descr="Goal Review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890" y="2686050"/>
            <a:ext cx="251460" cy="251460"/>
          </a:xfrm>
          <a:prstGeom prst="rect">
            <a:avLst/>
          </a:prstGeom>
        </p:spPr>
      </p:pic>
      <p:sp>
        <p:nvSpPr>
          <p:cNvPr id="17" name="Goal Review heading"/>
          <p:cNvSpPr txBox="1"/>
          <p:nvPr/>
        </p:nvSpPr>
        <p:spPr>
          <a:xfrm>
            <a:off x="5440680" y="2542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Review</a:t>
            </a:r>
            <a:endParaRPr lang="en-US" sz="1800" dirty="0"/>
          </a:p>
        </p:txBody>
      </p:sp>
      <p:sp>
        <p:nvSpPr>
          <p:cNvPr id="18" name="Goal Review text"/>
          <p:cNvSpPr txBox="1"/>
          <p:nvPr/>
        </p:nvSpPr>
        <p:spPr>
          <a:xfrm>
            <a:off x="54406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Check AI changes, test them and stay in control.</a:t>
            </a:r>
            <a:endParaRPr lang="en-US" sz="1400" dirty="0"/>
          </a:p>
        </p:txBody>
      </p:sp>
      <p:sp>
        <p:nvSpPr>
          <p:cNvPr id="19" name="Format strip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Format text"/>
          <p:cNvSpPr txBox="1"/>
          <p:nvPr/>
        </p:nvSpPr>
        <p:spPr>
          <a:xfrm>
            <a:off x="82296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Over half of the four hours is hands-on lab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Four-hour schedule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Orange = hands-on labs. Six labs, no breaks.</a:t>
            </a:r>
            <a:endParaRPr lang="en-US" sz="1600" dirty="0"/>
          </a:p>
        </p:txBody>
      </p:sp>
      <p:sp>
        <p:nvSpPr>
          <p:cNvPr id="4" name="Time 0"/>
          <p:cNvSpPr/>
          <p:nvPr/>
        </p:nvSpPr>
        <p:spPr>
          <a:xfrm>
            <a:off x="548640" y="1691640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0:00</a:t>
            </a:r>
            <a:endParaRPr lang="en-US" sz="1400" dirty="0"/>
          </a:p>
        </p:txBody>
      </p:sp>
      <p:sp>
        <p:nvSpPr>
          <p:cNvPr id="5" name="Schedule item 0"/>
          <p:cNvSpPr txBox="1"/>
          <p:nvPr/>
        </p:nvSpPr>
        <p:spPr>
          <a:xfrm>
            <a:off x="15087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Welcome and setup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15 min</a:t>
            </a:r>
            <a:endParaRPr lang="en-US" sz="1400" dirty="0"/>
          </a:p>
        </p:txBody>
      </p:sp>
      <p:sp>
        <p:nvSpPr>
          <p:cNvPr id="6" name="Time 1"/>
          <p:cNvSpPr/>
          <p:nvPr/>
        </p:nvSpPr>
        <p:spPr>
          <a:xfrm>
            <a:off x="548640" y="2176272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0:15</a:t>
            </a:r>
            <a:endParaRPr lang="en-US" sz="1400" dirty="0"/>
          </a:p>
        </p:txBody>
      </p:sp>
      <p:sp>
        <p:nvSpPr>
          <p:cNvPr id="7" name="Schedule item 1"/>
          <p:cNvSpPr txBox="1"/>
          <p:nvPr/>
        </p:nvSpPr>
        <p:spPr>
          <a:xfrm>
            <a:off x="1508760" y="2130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Tour: four ways to use AI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15 min</a:t>
            </a:r>
            <a:endParaRPr lang="en-US" sz="1400" dirty="0"/>
          </a:p>
        </p:txBody>
      </p:sp>
      <p:sp>
        <p:nvSpPr>
          <p:cNvPr id="8" name="Time 2"/>
          <p:cNvSpPr/>
          <p:nvPr/>
        </p:nvSpPr>
        <p:spPr>
          <a:xfrm>
            <a:off x="548640" y="2660904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0:30</a:t>
            </a:r>
            <a:endParaRPr lang="en-US" sz="1400" dirty="0"/>
          </a:p>
        </p:txBody>
      </p:sp>
      <p:sp>
        <p:nvSpPr>
          <p:cNvPr id="9" name="Schedule item 2"/>
          <p:cNvSpPr txBox="1"/>
          <p:nvPr/>
        </p:nvSpPr>
        <p:spPr>
          <a:xfrm>
            <a:off x="1508760" y="26151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 1: Tab and inline edit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20 min</a:t>
            </a:r>
            <a:endParaRPr lang="en-US" sz="1400" dirty="0"/>
          </a:p>
        </p:txBody>
      </p:sp>
      <p:sp>
        <p:nvSpPr>
          <p:cNvPr id="10" name="Time 3"/>
          <p:cNvSpPr/>
          <p:nvPr/>
        </p:nvSpPr>
        <p:spPr>
          <a:xfrm>
            <a:off x="548640" y="3145536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0:50</a:t>
            </a:r>
            <a:endParaRPr lang="en-US" sz="1400" dirty="0"/>
          </a:p>
        </p:txBody>
      </p:sp>
      <p:sp>
        <p:nvSpPr>
          <p:cNvPr id="11" name="Schedule item 3"/>
          <p:cNvSpPr txBox="1"/>
          <p:nvPr/>
        </p:nvSpPr>
        <p:spPr>
          <a:xfrm>
            <a:off x="1508760" y="3099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 and chat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15 min</a:t>
            </a:r>
            <a:endParaRPr lang="en-US" sz="1400" dirty="0"/>
          </a:p>
        </p:txBody>
      </p:sp>
      <p:sp>
        <p:nvSpPr>
          <p:cNvPr id="12" name="Time 4"/>
          <p:cNvSpPr/>
          <p:nvPr/>
        </p:nvSpPr>
        <p:spPr>
          <a:xfrm>
            <a:off x="548640" y="3630168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1:05</a:t>
            </a:r>
            <a:endParaRPr lang="en-US" sz="1400" dirty="0"/>
          </a:p>
        </p:txBody>
      </p:sp>
      <p:sp>
        <p:nvSpPr>
          <p:cNvPr id="13" name="Schedule item 4"/>
          <p:cNvSpPr txBox="1"/>
          <p:nvPr/>
        </p:nvSpPr>
        <p:spPr>
          <a:xfrm>
            <a:off x="1508760" y="3584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 2: Explore a codebase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20 min</a:t>
            </a:r>
            <a:endParaRPr lang="en-US" sz="1400" dirty="0"/>
          </a:p>
        </p:txBody>
      </p:sp>
      <p:sp>
        <p:nvSpPr>
          <p:cNvPr id="14" name="Time 5"/>
          <p:cNvSpPr/>
          <p:nvPr/>
        </p:nvSpPr>
        <p:spPr>
          <a:xfrm>
            <a:off x="548640" y="4114800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1:25</a:t>
            </a:r>
            <a:endParaRPr lang="en-US" sz="1400" dirty="0"/>
          </a:p>
        </p:txBody>
      </p:sp>
      <p:sp>
        <p:nvSpPr>
          <p:cNvPr id="15" name="Schedule item 5"/>
          <p:cNvSpPr txBox="1"/>
          <p:nvPr/>
        </p:nvSpPr>
        <p:spPr>
          <a:xfrm>
            <a:off x="150876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 3: Write your rules file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15 min</a:t>
            </a:r>
            <a:endParaRPr lang="en-US" sz="1400" dirty="0"/>
          </a:p>
        </p:txBody>
      </p:sp>
      <p:sp>
        <p:nvSpPr>
          <p:cNvPr id="16" name="Time 6"/>
          <p:cNvSpPr/>
          <p:nvPr/>
        </p:nvSpPr>
        <p:spPr>
          <a:xfrm>
            <a:off x="4709160" y="1691640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1:40</a:t>
            </a:r>
            <a:endParaRPr lang="en-US" sz="1400" dirty="0"/>
          </a:p>
        </p:txBody>
      </p:sp>
      <p:sp>
        <p:nvSpPr>
          <p:cNvPr id="17" name="Schedule item 6"/>
          <p:cNvSpPr txBox="1"/>
          <p:nvPr/>
        </p:nvSpPr>
        <p:spPr>
          <a:xfrm>
            <a:off x="566928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 basics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15 min</a:t>
            </a:r>
            <a:endParaRPr lang="en-US" sz="1400" dirty="0"/>
          </a:p>
        </p:txBody>
      </p:sp>
      <p:sp>
        <p:nvSpPr>
          <p:cNvPr id="18" name="Time 7"/>
          <p:cNvSpPr/>
          <p:nvPr/>
        </p:nvSpPr>
        <p:spPr>
          <a:xfrm>
            <a:off x="4709160" y="2176272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1:55</a:t>
            </a:r>
            <a:endParaRPr lang="en-US" sz="1400" dirty="0"/>
          </a:p>
        </p:txBody>
      </p:sp>
      <p:sp>
        <p:nvSpPr>
          <p:cNvPr id="19" name="Schedule item 7"/>
          <p:cNvSpPr txBox="1"/>
          <p:nvPr/>
        </p:nvSpPr>
        <p:spPr>
          <a:xfrm>
            <a:off x="5669280" y="2130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 4: Build with Agent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35 min</a:t>
            </a:r>
            <a:endParaRPr lang="en-US" sz="1400" dirty="0"/>
          </a:p>
        </p:txBody>
      </p:sp>
      <p:sp>
        <p:nvSpPr>
          <p:cNvPr id="20" name="Time 8"/>
          <p:cNvSpPr/>
          <p:nvPr/>
        </p:nvSpPr>
        <p:spPr>
          <a:xfrm>
            <a:off x="4709160" y="2660904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2:30</a:t>
            </a:r>
            <a:endParaRPr lang="en-US" sz="1400" dirty="0"/>
          </a:p>
        </p:txBody>
      </p:sp>
      <p:sp>
        <p:nvSpPr>
          <p:cNvPr id="21" name="Schedule item 8"/>
          <p:cNvSpPr txBox="1"/>
          <p:nvPr/>
        </p:nvSpPr>
        <p:spPr>
          <a:xfrm>
            <a:off x="5669280" y="26151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 5: Debug and test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35 min</a:t>
            </a:r>
            <a:endParaRPr lang="en-US" sz="1400" dirty="0"/>
          </a:p>
        </p:txBody>
      </p:sp>
      <p:sp>
        <p:nvSpPr>
          <p:cNvPr id="22" name="Time 9"/>
          <p:cNvSpPr/>
          <p:nvPr/>
        </p:nvSpPr>
        <p:spPr>
          <a:xfrm>
            <a:off x="4709160" y="3145536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3:05</a:t>
            </a:r>
            <a:endParaRPr lang="en-US" sz="1400" dirty="0"/>
          </a:p>
        </p:txBody>
      </p:sp>
      <p:sp>
        <p:nvSpPr>
          <p:cNvPr id="23" name="Schedule item 9"/>
          <p:cNvSpPr txBox="1"/>
          <p:nvPr/>
        </p:nvSpPr>
        <p:spPr>
          <a:xfrm>
            <a:off x="5669280" y="3099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Level up: MCP and Git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15 min</a:t>
            </a:r>
            <a:endParaRPr lang="en-US" sz="1400" dirty="0"/>
          </a:p>
        </p:txBody>
      </p:sp>
      <p:sp>
        <p:nvSpPr>
          <p:cNvPr id="24" name="Time 10"/>
          <p:cNvSpPr/>
          <p:nvPr/>
        </p:nvSpPr>
        <p:spPr>
          <a:xfrm>
            <a:off x="4709160" y="3630168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3:20</a:t>
            </a:r>
            <a:endParaRPr lang="en-US" sz="1400" dirty="0"/>
          </a:p>
        </p:txBody>
      </p:sp>
      <p:sp>
        <p:nvSpPr>
          <p:cNvPr id="25" name="Schedule item 10"/>
          <p:cNvSpPr txBox="1"/>
          <p:nvPr/>
        </p:nvSpPr>
        <p:spPr>
          <a:xfrm>
            <a:off x="5669280" y="3584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 6: Capstone project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30 min</a:t>
            </a:r>
            <a:endParaRPr lang="en-US" sz="1400" dirty="0"/>
          </a:p>
        </p:txBody>
      </p:sp>
      <p:sp>
        <p:nvSpPr>
          <p:cNvPr id="26" name="Time 11"/>
          <p:cNvSpPr/>
          <p:nvPr/>
        </p:nvSpPr>
        <p:spPr>
          <a:xfrm>
            <a:off x="4709160" y="4114800"/>
            <a:ext cx="77724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3:50</a:t>
            </a:r>
            <a:endParaRPr lang="en-US" sz="1400" dirty="0"/>
          </a:p>
        </p:txBody>
      </p:sp>
      <p:sp>
        <p:nvSpPr>
          <p:cNvPr id="27" name="Schedule item 11"/>
          <p:cNvSpPr txBox="1"/>
          <p:nvPr/>
        </p:nvSpPr>
        <p:spPr>
          <a:xfrm>
            <a:off x="566928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Show and tell, wrap-up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10 min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Cursor?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 code editor with AI built into every step of your workflow.</a:t>
            </a:r>
            <a:endParaRPr lang="en-US" sz="1600" dirty="0"/>
          </a:p>
        </p:txBody>
      </p:sp>
      <p:sp>
        <p:nvSpPr>
          <p:cNvPr id="4" name="Card Familiar"/>
          <p:cNvSpPr/>
          <p:nvPr/>
        </p:nvSpPr>
        <p:spPr>
          <a:xfrm>
            <a:off x="548640" y="1828800"/>
            <a:ext cx="2499360" cy="26517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amiliar icon circle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Familiar icon" descr="Familia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263140"/>
            <a:ext cx="320040" cy="320040"/>
          </a:xfrm>
          <a:prstGeom prst="rect">
            <a:avLst/>
          </a:prstGeom>
        </p:spPr>
      </p:pic>
      <p:sp>
        <p:nvSpPr>
          <p:cNvPr id="7" name="Familiar heading"/>
          <p:cNvSpPr txBox="1"/>
          <p:nvPr/>
        </p:nvSpPr>
        <p:spPr>
          <a:xfrm>
            <a:off x="822960" y="292608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Familiar</a:t>
            </a:r>
            <a:endParaRPr lang="en-US" sz="1800" dirty="0"/>
          </a:p>
        </p:txBody>
      </p:sp>
      <p:sp>
        <p:nvSpPr>
          <p:cNvPr id="8" name="Familiar text"/>
          <p:cNvSpPr txBox="1"/>
          <p:nvPr/>
        </p:nvSpPr>
        <p:spPr>
          <a:xfrm>
            <a:off x="822960" y="3337560"/>
            <a:ext cx="195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Built on VS Code, so your extensions, themes and shortcuts carry over.</a:t>
            </a:r>
            <a:endParaRPr lang="en-US" sz="1400" dirty="0"/>
          </a:p>
        </p:txBody>
      </p:sp>
      <p:sp>
        <p:nvSpPr>
          <p:cNvPr id="9" name="Card Codebase-aware"/>
          <p:cNvSpPr/>
          <p:nvPr/>
        </p:nvSpPr>
        <p:spPr>
          <a:xfrm>
            <a:off x="3322320" y="1828800"/>
            <a:ext cx="2499360" cy="26517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odebase-aware icon circle"/>
          <p:cNvSpPr/>
          <p:nvPr/>
        </p:nvSpPr>
        <p:spPr>
          <a:xfrm>
            <a:off x="359664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Codebase-aware icon" descr="Codebase-awar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660" y="2263140"/>
            <a:ext cx="320040" cy="320040"/>
          </a:xfrm>
          <a:prstGeom prst="rect">
            <a:avLst/>
          </a:prstGeom>
        </p:spPr>
      </p:pic>
      <p:sp>
        <p:nvSpPr>
          <p:cNvPr id="12" name="Codebase-aware heading"/>
          <p:cNvSpPr txBox="1"/>
          <p:nvPr/>
        </p:nvSpPr>
        <p:spPr>
          <a:xfrm>
            <a:off x="3596640" y="292608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Codebase-aware</a:t>
            </a:r>
            <a:endParaRPr lang="en-US" sz="1800" dirty="0"/>
          </a:p>
        </p:txBody>
      </p:sp>
      <p:sp>
        <p:nvSpPr>
          <p:cNvPr id="13" name="Codebase-aware text"/>
          <p:cNvSpPr txBox="1"/>
          <p:nvPr/>
        </p:nvSpPr>
        <p:spPr>
          <a:xfrm>
            <a:off x="3596640" y="3337560"/>
            <a:ext cx="195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Indexes your project so answers reflect your actual code, not generic advice.</a:t>
            </a:r>
            <a:endParaRPr lang="en-US" sz="1400" dirty="0"/>
          </a:p>
        </p:txBody>
      </p:sp>
      <p:sp>
        <p:nvSpPr>
          <p:cNvPr id="14" name="Card You decide"/>
          <p:cNvSpPr/>
          <p:nvPr/>
        </p:nvSpPr>
        <p:spPr>
          <a:xfrm>
            <a:off x="6096000" y="1828800"/>
            <a:ext cx="2499360" cy="26517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You decide icon circle"/>
          <p:cNvSpPr/>
          <p:nvPr/>
        </p:nvSpPr>
        <p:spPr>
          <a:xfrm>
            <a:off x="637032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You decide icon" descr="You decid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340" y="2263140"/>
            <a:ext cx="320040" cy="320040"/>
          </a:xfrm>
          <a:prstGeom prst="rect">
            <a:avLst/>
          </a:prstGeom>
        </p:spPr>
      </p:pic>
      <p:sp>
        <p:nvSpPr>
          <p:cNvPr id="17" name="You decide heading"/>
          <p:cNvSpPr txBox="1"/>
          <p:nvPr/>
        </p:nvSpPr>
        <p:spPr>
          <a:xfrm>
            <a:off x="6370320" y="292608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 decide</a:t>
            </a:r>
            <a:endParaRPr lang="en-US" sz="1800" dirty="0"/>
          </a:p>
        </p:txBody>
      </p:sp>
      <p:sp>
        <p:nvSpPr>
          <p:cNvPr id="18" name="You decide text"/>
          <p:cNvSpPr txBox="1"/>
          <p:nvPr/>
        </p:nvSpPr>
        <p:spPr>
          <a:xfrm>
            <a:off x="6370320" y="3337560"/>
            <a:ext cx="195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Every AI edit shows up as a diff you can accept or reject.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Setup in 15 minutes</a:t>
            </a:r>
            <a:endParaRPr lang="en-US" sz="3600" dirty="0"/>
          </a:p>
        </p:txBody>
      </p:sp>
      <p:sp>
        <p:nvSpPr>
          <p:cNvPr id="3" name="Setup step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Setup heading 1"/>
          <p:cNvSpPr txBox="1"/>
          <p:nvPr/>
        </p:nvSpPr>
        <p:spPr>
          <a:xfrm>
            <a:off x="1234440" y="13533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Install and sign in</a:t>
            </a:r>
            <a:endParaRPr lang="en-US" sz="1800" dirty="0"/>
          </a:p>
        </p:txBody>
      </p:sp>
      <p:sp>
        <p:nvSpPr>
          <p:cNvPr id="5" name="Setup text 1"/>
          <p:cNvSpPr txBox="1"/>
          <p:nvPr/>
        </p:nvSpPr>
        <p:spPr>
          <a:xfrm>
            <a:off x="123444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Download Cursor from cursor.com and create an account.</a:t>
            </a:r>
            <a:endParaRPr lang="en-US" sz="1400" dirty="0"/>
          </a:p>
        </p:txBody>
      </p:sp>
      <p:sp>
        <p:nvSpPr>
          <p:cNvPr id="6" name="Setup step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etup heading 2"/>
          <p:cNvSpPr txBox="1"/>
          <p:nvPr/>
        </p:nvSpPr>
        <p:spPr>
          <a:xfrm>
            <a:off x="1234440" y="2130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Import your settings</a:t>
            </a:r>
            <a:endParaRPr lang="en-US" sz="1800" dirty="0"/>
          </a:p>
        </p:txBody>
      </p:sp>
      <p:sp>
        <p:nvSpPr>
          <p:cNvPr id="8" name="Setup text 2"/>
          <p:cNvSpPr txBox="1"/>
          <p:nvPr/>
        </p:nvSpPr>
        <p:spPr>
          <a:xfrm>
            <a:off x="123444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Bring over VS Code extensions, themes and keybindings.</a:t>
            </a:r>
            <a:endParaRPr lang="en-US" sz="1400" dirty="0"/>
          </a:p>
        </p:txBody>
      </p:sp>
      <p:sp>
        <p:nvSpPr>
          <p:cNvPr id="9" name="Setup step 3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Setup heading 3"/>
          <p:cNvSpPr txBox="1"/>
          <p:nvPr/>
        </p:nvSpPr>
        <p:spPr>
          <a:xfrm>
            <a:off x="1234440" y="2907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Clone the starter repo</a:t>
            </a:r>
            <a:endParaRPr lang="en-US" sz="1800" dirty="0"/>
          </a:p>
        </p:txBody>
      </p:sp>
      <p:sp>
        <p:nvSpPr>
          <p:cNvPr id="11" name="Setup text 3"/>
          <p:cNvSpPr txBox="1"/>
          <p:nvPr/>
        </p:nvSpPr>
        <p:spPr>
          <a:xfrm>
            <a:off x="1234440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We use one small app for Labs 2 to 5.</a:t>
            </a:r>
            <a:endParaRPr lang="en-US" sz="1400" dirty="0"/>
          </a:p>
        </p:txBody>
      </p:sp>
      <p:sp>
        <p:nvSpPr>
          <p:cNvPr id="12" name="Setup step 4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3" name="Setup heading 4"/>
          <p:cNvSpPr txBox="1"/>
          <p:nvPr/>
        </p:nvSpPr>
        <p:spPr>
          <a:xfrm>
            <a:off x="1234440" y="3685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Try the chat</a:t>
            </a:r>
            <a:endParaRPr lang="en-US" sz="1800" dirty="0"/>
          </a:p>
        </p:txBody>
      </p:sp>
      <p:sp>
        <p:nvSpPr>
          <p:cNvPr id="14" name="Setup text 4"/>
          <p:cNvSpPr txBox="1"/>
          <p:nvPr/>
        </p:nvSpPr>
        <p:spPr>
          <a:xfrm>
            <a:off x="123444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Press Cmd/Ctrl+L and ask what the project does.</a:t>
            </a:r>
            <a:endParaRPr lang="en-US" sz="1400" dirty="0"/>
          </a:p>
        </p:txBody>
      </p:sp>
      <p:sp>
        <p:nvSpPr>
          <p:cNvPr id="15" name="Ready card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ady icon circle"/>
          <p:cNvSpPr/>
          <p:nvPr/>
        </p:nvSpPr>
        <p:spPr>
          <a:xfrm>
            <a:off x="617220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Ready icon" descr="Read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851660"/>
            <a:ext cx="320040" cy="320040"/>
          </a:xfrm>
          <a:prstGeom prst="rect">
            <a:avLst/>
          </a:prstGeom>
        </p:spPr>
      </p:pic>
      <p:sp>
        <p:nvSpPr>
          <p:cNvPr id="18" name="Ready heading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You're ready when</a:t>
            </a:r>
            <a:endParaRPr lang="en-US" sz="1800" dirty="0"/>
          </a:p>
        </p:txBody>
      </p:sp>
      <p:sp>
        <p:nvSpPr>
          <p:cNvPr id="19" name="Ready text"/>
          <p:cNvSpPr txBox="1"/>
          <p:nvPr/>
        </p:nvSpPr>
        <p:spPr>
          <a:xfrm>
            <a:off x="617220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Cursor opens the starter repo and the chat panel answers a question about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Know your workspace</a:t>
            </a:r>
            <a:endParaRPr lang="en-US" sz="3600" dirty="0"/>
          </a:p>
        </p:txBody>
      </p:sp>
      <p:sp>
        <p:nvSpPr>
          <p:cNvPr id="3" name="Card File explorer"/>
          <p:cNvSpPr/>
          <p:nvPr/>
        </p:nvSpPr>
        <p:spPr>
          <a:xfrm>
            <a:off x="548640" y="137160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File explorer icon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File explorer icon" descr="File explor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ile explorer heading"/>
          <p:cNvSpPr txBox="1"/>
          <p:nvPr/>
        </p:nvSpPr>
        <p:spPr>
          <a:xfrm>
            <a:off x="160020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File explorer</a:t>
            </a:r>
            <a:endParaRPr lang="en-US" sz="1800" dirty="0"/>
          </a:p>
        </p:txBody>
      </p:sp>
      <p:sp>
        <p:nvSpPr>
          <p:cNvPr id="7" name="File explorer text"/>
          <p:cNvSpPr txBox="1"/>
          <p:nvPr/>
        </p:nvSpPr>
        <p:spPr>
          <a:xfrm>
            <a:off x="160020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Browse the project. Drag files into chat to add context.</a:t>
            </a:r>
            <a:endParaRPr lang="en-US" sz="1400" dirty="0"/>
          </a:p>
        </p:txBody>
      </p:sp>
      <p:sp>
        <p:nvSpPr>
          <p:cNvPr id="8" name="File explorer chip"/>
          <p:cNvSpPr/>
          <p:nvPr/>
        </p:nvSpPr>
        <p:spPr>
          <a:xfrm>
            <a:off x="1600200" y="242316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Left sidebar</a:t>
            </a:r>
            <a:endParaRPr lang="en-US" sz="1200" dirty="0"/>
          </a:p>
        </p:txBody>
      </p:sp>
      <p:sp>
        <p:nvSpPr>
          <p:cNvPr id="9" name="Card Editor"/>
          <p:cNvSpPr/>
          <p:nvPr/>
        </p:nvSpPr>
        <p:spPr>
          <a:xfrm>
            <a:off x="4709160" y="137160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Editor icon circle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Editor icon" descr="Edito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83080"/>
            <a:ext cx="274320" cy="274320"/>
          </a:xfrm>
          <a:prstGeom prst="rect">
            <a:avLst/>
          </a:prstGeom>
        </p:spPr>
      </p:pic>
      <p:sp>
        <p:nvSpPr>
          <p:cNvPr id="12" name="Editor heading"/>
          <p:cNvSpPr txBox="1"/>
          <p:nvPr/>
        </p:nvSpPr>
        <p:spPr>
          <a:xfrm>
            <a:off x="576072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Editor</a:t>
            </a:r>
            <a:endParaRPr lang="en-US" sz="1800" dirty="0"/>
          </a:p>
        </p:txBody>
      </p:sp>
      <p:sp>
        <p:nvSpPr>
          <p:cNvPr id="13" name="Editor text"/>
          <p:cNvSpPr txBox="1"/>
          <p:nvPr/>
        </p:nvSpPr>
        <p:spPr>
          <a:xfrm>
            <a:off x="576072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Where Tab suggestions and inline edits appear.</a:t>
            </a:r>
            <a:endParaRPr lang="en-US" sz="1400" dirty="0"/>
          </a:p>
        </p:txBody>
      </p:sp>
      <p:sp>
        <p:nvSpPr>
          <p:cNvPr id="14" name="Editor chip"/>
          <p:cNvSpPr/>
          <p:nvPr/>
        </p:nvSpPr>
        <p:spPr>
          <a:xfrm>
            <a:off x="5760720" y="242316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Center</a:t>
            </a:r>
            <a:endParaRPr lang="en-US" sz="1200" dirty="0"/>
          </a:p>
        </p:txBody>
      </p:sp>
      <p:sp>
        <p:nvSpPr>
          <p:cNvPr id="15" name="Card Chat and Agent"/>
          <p:cNvSpPr/>
          <p:nvPr/>
        </p:nvSpPr>
        <p:spPr>
          <a:xfrm>
            <a:off x="548640" y="306324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hat and Agent icon circle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Chat and Agent icon" descr="Chat and Agen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474720"/>
            <a:ext cx="274320" cy="274320"/>
          </a:xfrm>
          <a:prstGeom prst="rect">
            <a:avLst/>
          </a:prstGeom>
        </p:spPr>
      </p:pic>
      <p:sp>
        <p:nvSpPr>
          <p:cNvPr id="18" name="Chat and Agent heading"/>
          <p:cNvSpPr txBox="1"/>
          <p:nvPr/>
        </p:nvSpPr>
        <p:spPr>
          <a:xfrm>
            <a:off x="16002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Chat and Agent</a:t>
            </a:r>
            <a:endParaRPr lang="en-US" sz="1800" dirty="0"/>
          </a:p>
        </p:txBody>
      </p:sp>
      <p:sp>
        <p:nvSpPr>
          <p:cNvPr id="19" name="Chat and Agent text"/>
          <p:cNvSpPr txBox="1"/>
          <p:nvPr/>
        </p:nvSpPr>
        <p:spPr>
          <a:xfrm>
            <a:off x="1600200" y="3593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Ask questions or hand off bigger tasks.</a:t>
            </a:r>
            <a:endParaRPr lang="en-US" sz="1400" dirty="0"/>
          </a:p>
        </p:txBody>
      </p:sp>
      <p:sp>
        <p:nvSpPr>
          <p:cNvPr id="20" name="Chat and Agent chip"/>
          <p:cNvSpPr/>
          <p:nvPr/>
        </p:nvSpPr>
        <p:spPr>
          <a:xfrm>
            <a:off x="1600200" y="411480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Side panel</a:t>
            </a:r>
            <a:endParaRPr lang="en-US" sz="1200" dirty="0"/>
          </a:p>
        </p:txBody>
      </p:sp>
      <p:sp>
        <p:nvSpPr>
          <p:cNvPr id="21" name="Card Terminal"/>
          <p:cNvSpPr/>
          <p:nvPr/>
        </p:nvSpPr>
        <p:spPr>
          <a:xfrm>
            <a:off x="4709160" y="306324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rminal icon circle"/>
          <p:cNvSpPr/>
          <p:nvPr/>
        </p:nvSpPr>
        <p:spPr>
          <a:xfrm>
            <a:off x="4983480" y="3337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Terminal icon" descr="Terminal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474720"/>
            <a:ext cx="274320" cy="274320"/>
          </a:xfrm>
          <a:prstGeom prst="rect">
            <a:avLst/>
          </a:prstGeom>
        </p:spPr>
      </p:pic>
      <p:sp>
        <p:nvSpPr>
          <p:cNvPr id="24" name="Terminal heading"/>
          <p:cNvSpPr txBox="1"/>
          <p:nvPr/>
        </p:nvSpPr>
        <p:spPr>
          <a:xfrm>
            <a:off x="576072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Terminal</a:t>
            </a:r>
            <a:endParaRPr lang="en-US" sz="1800" dirty="0"/>
          </a:p>
        </p:txBody>
      </p:sp>
      <p:sp>
        <p:nvSpPr>
          <p:cNvPr id="25" name="Terminal text"/>
          <p:cNvSpPr txBox="1"/>
          <p:nvPr/>
        </p:nvSpPr>
        <p:spPr>
          <a:xfrm>
            <a:off x="5760720" y="3593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Run your app and tests. Agent can use it too.</a:t>
            </a:r>
            <a:endParaRPr lang="en-US" sz="1400" dirty="0"/>
          </a:p>
        </p:txBody>
      </p:sp>
      <p:sp>
        <p:nvSpPr>
          <p:cNvPr id="26" name="Terminal chip"/>
          <p:cNvSpPr/>
          <p:nvPr/>
        </p:nvSpPr>
        <p:spPr>
          <a:xfrm>
            <a:off x="5760720" y="411480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Bottom panel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ways to work with AI</a:t>
            </a:r>
            <a:endParaRPr lang="en-US" sz="3600" dirty="0"/>
          </a:p>
        </p:txBody>
      </p:sp>
      <p:sp>
        <p:nvSpPr>
          <p:cNvPr id="3" name="Card Tab"/>
          <p:cNvSpPr/>
          <p:nvPr/>
        </p:nvSpPr>
        <p:spPr>
          <a:xfrm>
            <a:off x="548640" y="137160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ab icon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Tab icon" descr="Ta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Tab heading"/>
          <p:cNvSpPr txBox="1"/>
          <p:nvPr/>
        </p:nvSpPr>
        <p:spPr>
          <a:xfrm>
            <a:off x="160020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Tab</a:t>
            </a:r>
            <a:endParaRPr lang="en-US" sz="1800" dirty="0"/>
          </a:p>
        </p:txBody>
      </p:sp>
      <p:sp>
        <p:nvSpPr>
          <p:cNvPr id="7" name="Tab text"/>
          <p:cNvSpPr txBox="1"/>
          <p:nvPr/>
        </p:nvSpPr>
        <p:spPr>
          <a:xfrm>
            <a:off x="160020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Predicts your next edit. Press Tab to accept.</a:t>
            </a:r>
            <a:endParaRPr lang="en-US" sz="1400" dirty="0"/>
          </a:p>
        </p:txBody>
      </p:sp>
      <p:sp>
        <p:nvSpPr>
          <p:cNvPr id="8" name="Tab chip"/>
          <p:cNvSpPr/>
          <p:nvPr/>
        </p:nvSpPr>
        <p:spPr>
          <a:xfrm>
            <a:off x="1600200" y="242316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Tab</a:t>
            </a:r>
            <a:endParaRPr lang="en-US" sz="1200" dirty="0"/>
          </a:p>
        </p:txBody>
      </p:sp>
      <p:sp>
        <p:nvSpPr>
          <p:cNvPr id="9" name="Card Inline edit"/>
          <p:cNvSpPr/>
          <p:nvPr/>
        </p:nvSpPr>
        <p:spPr>
          <a:xfrm>
            <a:off x="4709160" y="137160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Inline edit icon circle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nline edit icon" descr="Inline edi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83080"/>
            <a:ext cx="274320" cy="274320"/>
          </a:xfrm>
          <a:prstGeom prst="rect">
            <a:avLst/>
          </a:prstGeom>
        </p:spPr>
      </p:pic>
      <p:sp>
        <p:nvSpPr>
          <p:cNvPr id="12" name="Inline edit heading"/>
          <p:cNvSpPr txBox="1"/>
          <p:nvPr/>
        </p:nvSpPr>
        <p:spPr>
          <a:xfrm>
            <a:off x="576072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Inline edit</a:t>
            </a:r>
            <a:endParaRPr lang="en-US" sz="1800" dirty="0"/>
          </a:p>
        </p:txBody>
      </p:sp>
      <p:sp>
        <p:nvSpPr>
          <p:cNvPr id="13" name="Inline edit text"/>
          <p:cNvSpPr txBox="1"/>
          <p:nvPr/>
        </p:nvSpPr>
        <p:spPr>
          <a:xfrm>
            <a:off x="576072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Select code, describe the change, review the diff.</a:t>
            </a:r>
            <a:endParaRPr lang="en-US" sz="1400" dirty="0"/>
          </a:p>
        </p:txBody>
      </p:sp>
      <p:sp>
        <p:nvSpPr>
          <p:cNvPr id="14" name="Inline edit chip"/>
          <p:cNvSpPr/>
          <p:nvPr/>
        </p:nvSpPr>
        <p:spPr>
          <a:xfrm>
            <a:off x="5760720" y="242316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Cmd/Ctrl + K</a:t>
            </a:r>
            <a:endParaRPr lang="en-US" sz="1200" dirty="0"/>
          </a:p>
        </p:txBody>
      </p:sp>
      <p:sp>
        <p:nvSpPr>
          <p:cNvPr id="15" name="Card Chat"/>
          <p:cNvSpPr/>
          <p:nvPr/>
        </p:nvSpPr>
        <p:spPr>
          <a:xfrm>
            <a:off x="548640" y="306324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hat icon circle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Chat icon" descr="Cha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474720"/>
            <a:ext cx="274320" cy="274320"/>
          </a:xfrm>
          <a:prstGeom prst="rect">
            <a:avLst/>
          </a:prstGeom>
        </p:spPr>
      </p:pic>
      <p:sp>
        <p:nvSpPr>
          <p:cNvPr id="18" name="Chat heading"/>
          <p:cNvSpPr txBox="1"/>
          <p:nvPr/>
        </p:nvSpPr>
        <p:spPr>
          <a:xfrm>
            <a:off x="16002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Chat</a:t>
            </a:r>
            <a:endParaRPr lang="en-US" sz="1800" dirty="0"/>
          </a:p>
        </p:txBody>
      </p:sp>
      <p:sp>
        <p:nvSpPr>
          <p:cNvPr id="19" name="Chat text"/>
          <p:cNvSpPr txBox="1"/>
          <p:nvPr/>
        </p:nvSpPr>
        <p:spPr>
          <a:xfrm>
            <a:off x="1600200" y="3593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Ask questions about your code and get answers.</a:t>
            </a:r>
            <a:endParaRPr lang="en-US" sz="1400" dirty="0"/>
          </a:p>
        </p:txBody>
      </p:sp>
      <p:sp>
        <p:nvSpPr>
          <p:cNvPr id="20" name="Chat chip"/>
          <p:cNvSpPr/>
          <p:nvPr/>
        </p:nvSpPr>
        <p:spPr>
          <a:xfrm>
            <a:off x="1600200" y="411480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Cmd/Ctrl + L</a:t>
            </a:r>
            <a:endParaRPr lang="en-US" sz="1200" dirty="0"/>
          </a:p>
        </p:txBody>
      </p:sp>
      <p:sp>
        <p:nvSpPr>
          <p:cNvPr id="21" name="Card Agent"/>
          <p:cNvSpPr/>
          <p:nvPr/>
        </p:nvSpPr>
        <p:spPr>
          <a:xfrm>
            <a:off x="4709160" y="306324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Agent icon circle"/>
          <p:cNvSpPr/>
          <p:nvPr/>
        </p:nvSpPr>
        <p:spPr>
          <a:xfrm>
            <a:off x="4983480" y="33375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Agent icon" descr="Agen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474720"/>
            <a:ext cx="274320" cy="274320"/>
          </a:xfrm>
          <a:prstGeom prst="rect">
            <a:avLst/>
          </a:prstGeom>
        </p:spPr>
      </p:pic>
      <p:sp>
        <p:nvSpPr>
          <p:cNvPr id="24" name="Agent heading"/>
          <p:cNvSpPr txBox="1"/>
          <p:nvPr/>
        </p:nvSpPr>
        <p:spPr>
          <a:xfrm>
            <a:off x="576072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Agent</a:t>
            </a:r>
            <a:endParaRPr lang="en-US" sz="1800" dirty="0"/>
          </a:p>
        </p:txBody>
      </p:sp>
      <p:sp>
        <p:nvSpPr>
          <p:cNvPr id="25" name="Agent text"/>
          <p:cNvSpPr txBox="1"/>
          <p:nvPr/>
        </p:nvSpPr>
        <p:spPr>
          <a:xfrm>
            <a:off x="5760720" y="3593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Plans, edits many files and runs commands for you.</a:t>
            </a:r>
            <a:endParaRPr lang="en-US" sz="1400" dirty="0"/>
          </a:p>
        </p:txBody>
      </p:sp>
      <p:sp>
        <p:nvSpPr>
          <p:cNvPr id="26" name="Agent chip"/>
          <p:cNvSpPr/>
          <p:nvPr/>
        </p:nvSpPr>
        <p:spPr>
          <a:xfrm>
            <a:off x="5760720" y="411480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Agent mode in chat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Choose the right tool</a:t>
            </a:r>
            <a:endParaRPr lang="en-US" sz="3600" dirty="0"/>
          </a:p>
        </p:txBody>
      </p:sp>
      <p:sp>
        <p:nvSpPr>
          <p:cNvPr id="3" name="Column left"/>
          <p:cNvSpPr txBox="1"/>
          <p:nvPr/>
        </p:nvSpPr>
        <p:spPr>
          <a:xfrm>
            <a:off x="8229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 want to...</a:t>
            </a:r>
            <a:endParaRPr lang="en-US" sz="1400" dirty="0"/>
          </a:p>
        </p:txBody>
      </p:sp>
      <p:sp>
        <p:nvSpPr>
          <p:cNvPr id="4" name="Column right"/>
          <p:cNvSpPr txBox="1"/>
          <p:nvPr/>
        </p:nvSpPr>
        <p:spPr>
          <a:xfrm>
            <a:off x="61264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Use</a:t>
            </a:r>
            <a:endParaRPr lang="en-US" sz="1400" dirty="0"/>
          </a:p>
        </p:txBody>
      </p:sp>
      <p:sp>
        <p:nvSpPr>
          <p:cNvPr id="5" name="Row 1"/>
          <p:cNvSpPr/>
          <p:nvPr/>
        </p:nvSpPr>
        <p:spPr>
          <a:xfrm>
            <a:off x="548640" y="169164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ow left 1"/>
          <p:cNvSpPr txBox="1"/>
          <p:nvPr/>
        </p:nvSpPr>
        <p:spPr>
          <a:xfrm>
            <a:off x="822960" y="1691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Finish a line or function</a:t>
            </a:r>
            <a:endParaRPr lang="en-US" sz="1600" dirty="0"/>
          </a:p>
        </p:txBody>
      </p:sp>
      <p:sp>
        <p:nvSpPr>
          <p:cNvPr id="7" name="Row tool 1"/>
          <p:cNvSpPr/>
          <p:nvPr/>
        </p:nvSpPr>
        <p:spPr>
          <a:xfrm>
            <a:off x="6126480" y="1805940"/>
            <a:ext cx="219456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Tab</a:t>
            </a:r>
            <a:endParaRPr lang="en-US" sz="1400" dirty="0"/>
          </a:p>
        </p:txBody>
      </p:sp>
      <p:sp>
        <p:nvSpPr>
          <p:cNvPr id="8" name="Row 2"/>
          <p:cNvSpPr/>
          <p:nvPr/>
        </p:nvSpPr>
        <p:spPr>
          <a:xfrm>
            <a:off x="548640" y="242316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ow left 2"/>
          <p:cNvSpPr txBox="1"/>
          <p:nvPr/>
        </p:nvSpPr>
        <p:spPr>
          <a:xfrm>
            <a:off x="822960" y="24231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Change code I selected</a:t>
            </a:r>
            <a:endParaRPr lang="en-US" sz="1600" dirty="0"/>
          </a:p>
        </p:txBody>
      </p:sp>
      <p:sp>
        <p:nvSpPr>
          <p:cNvPr id="10" name="Row tool 2"/>
          <p:cNvSpPr/>
          <p:nvPr/>
        </p:nvSpPr>
        <p:spPr>
          <a:xfrm>
            <a:off x="6126480" y="2537460"/>
            <a:ext cx="219456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Inline edit</a:t>
            </a:r>
            <a:endParaRPr lang="en-US" sz="1400" dirty="0"/>
          </a:p>
        </p:txBody>
      </p:sp>
      <p:sp>
        <p:nvSpPr>
          <p:cNvPr id="11" name="Row 3"/>
          <p:cNvSpPr/>
          <p:nvPr/>
        </p:nvSpPr>
        <p:spPr>
          <a:xfrm>
            <a:off x="548640" y="315468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ow left 3"/>
          <p:cNvSpPr txBox="1"/>
          <p:nvPr/>
        </p:nvSpPr>
        <p:spPr>
          <a:xfrm>
            <a:off x="822960" y="31546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Understand how code works</a:t>
            </a:r>
            <a:endParaRPr lang="en-US" sz="1600" dirty="0"/>
          </a:p>
        </p:txBody>
      </p:sp>
      <p:sp>
        <p:nvSpPr>
          <p:cNvPr id="13" name="Row tool 3"/>
          <p:cNvSpPr/>
          <p:nvPr/>
        </p:nvSpPr>
        <p:spPr>
          <a:xfrm>
            <a:off x="6126480" y="3268980"/>
            <a:ext cx="219456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Chat</a:t>
            </a:r>
            <a:endParaRPr lang="en-US" sz="1400" dirty="0"/>
          </a:p>
        </p:txBody>
      </p:sp>
      <p:sp>
        <p:nvSpPr>
          <p:cNvPr id="14" name="Row 4"/>
          <p:cNvSpPr/>
          <p:nvPr/>
        </p:nvSpPr>
        <p:spPr>
          <a:xfrm>
            <a:off x="548640" y="388620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ow left 4"/>
          <p:cNvSpPr txBox="1"/>
          <p:nvPr/>
        </p:nvSpPr>
        <p:spPr>
          <a:xfrm>
            <a:off x="822960" y="3886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a feature across files</a:t>
            </a:r>
            <a:endParaRPr lang="en-US" sz="1600" dirty="0"/>
          </a:p>
        </p:txBody>
      </p:sp>
      <p:sp>
        <p:nvSpPr>
          <p:cNvPr id="16" name="Row tool 4"/>
          <p:cNvSpPr/>
          <p:nvPr/>
        </p:nvSpPr>
        <p:spPr>
          <a:xfrm>
            <a:off x="6126480" y="4000500"/>
            <a:ext cx="219456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Lab 1: Tab and inline edit</a:t>
            </a:r>
            <a:endParaRPr lang="en-US" sz="3600" dirty="0"/>
          </a:p>
        </p:txBody>
      </p:sp>
      <p:sp>
        <p:nvSpPr>
          <p:cNvPr id="3" name="Lab 1 step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Lab 1 text 1"/>
          <p:cNvSpPr txBox="1"/>
          <p:nvPr/>
        </p:nvSpPr>
        <p:spPr>
          <a:xfrm>
            <a:off x="1188720" y="1371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Create helper.py (or any language) and type a function name and comment. Accept suggestions with Tab.</a:t>
            </a:r>
            <a:endParaRPr lang="en-US" sz="1400" dirty="0"/>
          </a:p>
        </p:txBody>
      </p:sp>
      <p:sp>
        <p:nvSpPr>
          <p:cNvPr id="5" name="Lab 1 step 2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Lab 1 text 2"/>
          <p:cNvSpPr txBox="1"/>
          <p:nvPr/>
        </p:nvSpPr>
        <p:spPr>
          <a:xfrm>
            <a:off x="1188720" y="2148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Select the function, press Cmd/Ctrl+K and ask for input validation and type hints.</a:t>
            </a:r>
            <a:endParaRPr lang="en-US" sz="1400" dirty="0"/>
          </a:p>
        </p:txBody>
      </p:sp>
      <p:sp>
        <p:nvSpPr>
          <p:cNvPr id="7" name="Lab 1 step 3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Lab 1 text 3"/>
          <p:cNvSpPr txBox="1"/>
          <p:nvPr/>
        </p:nvSpPr>
        <p:spPr>
          <a:xfrm>
            <a:off x="1188720" y="2926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diff. Accept the parts you want and reject the rest.</a:t>
            </a:r>
            <a:endParaRPr lang="en-US" sz="1400" dirty="0"/>
          </a:p>
        </p:txBody>
      </p:sp>
      <p:sp>
        <p:nvSpPr>
          <p:cNvPr id="9" name="Lab 1 step 4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Lab 1 text 4"/>
          <p:cNvSpPr txBox="1"/>
          <p:nvPr/>
        </p:nvSpPr>
        <p:spPr>
          <a:xfrm>
            <a:off x="1188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for three unit tests in a new file, then run them.</a:t>
            </a:r>
            <a:endParaRPr lang="en-US" sz="1400" dirty="0"/>
          </a:p>
        </p:txBody>
      </p:sp>
      <p:sp>
        <p:nvSpPr>
          <p:cNvPr id="11" name="Lab 1 goal card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Lab 1 minutes"/>
          <p:cNvSpPr txBox="1"/>
          <p:nvPr/>
        </p:nvSpPr>
        <p:spPr>
          <a:xfrm>
            <a:off x="617220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20</a:t>
            </a:r>
            <a:endParaRPr lang="en-US" sz="7200" dirty="0"/>
          </a:p>
        </p:txBody>
      </p:sp>
      <p:sp>
        <p:nvSpPr>
          <p:cNvPr id="13" name="Lab 1 minutes label"/>
          <p:cNvSpPr txBox="1"/>
          <p:nvPr/>
        </p:nvSpPr>
        <p:spPr>
          <a:xfrm>
            <a:off x="61722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minutes</a:t>
            </a:r>
            <a:endParaRPr lang="en-US" sz="1600" dirty="0"/>
          </a:p>
        </p:txBody>
      </p:sp>
      <p:sp>
        <p:nvSpPr>
          <p:cNvPr id="14" name="Lab 1 goal label"/>
          <p:cNvSpPr txBox="1"/>
          <p:nvPr/>
        </p:nvSpPr>
        <p:spPr>
          <a:xfrm>
            <a:off x="617220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Goal</a:t>
            </a:r>
            <a:endParaRPr lang="en-US" sz="1600" dirty="0"/>
          </a:p>
        </p:txBody>
      </p:sp>
      <p:sp>
        <p:nvSpPr>
          <p:cNvPr id="15" name="Lab 1 goal text"/>
          <p:cNvSpPr txBox="1"/>
          <p:nvPr/>
        </p:nvSpPr>
        <p:spPr>
          <a:xfrm>
            <a:off x="617220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Ship a small, tested function using only Tab and inline edit.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Context is everything</a:t>
            </a:r>
            <a:endParaRPr lang="en-US" sz="3600" dirty="0"/>
          </a:p>
        </p:txBody>
      </p:sp>
      <p:sp>
        <p:nvSpPr>
          <p:cNvPr id="3" name="Context chip @Files"/>
          <p:cNvSpPr/>
          <p:nvPr/>
        </p:nvSpPr>
        <p:spPr>
          <a:xfrm>
            <a:off x="548640" y="1444752"/>
            <a:ext cx="1280160" cy="384048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@Files</a:t>
            </a:r>
            <a:endParaRPr lang="en-US" sz="1400" dirty="0"/>
          </a:p>
        </p:txBody>
      </p:sp>
      <p:sp>
        <p:nvSpPr>
          <p:cNvPr id="4" name="Context text @Files"/>
          <p:cNvSpPr txBox="1"/>
          <p:nvPr/>
        </p:nvSpPr>
        <p:spPr>
          <a:xfrm>
            <a:off x="2103120" y="13990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Point at the exact code that matters</a:t>
            </a:r>
            <a:endParaRPr lang="en-US" sz="1400" dirty="0"/>
          </a:p>
        </p:txBody>
      </p:sp>
      <p:sp>
        <p:nvSpPr>
          <p:cNvPr id="5" name="Context chip @Folders"/>
          <p:cNvSpPr/>
          <p:nvPr/>
        </p:nvSpPr>
        <p:spPr>
          <a:xfrm>
            <a:off x="548640" y="2221992"/>
            <a:ext cx="1280160" cy="384048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@Folders</a:t>
            </a:r>
            <a:endParaRPr lang="en-US" sz="1400" dirty="0"/>
          </a:p>
        </p:txBody>
      </p:sp>
      <p:sp>
        <p:nvSpPr>
          <p:cNvPr id="6" name="Context text @Folders"/>
          <p:cNvSpPr txBox="1"/>
          <p:nvPr/>
        </p:nvSpPr>
        <p:spPr>
          <a:xfrm>
            <a:off x="2103120" y="21762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Give the AI a whole module to read</a:t>
            </a:r>
            <a:endParaRPr lang="en-US" sz="1400" dirty="0"/>
          </a:p>
        </p:txBody>
      </p:sp>
      <p:sp>
        <p:nvSpPr>
          <p:cNvPr id="7" name="Context chip @Docs"/>
          <p:cNvSpPr/>
          <p:nvPr/>
        </p:nvSpPr>
        <p:spPr>
          <a:xfrm>
            <a:off x="548640" y="2999232"/>
            <a:ext cx="1280160" cy="384048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@Docs</a:t>
            </a:r>
            <a:endParaRPr lang="en-US" sz="1400" dirty="0"/>
          </a:p>
        </p:txBody>
      </p:sp>
      <p:sp>
        <p:nvSpPr>
          <p:cNvPr id="8" name="Context text @Docs"/>
          <p:cNvSpPr txBox="1"/>
          <p:nvPr/>
        </p:nvSpPr>
        <p:spPr>
          <a:xfrm>
            <a:off x="2103120" y="29535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Pull in library docs so it uses the real API</a:t>
            </a:r>
            <a:endParaRPr lang="en-US" sz="1400" dirty="0"/>
          </a:p>
        </p:txBody>
      </p:sp>
      <p:sp>
        <p:nvSpPr>
          <p:cNvPr id="9" name="Context chip @Web"/>
          <p:cNvSpPr/>
          <p:nvPr/>
        </p:nvSpPr>
        <p:spPr>
          <a:xfrm>
            <a:off x="548640" y="3776472"/>
            <a:ext cx="1280160" cy="384048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@Web</a:t>
            </a:r>
            <a:endParaRPr lang="en-US" sz="1400" dirty="0"/>
          </a:p>
        </p:txBody>
      </p:sp>
      <p:sp>
        <p:nvSpPr>
          <p:cNvPr id="10" name="Context text @Web"/>
          <p:cNvSpPr txBox="1"/>
          <p:nvPr/>
        </p:nvSpPr>
        <p:spPr>
          <a:xfrm>
            <a:off x="2103120" y="3730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 the web for recent answers</a:t>
            </a:r>
            <a:endParaRPr lang="en-US" sz="1400" dirty="0"/>
          </a:p>
        </p:txBody>
      </p:sp>
      <p:sp>
        <p:nvSpPr>
          <p:cNvPr id="11" name="Example card"/>
          <p:cNvSpPr/>
          <p:nvPr/>
        </p:nvSpPr>
        <p:spPr>
          <a:xfrm>
            <a:off x="5669280" y="1371600"/>
            <a:ext cx="2926080" cy="3108960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Example label"/>
          <p:cNvSpPr txBox="1"/>
          <p:nvPr/>
        </p:nvSpPr>
        <p:spPr>
          <a:xfrm>
            <a:off x="59436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Example prompt</a:t>
            </a:r>
            <a:endParaRPr lang="en-US" sz="1400" dirty="0"/>
          </a:p>
        </p:txBody>
      </p:sp>
      <p:sp>
        <p:nvSpPr>
          <p:cNvPr id="13" name="Example text"/>
          <p:cNvSpPr txBox="1"/>
          <p:nvPr/>
        </p:nvSpPr>
        <p:spPr>
          <a:xfrm>
            <a:off x="5943600" y="20116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@checkout.ts @Docs Stripe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refund support.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the existing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handling 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Chat prompts to try</a:t>
            </a:r>
            <a:endParaRPr lang="en-US" sz="3600" dirty="0"/>
          </a:p>
        </p:txBody>
      </p:sp>
      <p:sp>
        <p:nvSpPr>
          <p:cNvPr id="3" name="Prompt card Explain"/>
          <p:cNvSpPr/>
          <p:nvPr/>
        </p:nvSpPr>
        <p:spPr>
          <a:xfrm>
            <a:off x="548640" y="137160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Prompt tag Explain"/>
          <p:cNvSpPr/>
          <p:nvPr/>
        </p:nvSpPr>
        <p:spPr>
          <a:xfrm>
            <a:off x="822960" y="1600200"/>
            <a:ext cx="100584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Explain</a:t>
            </a:r>
            <a:endParaRPr lang="en-US" sz="1200" dirty="0"/>
          </a:p>
        </p:txBody>
      </p:sp>
      <p:sp>
        <p:nvSpPr>
          <p:cNvPr id="5" name="Prompt text Explain"/>
          <p:cNvSpPr txBox="1"/>
          <p:nvPr/>
        </p:nvSpPr>
        <p:spPr>
          <a:xfrm>
            <a:off x="822960" y="2057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this file as if I'm new to the project.</a:t>
            </a:r>
            <a:endParaRPr lang="en-US" sz="1400" dirty="0"/>
          </a:p>
        </p:txBody>
      </p:sp>
      <p:sp>
        <p:nvSpPr>
          <p:cNvPr id="6" name="Prompt card Locate"/>
          <p:cNvSpPr/>
          <p:nvPr/>
        </p:nvSpPr>
        <p:spPr>
          <a:xfrm>
            <a:off x="4709160" y="137160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Prompt tag Locate"/>
          <p:cNvSpPr/>
          <p:nvPr/>
        </p:nvSpPr>
        <p:spPr>
          <a:xfrm>
            <a:off x="4983480" y="1600200"/>
            <a:ext cx="100584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Locate</a:t>
            </a:r>
            <a:endParaRPr lang="en-US" sz="1200" dirty="0"/>
          </a:p>
        </p:txBody>
      </p:sp>
      <p:sp>
        <p:nvSpPr>
          <p:cNvPr id="8" name="Prompt text Locate"/>
          <p:cNvSpPr txBox="1"/>
          <p:nvPr/>
        </p:nvSpPr>
        <p:spPr>
          <a:xfrm>
            <a:off x="4983480" y="2057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 user login handled? List the files.</a:t>
            </a:r>
            <a:endParaRPr lang="en-US" sz="1400" dirty="0"/>
          </a:p>
        </p:txBody>
      </p:sp>
      <p:sp>
        <p:nvSpPr>
          <p:cNvPr id="9" name="Prompt card Impact"/>
          <p:cNvSpPr/>
          <p:nvPr/>
        </p:nvSpPr>
        <p:spPr>
          <a:xfrm>
            <a:off x="548640" y="306324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Prompt tag Impact"/>
          <p:cNvSpPr/>
          <p:nvPr/>
        </p:nvSpPr>
        <p:spPr>
          <a:xfrm>
            <a:off x="822960" y="3291840"/>
            <a:ext cx="100584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Impact</a:t>
            </a:r>
            <a:endParaRPr lang="en-US" sz="1200" dirty="0"/>
          </a:p>
        </p:txBody>
      </p:sp>
      <p:sp>
        <p:nvSpPr>
          <p:cNvPr id="11" name="Prompt text Impact"/>
          <p:cNvSpPr txBox="1"/>
          <p:nvPr/>
        </p:nvSpPr>
        <p:spPr>
          <a:xfrm>
            <a:off x="822960" y="3749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could break if I change @utils/date.ts?</a:t>
            </a:r>
            <a:endParaRPr lang="en-US" sz="1400" dirty="0"/>
          </a:p>
        </p:txBody>
      </p:sp>
      <p:sp>
        <p:nvSpPr>
          <p:cNvPr id="12" name="Prompt card Plan"/>
          <p:cNvSpPr/>
          <p:nvPr/>
        </p:nvSpPr>
        <p:spPr>
          <a:xfrm>
            <a:off x="4709160" y="306324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Prompt tag Plan"/>
          <p:cNvSpPr/>
          <p:nvPr/>
        </p:nvSpPr>
        <p:spPr>
          <a:xfrm>
            <a:off x="4983480" y="3291840"/>
            <a:ext cx="100584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Plan</a:t>
            </a:r>
            <a:endParaRPr lang="en-US" sz="1200" dirty="0"/>
          </a:p>
        </p:txBody>
      </p:sp>
      <p:sp>
        <p:nvSpPr>
          <p:cNvPr id="14" name="Prompt text Plan"/>
          <p:cNvSpPr txBox="1"/>
          <p:nvPr/>
        </p:nvSpPr>
        <p:spPr>
          <a:xfrm>
            <a:off x="4983480" y="3749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 a plan first. Don't write code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Lab 2: Explore a codebase</a:t>
            </a:r>
            <a:endParaRPr lang="en-US" sz="3600" dirty="0"/>
          </a:p>
        </p:txBody>
      </p:sp>
      <p:sp>
        <p:nvSpPr>
          <p:cNvPr id="3" name="Lab 2 step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Lab 2 text 1"/>
          <p:cNvSpPr txBox="1"/>
          <p:nvPr/>
        </p:nvSpPr>
        <p:spPr>
          <a:xfrm>
            <a:off x="1188720" y="1371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 the starter repo and ask Chat to summarize how the app is structured.</a:t>
            </a:r>
            <a:endParaRPr lang="en-US" sz="1400" dirty="0"/>
          </a:p>
        </p:txBody>
      </p:sp>
      <p:sp>
        <p:nvSpPr>
          <p:cNvPr id="5" name="Lab 2 step 2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Lab 2 text 2"/>
          <p:cNvSpPr txBox="1"/>
          <p:nvPr/>
        </p:nvSpPr>
        <p:spPr>
          <a:xfrm>
            <a:off x="1188720" y="2148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@Files to ask how one feature works, step by step.</a:t>
            </a:r>
            <a:endParaRPr lang="en-US" sz="1400" dirty="0"/>
          </a:p>
        </p:txBody>
      </p:sp>
      <p:sp>
        <p:nvSpPr>
          <p:cNvPr id="7" name="Lab 2 step 3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Lab 2 text 3"/>
          <p:cNvSpPr txBox="1"/>
          <p:nvPr/>
        </p:nvSpPr>
        <p:spPr>
          <a:xfrm>
            <a:off x="1188720" y="2926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Chat where a bug in the starter app could come from.</a:t>
            </a:r>
            <a:endParaRPr lang="en-US" sz="1400" dirty="0"/>
          </a:p>
        </p:txBody>
      </p:sp>
      <p:sp>
        <p:nvSpPr>
          <p:cNvPr id="9" name="Lab 2 step 4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Lab 2 text 4"/>
          <p:cNvSpPr txBox="1"/>
          <p:nvPr/>
        </p:nvSpPr>
        <p:spPr>
          <a:xfrm>
            <a:off x="1188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Write down three things it got right and one it got wrong.</a:t>
            </a:r>
            <a:endParaRPr lang="en-US" sz="1400" dirty="0"/>
          </a:p>
        </p:txBody>
      </p:sp>
      <p:sp>
        <p:nvSpPr>
          <p:cNvPr id="11" name="Lab 2 goal card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Lab 2 minutes"/>
          <p:cNvSpPr txBox="1"/>
          <p:nvPr/>
        </p:nvSpPr>
        <p:spPr>
          <a:xfrm>
            <a:off x="617220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20</a:t>
            </a:r>
            <a:endParaRPr lang="en-US" sz="7200" dirty="0"/>
          </a:p>
        </p:txBody>
      </p:sp>
      <p:sp>
        <p:nvSpPr>
          <p:cNvPr id="13" name="Lab 2 minutes label"/>
          <p:cNvSpPr txBox="1"/>
          <p:nvPr/>
        </p:nvSpPr>
        <p:spPr>
          <a:xfrm>
            <a:off x="61722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minutes</a:t>
            </a:r>
            <a:endParaRPr lang="en-US" sz="1600" dirty="0"/>
          </a:p>
        </p:txBody>
      </p:sp>
      <p:sp>
        <p:nvSpPr>
          <p:cNvPr id="14" name="Lab 2 goal label"/>
          <p:cNvSpPr txBox="1"/>
          <p:nvPr/>
        </p:nvSpPr>
        <p:spPr>
          <a:xfrm>
            <a:off x="617220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Goal</a:t>
            </a:r>
            <a:endParaRPr lang="en-US" sz="1600" dirty="0"/>
          </a:p>
        </p:txBody>
      </p:sp>
      <p:sp>
        <p:nvSpPr>
          <p:cNvPr id="15" name="Lab 2 goal text"/>
          <p:cNvSpPr txBox="1"/>
          <p:nvPr/>
        </p:nvSpPr>
        <p:spPr>
          <a:xfrm>
            <a:off x="617220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Understand an unfamiliar codebase without reading every file.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Teach Cursor your project</a:t>
            </a:r>
            <a:endParaRPr lang="en-US" sz="3600" dirty="0"/>
          </a:p>
        </p:txBody>
      </p:sp>
      <p:sp>
        <p:nvSpPr>
          <p:cNvPr id="3" name="Rules Where icon circle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Rules Where icon" descr="Rules Wher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497330"/>
            <a:ext cx="251460" cy="251460"/>
          </a:xfrm>
          <a:prstGeom prst="rect">
            <a:avLst/>
          </a:prstGeom>
        </p:spPr>
      </p:pic>
      <p:sp>
        <p:nvSpPr>
          <p:cNvPr id="5" name="Rules Where heading"/>
          <p:cNvSpPr txBox="1"/>
          <p:nvPr/>
        </p:nvSpPr>
        <p:spPr>
          <a:xfrm>
            <a:off x="1280160" y="1353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</a:t>
            </a:r>
            <a:endParaRPr lang="en-US" sz="1800" dirty="0"/>
          </a:p>
        </p:txBody>
      </p:sp>
      <p:sp>
        <p:nvSpPr>
          <p:cNvPr id="6" name="Rules Where text"/>
          <p:cNvSpPr txBox="1"/>
          <p:nvPr/>
        </p:nvSpPr>
        <p:spPr>
          <a:xfrm>
            <a:off x="128016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Put rules in .cursor/rules inside your repo.</a:t>
            </a:r>
            <a:endParaRPr lang="en-US" sz="1400" dirty="0"/>
          </a:p>
        </p:txBody>
      </p:sp>
      <p:sp>
        <p:nvSpPr>
          <p:cNvPr id="7" name="Rules What icon circle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Rules What icon" descr="Rules Wha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2274570"/>
            <a:ext cx="251460" cy="251460"/>
          </a:xfrm>
          <a:prstGeom prst="rect">
            <a:avLst/>
          </a:prstGeom>
        </p:spPr>
      </p:pic>
      <p:sp>
        <p:nvSpPr>
          <p:cNvPr id="9" name="Rules What heading"/>
          <p:cNvSpPr txBox="1"/>
          <p:nvPr/>
        </p:nvSpPr>
        <p:spPr>
          <a:xfrm>
            <a:off x="1280160" y="2130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</a:t>
            </a:r>
            <a:endParaRPr lang="en-US" sz="1800" dirty="0"/>
          </a:p>
        </p:txBody>
      </p:sp>
      <p:sp>
        <p:nvSpPr>
          <p:cNvPr id="10" name="Rules What text"/>
          <p:cNvSpPr txBox="1"/>
          <p:nvPr/>
        </p:nvSpPr>
        <p:spPr>
          <a:xfrm>
            <a:off x="128016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Stack choices, conventions, dos and don'ts.</a:t>
            </a:r>
            <a:endParaRPr lang="en-US" sz="1400" dirty="0"/>
          </a:p>
        </p:txBody>
      </p:sp>
      <p:sp>
        <p:nvSpPr>
          <p:cNvPr id="11" name="Rules Why icon circle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Rules Why icon" descr="Rules Wh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3051810"/>
            <a:ext cx="251460" cy="251460"/>
          </a:xfrm>
          <a:prstGeom prst="rect">
            <a:avLst/>
          </a:prstGeom>
        </p:spPr>
      </p:pic>
      <p:sp>
        <p:nvSpPr>
          <p:cNvPr id="13" name="Rules Why heading"/>
          <p:cNvSpPr txBox="1"/>
          <p:nvPr/>
        </p:nvSpPr>
        <p:spPr>
          <a:xfrm>
            <a:off x="1280160" y="2907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</a:t>
            </a:r>
            <a:endParaRPr lang="en-US" sz="1800" dirty="0"/>
          </a:p>
        </p:txBody>
      </p:sp>
      <p:sp>
        <p:nvSpPr>
          <p:cNvPr id="14" name="Rules Why text"/>
          <p:cNvSpPr txBox="1"/>
          <p:nvPr/>
        </p:nvSpPr>
        <p:spPr>
          <a:xfrm>
            <a:off x="128016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Every run starts with the same guidance.</a:t>
            </a:r>
            <a:endParaRPr lang="en-US" sz="1400" dirty="0"/>
          </a:p>
        </p:txBody>
      </p:sp>
      <p:sp>
        <p:nvSpPr>
          <p:cNvPr id="15" name="Rules Keep it short icon circle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Rules Keep it short icon" descr="Rules Keep it shor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" y="3829050"/>
            <a:ext cx="251460" cy="251460"/>
          </a:xfrm>
          <a:prstGeom prst="rect">
            <a:avLst/>
          </a:prstGeom>
        </p:spPr>
      </p:pic>
      <p:sp>
        <p:nvSpPr>
          <p:cNvPr id="17" name="Rules Keep it short heading"/>
          <p:cNvSpPr txBox="1"/>
          <p:nvPr/>
        </p:nvSpPr>
        <p:spPr>
          <a:xfrm>
            <a:off x="1280160" y="3685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Keep it short</a:t>
            </a:r>
            <a:endParaRPr lang="en-US" sz="1800" dirty="0"/>
          </a:p>
        </p:txBody>
      </p:sp>
      <p:sp>
        <p:nvSpPr>
          <p:cNvPr id="18" name="Rules Keep it short text"/>
          <p:cNvSpPr txBox="1"/>
          <p:nvPr/>
        </p:nvSpPr>
        <p:spPr>
          <a:xfrm>
            <a:off x="128016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Five clear rules beat fifty vague ones.</a:t>
            </a:r>
            <a:endParaRPr lang="en-US" sz="1400" dirty="0"/>
          </a:p>
        </p:txBody>
      </p:sp>
      <p:sp>
        <p:nvSpPr>
          <p:cNvPr id="19" name="Rules file card"/>
          <p:cNvSpPr/>
          <p:nvPr/>
        </p:nvSpPr>
        <p:spPr>
          <a:xfrm>
            <a:off x="5120640" y="1371600"/>
            <a:ext cx="3474720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ules file label"/>
          <p:cNvSpPr txBox="1"/>
          <p:nvPr/>
        </p:nvSpPr>
        <p:spPr>
          <a:xfrm>
            <a:off x="53949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style.mdc</a:t>
            </a:r>
            <a:endParaRPr lang="en-US" sz="1400" dirty="0"/>
          </a:p>
        </p:txBody>
      </p:sp>
      <p:sp>
        <p:nvSpPr>
          <p:cNvPr id="21" name="Rules file text"/>
          <p:cNvSpPr txBox="1"/>
          <p:nvPr/>
        </p:nvSpPr>
        <p:spPr>
          <a:xfrm>
            <a:off x="5394960" y="20116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 rules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TypeScript strict mode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Prefer small, pure functions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Tests use Vitest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edit /generated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Lab 3: Write your rules file</a:t>
            </a:r>
            <a:endParaRPr lang="en-US" sz="3600" dirty="0"/>
          </a:p>
        </p:txBody>
      </p:sp>
      <p:sp>
        <p:nvSpPr>
          <p:cNvPr id="3" name="Lab 3 step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Lab 3 text 1"/>
          <p:cNvSpPr txBox="1"/>
          <p:nvPr/>
        </p:nvSpPr>
        <p:spPr>
          <a:xfrm>
            <a:off x="1188720" y="1371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Create .cursor/rules/project.mdc in the starter repo.</a:t>
            </a:r>
            <a:endParaRPr lang="en-US" sz="1400" dirty="0"/>
          </a:p>
        </p:txBody>
      </p:sp>
      <p:sp>
        <p:nvSpPr>
          <p:cNvPr id="5" name="Lab 3 step 2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Lab 3 text 2"/>
          <p:cNvSpPr txBox="1"/>
          <p:nvPr/>
        </p:nvSpPr>
        <p:spPr>
          <a:xfrm>
            <a:off x="1188720" y="2148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five rules: stack, code style, testing, files to avoid and naming.</a:t>
            </a:r>
            <a:endParaRPr lang="en-US" sz="1400" dirty="0"/>
          </a:p>
        </p:txBody>
      </p:sp>
      <p:sp>
        <p:nvSpPr>
          <p:cNvPr id="7" name="Lab 3 step 3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Lab 3 text 3"/>
          <p:cNvSpPr txBox="1"/>
          <p:nvPr/>
        </p:nvSpPr>
        <p:spPr>
          <a:xfrm>
            <a:off x="1188720" y="2926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Chat to add a small function and check that it follows your rules.</a:t>
            </a:r>
            <a:endParaRPr lang="en-US" sz="1400" dirty="0"/>
          </a:p>
        </p:txBody>
      </p:sp>
      <p:sp>
        <p:nvSpPr>
          <p:cNvPr id="9" name="Lab 3 step 4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Lab 3 text 4"/>
          <p:cNvSpPr txBox="1"/>
          <p:nvPr/>
        </p:nvSpPr>
        <p:spPr>
          <a:xfrm>
            <a:off x="1188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one more rule for anything it got wrong.</a:t>
            </a:r>
            <a:endParaRPr lang="en-US" sz="1400" dirty="0"/>
          </a:p>
        </p:txBody>
      </p:sp>
      <p:sp>
        <p:nvSpPr>
          <p:cNvPr id="11" name="Lab 3 goal card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Lab 3 minutes"/>
          <p:cNvSpPr txBox="1"/>
          <p:nvPr/>
        </p:nvSpPr>
        <p:spPr>
          <a:xfrm>
            <a:off x="617220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10</a:t>
            </a:r>
            <a:endParaRPr lang="en-US" sz="7200" dirty="0"/>
          </a:p>
        </p:txBody>
      </p:sp>
      <p:sp>
        <p:nvSpPr>
          <p:cNvPr id="13" name="Lab 3 minutes label"/>
          <p:cNvSpPr txBox="1"/>
          <p:nvPr/>
        </p:nvSpPr>
        <p:spPr>
          <a:xfrm>
            <a:off x="61722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minutes</a:t>
            </a:r>
            <a:endParaRPr lang="en-US" sz="1600" dirty="0"/>
          </a:p>
        </p:txBody>
      </p:sp>
      <p:sp>
        <p:nvSpPr>
          <p:cNvPr id="14" name="Lab 3 goal label"/>
          <p:cNvSpPr txBox="1"/>
          <p:nvPr/>
        </p:nvSpPr>
        <p:spPr>
          <a:xfrm>
            <a:off x="617220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Goal</a:t>
            </a:r>
            <a:endParaRPr lang="en-US" sz="1600" dirty="0"/>
          </a:p>
        </p:txBody>
      </p:sp>
      <p:sp>
        <p:nvSpPr>
          <p:cNvPr id="15" name="Lab 3 goal text"/>
          <p:cNvSpPr txBox="1"/>
          <p:nvPr/>
        </p:nvSpPr>
        <p:spPr>
          <a:xfrm>
            <a:off x="617220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short rules file that Cursor actually follows.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When to use Agent</a:t>
            </a:r>
            <a:endParaRPr lang="en-US" sz="3600" dirty="0"/>
          </a:p>
        </p:txBody>
      </p:sp>
      <p:sp>
        <p:nvSpPr>
          <p:cNvPr id="3" name="Great for card"/>
          <p:cNvSpPr/>
          <p:nvPr/>
        </p:nvSpPr>
        <p:spPr>
          <a:xfrm>
            <a:off x="548640" y="1371600"/>
            <a:ext cx="38862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Great for tag"/>
          <p:cNvSpPr/>
          <p:nvPr/>
        </p:nvSpPr>
        <p:spPr>
          <a:xfrm>
            <a:off x="822960" y="1645920"/>
            <a:ext cx="128016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Great for</a:t>
            </a:r>
            <a:endParaRPr lang="en-US" sz="1400" dirty="0"/>
          </a:p>
        </p:txBody>
      </p:sp>
      <p:sp>
        <p:nvSpPr>
          <p:cNvPr id="5" name="Great for list"/>
          <p:cNvSpPr txBox="1"/>
          <p:nvPr/>
        </p:nvSpPr>
        <p:spPr>
          <a:xfrm>
            <a:off x="822960" y="2240280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Multi-file features and refactors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Boilerplate and scaffolding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Writing and fixing tests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Running commands and fixing errors</a:t>
            </a:r>
            <a:endParaRPr lang="en-US" sz="1600" dirty="0"/>
          </a:p>
        </p:txBody>
      </p:sp>
      <p:sp>
        <p:nvSpPr>
          <p:cNvPr id="6" name="Be careful with card"/>
          <p:cNvSpPr/>
          <p:nvPr/>
        </p:nvSpPr>
        <p:spPr>
          <a:xfrm>
            <a:off x="4709160" y="1371600"/>
            <a:ext cx="3886200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Be careful with tag"/>
          <p:cNvSpPr/>
          <p:nvPr/>
        </p:nvSpPr>
        <p:spPr>
          <a:xfrm>
            <a:off x="4983480" y="1645920"/>
            <a:ext cx="1645920" cy="347472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Be careful with</a:t>
            </a:r>
            <a:endParaRPr lang="en-US" sz="1400" dirty="0"/>
          </a:p>
        </p:txBody>
      </p:sp>
      <p:sp>
        <p:nvSpPr>
          <p:cNvPr id="8" name="Be careful with list"/>
          <p:cNvSpPr txBox="1"/>
          <p:nvPr/>
        </p:nvSpPr>
        <p:spPr>
          <a:xfrm>
            <a:off x="4983480" y="2240280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Vague goals with no constraints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Security-sensitive code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Large changes without a commit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Anything you can't review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Agent works</a:t>
            </a:r>
            <a:endParaRPr lang="en-US" sz="3600" dirty="0"/>
          </a:p>
        </p:txBody>
      </p:sp>
      <p:sp>
        <p:nvSpPr>
          <p:cNvPr id="3" name="Agent card Explore"/>
          <p:cNvSpPr/>
          <p:nvPr/>
        </p:nvSpPr>
        <p:spPr>
          <a:xfrm>
            <a:off x="548640" y="1371600"/>
            <a:ext cx="1645920" cy="23774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gent icon Explore circle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Agent icon Explore" descr="Agent icon Expl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760220"/>
            <a:ext cx="320040" cy="320040"/>
          </a:xfrm>
          <a:prstGeom prst="rect">
            <a:avLst/>
          </a:prstGeom>
        </p:spPr>
      </p:pic>
      <p:sp>
        <p:nvSpPr>
          <p:cNvPr id="6" name="Agent heading Explore"/>
          <p:cNvSpPr txBox="1"/>
          <p:nvPr/>
        </p:nvSpPr>
        <p:spPr>
          <a:xfrm>
            <a:off x="7315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Explore</a:t>
            </a:r>
            <a:endParaRPr lang="en-US" sz="1800" dirty="0"/>
          </a:p>
        </p:txBody>
      </p:sp>
      <p:sp>
        <p:nvSpPr>
          <p:cNvPr id="7" name="Agent text Explore"/>
          <p:cNvSpPr txBox="1"/>
          <p:nvPr/>
        </p:nvSpPr>
        <p:spPr>
          <a:xfrm>
            <a:off x="731520" y="2788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Searches your code for relevant files.</a:t>
            </a:r>
            <a:endParaRPr lang="en-US" sz="1400" dirty="0"/>
          </a:p>
        </p:txBody>
      </p:sp>
      <p:sp>
        <p:nvSpPr>
          <p:cNvPr id="8" name="Arrow 1"/>
          <p:cNvSpPr txBox="1"/>
          <p:nvPr/>
        </p:nvSpPr>
        <p:spPr>
          <a:xfrm>
            <a:off x="2194560" y="2377440"/>
            <a:ext cx="48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Agent card Edit"/>
          <p:cNvSpPr/>
          <p:nvPr/>
        </p:nvSpPr>
        <p:spPr>
          <a:xfrm>
            <a:off x="2682240" y="1371600"/>
            <a:ext cx="1645920" cy="23774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Agent icon Edit circle"/>
          <p:cNvSpPr/>
          <p:nvPr/>
        </p:nvSpPr>
        <p:spPr>
          <a:xfrm>
            <a:off x="286512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Agent icon Edit" descr="Agent icon Ed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140" y="1760220"/>
            <a:ext cx="320040" cy="320040"/>
          </a:xfrm>
          <a:prstGeom prst="rect">
            <a:avLst/>
          </a:prstGeom>
        </p:spPr>
      </p:pic>
      <p:sp>
        <p:nvSpPr>
          <p:cNvPr id="12" name="Agent heading Edit"/>
          <p:cNvSpPr txBox="1"/>
          <p:nvPr/>
        </p:nvSpPr>
        <p:spPr>
          <a:xfrm>
            <a:off x="28651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Edit</a:t>
            </a:r>
            <a:endParaRPr lang="en-US" sz="1800" dirty="0"/>
          </a:p>
        </p:txBody>
      </p:sp>
      <p:sp>
        <p:nvSpPr>
          <p:cNvPr id="13" name="Agent text Edit"/>
          <p:cNvSpPr txBox="1"/>
          <p:nvPr/>
        </p:nvSpPr>
        <p:spPr>
          <a:xfrm>
            <a:off x="2865120" y="2788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Changes one or more files.</a:t>
            </a:r>
            <a:endParaRPr lang="en-US" sz="1400" dirty="0"/>
          </a:p>
        </p:txBody>
      </p:sp>
      <p:sp>
        <p:nvSpPr>
          <p:cNvPr id="14" name="Arrow 2"/>
          <p:cNvSpPr txBox="1"/>
          <p:nvPr/>
        </p:nvSpPr>
        <p:spPr>
          <a:xfrm>
            <a:off x="4328160" y="2377440"/>
            <a:ext cx="48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Agent card Run"/>
          <p:cNvSpPr/>
          <p:nvPr/>
        </p:nvSpPr>
        <p:spPr>
          <a:xfrm>
            <a:off x="4815840" y="1371600"/>
            <a:ext cx="1645920" cy="23774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Agent icon Run circle"/>
          <p:cNvSpPr/>
          <p:nvPr/>
        </p:nvSpPr>
        <p:spPr>
          <a:xfrm>
            <a:off x="499872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Agent icon Run" descr="Agent icon Ru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740" y="1760220"/>
            <a:ext cx="320040" cy="320040"/>
          </a:xfrm>
          <a:prstGeom prst="rect">
            <a:avLst/>
          </a:prstGeom>
        </p:spPr>
      </p:pic>
      <p:sp>
        <p:nvSpPr>
          <p:cNvPr id="18" name="Agent heading Run"/>
          <p:cNvSpPr txBox="1"/>
          <p:nvPr/>
        </p:nvSpPr>
        <p:spPr>
          <a:xfrm>
            <a:off x="49987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</a:t>
            </a:r>
            <a:endParaRPr lang="en-US" sz="1800" dirty="0"/>
          </a:p>
        </p:txBody>
      </p:sp>
      <p:sp>
        <p:nvSpPr>
          <p:cNvPr id="19" name="Agent text Run"/>
          <p:cNvSpPr txBox="1"/>
          <p:nvPr/>
        </p:nvSpPr>
        <p:spPr>
          <a:xfrm>
            <a:off x="4998720" y="2788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Runs commands and tests.</a:t>
            </a:r>
            <a:endParaRPr lang="en-US" sz="1400" dirty="0"/>
          </a:p>
        </p:txBody>
      </p:sp>
      <p:sp>
        <p:nvSpPr>
          <p:cNvPr id="20" name="Arrow 3"/>
          <p:cNvSpPr txBox="1"/>
          <p:nvPr/>
        </p:nvSpPr>
        <p:spPr>
          <a:xfrm>
            <a:off x="6461760" y="2377440"/>
            <a:ext cx="48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Agent card Fix"/>
          <p:cNvSpPr/>
          <p:nvPr/>
        </p:nvSpPr>
        <p:spPr>
          <a:xfrm>
            <a:off x="6949440" y="1371600"/>
            <a:ext cx="1645920" cy="23774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Agent icon Fix circle"/>
          <p:cNvSpPr/>
          <p:nvPr/>
        </p:nvSpPr>
        <p:spPr>
          <a:xfrm>
            <a:off x="713232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Agent icon Fix" descr="Agent icon Fi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340" y="1760220"/>
            <a:ext cx="320040" cy="320040"/>
          </a:xfrm>
          <a:prstGeom prst="rect">
            <a:avLst/>
          </a:prstGeom>
        </p:spPr>
      </p:pic>
      <p:sp>
        <p:nvSpPr>
          <p:cNvPr id="24" name="Agent heading Fix"/>
          <p:cNvSpPr txBox="1"/>
          <p:nvPr/>
        </p:nvSpPr>
        <p:spPr>
          <a:xfrm>
            <a:off x="71323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Fix</a:t>
            </a:r>
            <a:endParaRPr lang="en-US" sz="1800" dirty="0"/>
          </a:p>
        </p:txBody>
      </p:sp>
      <p:sp>
        <p:nvSpPr>
          <p:cNvPr id="25" name="Agent text Fix"/>
          <p:cNvSpPr txBox="1"/>
          <p:nvPr/>
        </p:nvSpPr>
        <p:spPr>
          <a:xfrm>
            <a:off x="7132320" y="2788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Reads errors and tries again.</a:t>
            </a:r>
            <a:endParaRPr lang="en-US" sz="1400" dirty="0"/>
          </a:p>
        </p:txBody>
      </p:sp>
      <p:sp>
        <p:nvSpPr>
          <p:cNvPr id="26" name="Agent strip"/>
          <p:cNvSpPr/>
          <p:nvPr/>
        </p:nvSpPr>
        <p:spPr>
          <a:xfrm>
            <a:off x="548640" y="397764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Agent strip text"/>
          <p:cNvSpPr txBox="1"/>
          <p:nvPr/>
        </p:nvSpPr>
        <p:spPr>
          <a:xfrm>
            <a:off x="82296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Your job: set the goal, set the limits, review the diff.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Lab 4: Build with Agent</a:t>
            </a:r>
            <a:endParaRPr lang="en-US" sz="3600" dirty="0"/>
          </a:p>
        </p:txBody>
      </p:sp>
      <p:sp>
        <p:nvSpPr>
          <p:cNvPr id="3" name="Lab 4 card 1"/>
          <p:cNvSpPr/>
          <p:nvPr/>
        </p:nvSpPr>
        <p:spPr>
          <a:xfrm>
            <a:off x="548640" y="1371600"/>
            <a:ext cx="182880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ab 4 step 1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ab 4 heading 1"/>
          <p:cNvSpPr txBox="1"/>
          <p:nvPr/>
        </p:nvSpPr>
        <p:spPr>
          <a:xfrm>
            <a:off x="731520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Describe</a:t>
            </a:r>
            <a:endParaRPr lang="en-US" sz="1600" dirty="0"/>
          </a:p>
        </p:txBody>
      </p:sp>
      <p:sp>
        <p:nvSpPr>
          <p:cNvPr id="6" name="Lab 4 text 1"/>
          <p:cNvSpPr txBox="1"/>
          <p:nvPr/>
        </p:nvSpPr>
        <p:spPr>
          <a:xfrm>
            <a:off x="73152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State the feature, constraints and files.</a:t>
            </a:r>
            <a:endParaRPr lang="en-US" sz="1400" dirty="0"/>
          </a:p>
        </p:txBody>
      </p:sp>
      <p:sp>
        <p:nvSpPr>
          <p:cNvPr id="7" name="Lab 4 card 2"/>
          <p:cNvSpPr/>
          <p:nvPr/>
        </p:nvSpPr>
        <p:spPr>
          <a:xfrm>
            <a:off x="2621280" y="1371600"/>
            <a:ext cx="182880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Lab 4 step 2"/>
          <p:cNvSpPr/>
          <p:nvPr/>
        </p:nvSpPr>
        <p:spPr>
          <a:xfrm>
            <a:off x="280416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Lab 4 heading 2"/>
          <p:cNvSpPr txBox="1"/>
          <p:nvPr/>
        </p:nvSpPr>
        <p:spPr>
          <a:xfrm>
            <a:off x="2804160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the plan</a:t>
            </a:r>
            <a:endParaRPr lang="en-US" sz="1600" dirty="0"/>
          </a:p>
        </p:txBody>
      </p:sp>
      <p:sp>
        <p:nvSpPr>
          <p:cNvPr id="10" name="Lab 4 text 2"/>
          <p:cNvSpPr txBox="1"/>
          <p:nvPr/>
        </p:nvSpPr>
        <p:spPr>
          <a:xfrm>
            <a:off x="280416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Check which files Agent wants to touch.</a:t>
            </a:r>
            <a:endParaRPr lang="en-US" sz="1400" dirty="0"/>
          </a:p>
        </p:txBody>
      </p:sp>
      <p:sp>
        <p:nvSpPr>
          <p:cNvPr id="11" name="Lab 4 card 3"/>
          <p:cNvSpPr/>
          <p:nvPr/>
        </p:nvSpPr>
        <p:spPr>
          <a:xfrm>
            <a:off x="4693920" y="1371600"/>
            <a:ext cx="182880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Lab 4 step 3"/>
          <p:cNvSpPr/>
          <p:nvPr/>
        </p:nvSpPr>
        <p:spPr>
          <a:xfrm>
            <a:off x="487680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Lab 4 heading 3"/>
          <p:cNvSpPr txBox="1"/>
          <p:nvPr/>
        </p:nvSpPr>
        <p:spPr>
          <a:xfrm>
            <a:off x="4876800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diffs</a:t>
            </a:r>
            <a:endParaRPr lang="en-US" sz="1600" dirty="0"/>
          </a:p>
        </p:txBody>
      </p:sp>
      <p:sp>
        <p:nvSpPr>
          <p:cNvPr id="14" name="Lab 4 text 3"/>
          <p:cNvSpPr txBox="1"/>
          <p:nvPr/>
        </p:nvSpPr>
        <p:spPr>
          <a:xfrm>
            <a:off x="487680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Accept or reject each change.</a:t>
            </a:r>
            <a:endParaRPr lang="en-US" sz="1400" dirty="0"/>
          </a:p>
        </p:txBody>
      </p:sp>
      <p:sp>
        <p:nvSpPr>
          <p:cNvPr id="15" name="Lab 4 card 4"/>
          <p:cNvSpPr/>
          <p:nvPr/>
        </p:nvSpPr>
        <p:spPr>
          <a:xfrm>
            <a:off x="6766560" y="1371600"/>
            <a:ext cx="182880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Lab 4 step 4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Lab 4 heading 4"/>
          <p:cNvSpPr txBox="1"/>
          <p:nvPr/>
        </p:nvSpPr>
        <p:spPr>
          <a:xfrm>
            <a:off x="6949440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 and iterate</a:t>
            </a:r>
            <a:endParaRPr lang="en-US" sz="1600" dirty="0"/>
          </a:p>
        </p:txBody>
      </p:sp>
      <p:sp>
        <p:nvSpPr>
          <p:cNvPr id="18" name="Lab 4 text 4"/>
          <p:cNvSpPr txBox="1"/>
          <p:nvPr/>
        </p:nvSpPr>
        <p:spPr>
          <a:xfrm>
            <a:off x="694944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Run the app, paste errors back, refine.</a:t>
            </a:r>
            <a:endParaRPr lang="en-US" sz="1400" dirty="0"/>
          </a:p>
        </p:txBody>
      </p:sp>
      <p:sp>
        <p:nvSpPr>
          <p:cNvPr id="19" name="Lab 4 strip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Lab 4 task"/>
          <p:cNvSpPr txBox="1"/>
          <p:nvPr/>
        </p:nvSpPr>
        <p:spPr>
          <a:xfrm>
            <a:off x="822960" y="3703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35 minutes. Pick one: </a:t>
            </a:r>
            <a:r>
              <a:rPr lang="en-US" sz="1400" dirty="0">
                <a:solidFill>
                  <a:schemeClr val="bg1"/>
                </a:solidFill>
              </a:rPr>
              <a:t>add search, add filters, or save data between sessions. Commit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Prompts that work</a:t>
            </a:r>
            <a:endParaRPr lang="en-US" sz="3600" dirty="0"/>
          </a:p>
        </p:txBody>
      </p:sp>
      <p:sp>
        <p:nvSpPr>
          <p:cNvPr id="3" name="Vague card"/>
          <p:cNvSpPr/>
          <p:nvPr/>
        </p:nvSpPr>
        <p:spPr>
          <a:xfrm>
            <a:off x="548640" y="1371600"/>
            <a:ext cx="38862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Vague tag"/>
          <p:cNvSpPr/>
          <p:nvPr/>
        </p:nvSpPr>
        <p:spPr>
          <a:xfrm>
            <a:off x="822960" y="1600200"/>
            <a:ext cx="914400" cy="310896"/>
          </a:xfrm>
          <a:prstGeom prst="roundRect">
            <a:avLst>
              <a:gd name="adj" fmla="val 4411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Vague</a:t>
            </a:r>
            <a:endParaRPr lang="en-US" sz="1200" dirty="0"/>
          </a:p>
        </p:txBody>
      </p:sp>
      <p:sp>
        <p:nvSpPr>
          <p:cNvPr id="5" name="Vague prompt"/>
          <p:cNvSpPr txBox="1"/>
          <p:nvPr/>
        </p:nvSpPr>
        <p:spPr>
          <a:xfrm>
            <a:off x="82296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Make the login better</a:t>
            </a:r>
            <a:endParaRPr lang="en-US" sz="1800" dirty="0"/>
          </a:p>
        </p:txBody>
      </p:sp>
      <p:sp>
        <p:nvSpPr>
          <p:cNvPr id="6" name="Specific card"/>
          <p:cNvSpPr/>
          <p:nvPr/>
        </p:nvSpPr>
        <p:spPr>
          <a:xfrm>
            <a:off x="4709160" y="1371600"/>
            <a:ext cx="38862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pecific tag"/>
          <p:cNvSpPr/>
          <p:nvPr/>
        </p:nvSpPr>
        <p:spPr>
          <a:xfrm>
            <a:off x="4983480" y="1600200"/>
            <a:ext cx="100584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Specific</a:t>
            </a:r>
            <a:endParaRPr lang="en-US" sz="1200" dirty="0"/>
          </a:p>
        </p:txBody>
      </p:sp>
      <p:sp>
        <p:nvSpPr>
          <p:cNvPr id="8" name="Specific prompt"/>
          <p:cNvSpPr txBox="1"/>
          <p:nvPr/>
        </p:nvSpPr>
        <p:spPr>
          <a:xfrm>
            <a:off x="498348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 @auth/login.ts, limit to 5 attempts per minute per IP. Return 429 and add tests.</a:t>
            </a:r>
            <a:endParaRPr lang="en-US" sz="1400" dirty="0"/>
          </a:p>
        </p:txBody>
      </p:sp>
      <p:sp>
        <p:nvSpPr>
          <p:cNvPr id="9" name="Tip icon 1 circle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Tip icon 1" descr="Tip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691890"/>
            <a:ext cx="251460" cy="251460"/>
          </a:xfrm>
          <a:prstGeom prst="rect">
            <a:avLst/>
          </a:prstGeom>
        </p:spPr>
      </p:pic>
      <p:sp>
        <p:nvSpPr>
          <p:cNvPr id="11" name="Tip text 1"/>
          <p:cNvSpPr txBox="1"/>
          <p:nvPr/>
        </p:nvSpPr>
        <p:spPr>
          <a:xfrm>
            <a:off x="118872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State the goal and constraints</a:t>
            </a:r>
            <a:endParaRPr lang="en-US" sz="1400" dirty="0"/>
          </a:p>
        </p:txBody>
      </p:sp>
      <p:sp>
        <p:nvSpPr>
          <p:cNvPr id="12" name="Tip icon 2 circle"/>
          <p:cNvSpPr/>
          <p:nvPr/>
        </p:nvSpPr>
        <p:spPr>
          <a:xfrm>
            <a:off x="3264408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Tip icon 2" descr="Tip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138" y="3691890"/>
            <a:ext cx="251460" cy="251460"/>
          </a:xfrm>
          <a:prstGeom prst="rect">
            <a:avLst/>
          </a:prstGeom>
        </p:spPr>
      </p:pic>
      <p:sp>
        <p:nvSpPr>
          <p:cNvPr id="14" name="Tip text 2"/>
          <p:cNvSpPr txBox="1"/>
          <p:nvPr/>
        </p:nvSpPr>
        <p:spPr>
          <a:xfrm>
            <a:off x="3904488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Point to files with @</a:t>
            </a:r>
            <a:endParaRPr lang="en-US" sz="1400" dirty="0"/>
          </a:p>
        </p:txBody>
      </p:sp>
      <p:sp>
        <p:nvSpPr>
          <p:cNvPr id="15" name="Tip icon 3 circle"/>
          <p:cNvSpPr/>
          <p:nvPr/>
        </p:nvSpPr>
        <p:spPr>
          <a:xfrm>
            <a:off x="5980176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Tip icon 3" descr="Tip 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906" y="3691890"/>
            <a:ext cx="251460" cy="251460"/>
          </a:xfrm>
          <a:prstGeom prst="rect">
            <a:avLst/>
          </a:prstGeom>
        </p:spPr>
      </p:pic>
      <p:sp>
        <p:nvSpPr>
          <p:cNvPr id="17" name="Tip text 3"/>
          <p:cNvSpPr txBox="1"/>
          <p:nvPr/>
        </p:nvSpPr>
        <p:spPr>
          <a:xfrm>
            <a:off x="6620256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for small steps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Debug with Cursor</a:t>
            </a:r>
            <a:endParaRPr lang="en-US" sz="3600" dirty="0"/>
          </a:p>
        </p:txBody>
      </p:sp>
      <p:sp>
        <p:nvSpPr>
          <p:cNvPr id="3" name="Debug step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Debug text 1"/>
          <p:cNvSpPr txBox="1"/>
          <p:nvPr/>
        </p:nvSpPr>
        <p:spPr>
          <a:xfrm>
            <a:off x="1188720" y="1371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code and copy the full error message.</a:t>
            </a:r>
            <a:endParaRPr lang="en-US" sz="1400" dirty="0"/>
          </a:p>
        </p:txBody>
      </p:sp>
      <p:sp>
        <p:nvSpPr>
          <p:cNvPr id="5" name="Debug step 2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Debug text 2"/>
          <p:cNvSpPr txBox="1"/>
          <p:nvPr/>
        </p:nvSpPr>
        <p:spPr>
          <a:xfrm>
            <a:off x="1188720" y="2148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Paste it into chat and add the failing file with @Files.</a:t>
            </a:r>
            <a:endParaRPr lang="en-US" sz="1400" dirty="0"/>
          </a:p>
        </p:txBody>
      </p:sp>
      <p:sp>
        <p:nvSpPr>
          <p:cNvPr id="7" name="Debug step 3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Debug text 3"/>
          <p:cNvSpPr txBox="1"/>
          <p:nvPr/>
        </p:nvSpPr>
        <p:spPr>
          <a:xfrm>
            <a:off x="1188720" y="2926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for the cause first, then the fix.</a:t>
            </a:r>
            <a:endParaRPr lang="en-US" sz="1400" dirty="0"/>
          </a:p>
        </p:txBody>
      </p:sp>
      <p:sp>
        <p:nvSpPr>
          <p:cNvPr id="9" name="Debug step 4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Debug text 4"/>
          <p:cNvSpPr txBox="1"/>
          <p:nvPr/>
        </p:nvSpPr>
        <p:spPr>
          <a:xfrm>
            <a:off x="1188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Re-run and confirm the error is gone.</a:t>
            </a:r>
            <a:endParaRPr lang="en-US" sz="1400" dirty="0"/>
          </a:p>
        </p:txBody>
      </p:sp>
      <p:sp>
        <p:nvSpPr>
          <p:cNvPr id="11" name="Debug example card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Debug example label"/>
          <p:cNvSpPr txBox="1"/>
          <p:nvPr/>
        </p:nvSpPr>
        <p:spPr>
          <a:xfrm>
            <a:off x="61264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Example prompt</a:t>
            </a:r>
            <a:endParaRPr lang="en-US" sz="1400" dirty="0"/>
          </a:p>
        </p:txBody>
      </p:sp>
      <p:sp>
        <p:nvSpPr>
          <p:cNvPr id="13" name="Debug example text"/>
          <p:cNvSpPr txBox="1"/>
          <p:nvPr/>
        </p:nvSpPr>
        <p:spPr>
          <a:xfrm>
            <a:off x="6126480" y="20116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cannot read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'map' of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why this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happens in @List.tsx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propose a fix.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Test with Cursor</a:t>
            </a:r>
            <a:endParaRPr lang="en-US" sz="3600" dirty="0"/>
          </a:p>
        </p:txBody>
      </p:sp>
      <p:sp>
        <p:nvSpPr>
          <p:cNvPr id="3" name="Test Ask for tests icon circle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Test Ask for tests icon" descr="Test Ask for test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497330"/>
            <a:ext cx="251460" cy="251460"/>
          </a:xfrm>
          <a:prstGeom prst="rect">
            <a:avLst/>
          </a:prstGeom>
        </p:spPr>
      </p:pic>
      <p:sp>
        <p:nvSpPr>
          <p:cNvPr id="5" name="Test Ask for tests heading"/>
          <p:cNvSpPr txBox="1"/>
          <p:nvPr/>
        </p:nvSpPr>
        <p:spPr>
          <a:xfrm>
            <a:off x="1280160" y="1353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Ask for tests</a:t>
            </a:r>
            <a:endParaRPr lang="en-US" sz="1800" dirty="0"/>
          </a:p>
        </p:txBody>
      </p:sp>
      <p:sp>
        <p:nvSpPr>
          <p:cNvPr id="6" name="Test Ask for tests text"/>
          <p:cNvSpPr txBox="1"/>
          <p:nvPr/>
        </p:nvSpPr>
        <p:spPr>
          <a:xfrm>
            <a:off x="128016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Describe behavior and edge cases in plain words.</a:t>
            </a:r>
            <a:endParaRPr lang="en-US" sz="1400" dirty="0"/>
          </a:p>
        </p:txBody>
      </p:sp>
      <p:sp>
        <p:nvSpPr>
          <p:cNvPr id="7" name="Test Run and iterate icon circle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Test Run and iterate icon" descr="Test Run and iterat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2274570"/>
            <a:ext cx="251460" cy="251460"/>
          </a:xfrm>
          <a:prstGeom prst="rect">
            <a:avLst/>
          </a:prstGeom>
        </p:spPr>
      </p:pic>
      <p:sp>
        <p:nvSpPr>
          <p:cNvPr id="9" name="Test Run and iterate heading"/>
          <p:cNvSpPr txBox="1"/>
          <p:nvPr/>
        </p:nvSpPr>
        <p:spPr>
          <a:xfrm>
            <a:off x="1280160" y="2130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and iterate</a:t>
            </a:r>
            <a:endParaRPr lang="en-US" sz="1800" dirty="0"/>
          </a:p>
        </p:txBody>
      </p:sp>
      <p:sp>
        <p:nvSpPr>
          <p:cNvPr id="10" name="Test Run and iterate text"/>
          <p:cNvSpPr txBox="1"/>
          <p:nvPr/>
        </p:nvSpPr>
        <p:spPr>
          <a:xfrm>
            <a:off x="128016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Paste failures back and let Agent fix the code.</a:t>
            </a:r>
            <a:endParaRPr lang="en-US" sz="1400" dirty="0"/>
          </a:p>
        </p:txBody>
      </p:sp>
      <p:sp>
        <p:nvSpPr>
          <p:cNvPr id="11" name="Test Read the tests icon circle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Test Read the tests icon" descr="Test Read the test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3051810"/>
            <a:ext cx="251460" cy="251460"/>
          </a:xfrm>
          <a:prstGeom prst="rect">
            <a:avLst/>
          </a:prstGeom>
        </p:spPr>
      </p:pic>
      <p:sp>
        <p:nvSpPr>
          <p:cNvPr id="13" name="Test Read the tests heading"/>
          <p:cNvSpPr txBox="1"/>
          <p:nvPr/>
        </p:nvSpPr>
        <p:spPr>
          <a:xfrm>
            <a:off x="1280160" y="2907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the tests</a:t>
            </a:r>
            <a:endParaRPr lang="en-US" sz="1800" dirty="0"/>
          </a:p>
        </p:txBody>
      </p:sp>
      <p:sp>
        <p:nvSpPr>
          <p:cNvPr id="14" name="Test Read the tests text"/>
          <p:cNvSpPr txBox="1"/>
          <p:nvPr/>
        </p:nvSpPr>
        <p:spPr>
          <a:xfrm>
            <a:off x="128016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Check they test real behavior, not just pass.</a:t>
            </a:r>
            <a:endParaRPr lang="en-US" sz="1400" dirty="0"/>
          </a:p>
        </p:txBody>
      </p:sp>
      <p:sp>
        <p:nvSpPr>
          <p:cNvPr id="15" name="Test Commit them icon circle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Test Commit them icon" descr="Test Commit them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" y="3829050"/>
            <a:ext cx="251460" cy="251460"/>
          </a:xfrm>
          <a:prstGeom prst="rect">
            <a:avLst/>
          </a:prstGeom>
        </p:spPr>
      </p:pic>
      <p:sp>
        <p:nvSpPr>
          <p:cNvPr id="17" name="Test Commit them heading"/>
          <p:cNvSpPr txBox="1"/>
          <p:nvPr/>
        </p:nvSpPr>
        <p:spPr>
          <a:xfrm>
            <a:off x="1280160" y="3685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Commit them</a:t>
            </a:r>
            <a:endParaRPr lang="en-US" sz="1800" dirty="0"/>
          </a:p>
        </p:txBody>
      </p:sp>
      <p:sp>
        <p:nvSpPr>
          <p:cNvPr id="18" name="Test Commit them text"/>
          <p:cNvSpPr txBox="1"/>
          <p:nvPr/>
        </p:nvSpPr>
        <p:spPr>
          <a:xfrm>
            <a:off x="128016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Keep tests with the feature they protect.</a:t>
            </a:r>
            <a:endParaRPr lang="en-US" sz="1400" dirty="0"/>
          </a:p>
        </p:txBody>
      </p:sp>
      <p:sp>
        <p:nvSpPr>
          <p:cNvPr id="19" name="Test example card"/>
          <p:cNvSpPr/>
          <p:nvPr/>
        </p:nvSpPr>
        <p:spPr>
          <a:xfrm>
            <a:off x="5120640" y="1371600"/>
            <a:ext cx="3474720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st example label"/>
          <p:cNvSpPr txBox="1"/>
          <p:nvPr/>
        </p:nvSpPr>
        <p:spPr>
          <a:xfrm>
            <a:off x="53949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Test-first prompt</a:t>
            </a:r>
            <a:endParaRPr lang="en-US" sz="1400" dirty="0"/>
          </a:p>
        </p:txBody>
      </p:sp>
      <p:sp>
        <p:nvSpPr>
          <p:cNvPr id="21" name="Test example text"/>
          <p:cNvSpPr txBox="1"/>
          <p:nvPr/>
        </p:nvSpPr>
        <p:spPr>
          <a:xfrm>
            <a:off x="5394960" y="20116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tests for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@pricing.ts first.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 empty cart,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discounts and tax.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make them pass.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Lab 5: Debug and test</a:t>
            </a:r>
            <a:endParaRPr lang="en-US" sz="3600" dirty="0"/>
          </a:p>
        </p:txBody>
      </p:sp>
      <p:sp>
        <p:nvSpPr>
          <p:cNvPr id="3" name="Lab 5 step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Lab 5 text 1"/>
          <p:cNvSpPr txBox="1"/>
          <p:nvPr/>
        </p:nvSpPr>
        <p:spPr>
          <a:xfrm>
            <a:off x="1188720" y="1371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Reproduce the planted bug you hunted in Lab 2.</a:t>
            </a:r>
            <a:endParaRPr lang="en-US" sz="1400" dirty="0"/>
          </a:p>
        </p:txBody>
      </p:sp>
      <p:sp>
        <p:nvSpPr>
          <p:cNvPr id="5" name="Lab 5 step 2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Lab 5 text 2"/>
          <p:cNvSpPr txBox="1"/>
          <p:nvPr/>
        </p:nvSpPr>
        <p:spPr>
          <a:xfrm>
            <a:off x="1188720" y="2148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Paste the error into chat and ask for the cause before the fix.</a:t>
            </a:r>
            <a:endParaRPr lang="en-US" sz="1400" dirty="0"/>
          </a:p>
        </p:txBody>
      </p:sp>
      <p:sp>
        <p:nvSpPr>
          <p:cNvPr id="7" name="Lab 5 step 3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Lab 5 text 3"/>
          <p:cNvSpPr txBox="1"/>
          <p:nvPr/>
        </p:nvSpPr>
        <p:spPr>
          <a:xfrm>
            <a:off x="1188720" y="2926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Agent to write a failing test that catches the bug.</a:t>
            </a:r>
            <a:endParaRPr lang="en-US" sz="1400" dirty="0"/>
          </a:p>
        </p:txBody>
      </p:sp>
      <p:sp>
        <p:nvSpPr>
          <p:cNvPr id="9" name="Lab 5 step 4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Lab 5 text 4"/>
          <p:cNvSpPr txBox="1"/>
          <p:nvPr/>
        </p:nvSpPr>
        <p:spPr>
          <a:xfrm>
            <a:off x="1188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Apply the fix and run the whole test suite.</a:t>
            </a:r>
            <a:endParaRPr lang="en-US" sz="1400" dirty="0"/>
          </a:p>
        </p:txBody>
      </p:sp>
      <p:sp>
        <p:nvSpPr>
          <p:cNvPr id="11" name="Lab 5 goal card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Lab 5 minutes"/>
          <p:cNvSpPr txBox="1"/>
          <p:nvPr/>
        </p:nvSpPr>
        <p:spPr>
          <a:xfrm>
            <a:off x="617220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25</a:t>
            </a:r>
            <a:endParaRPr lang="en-US" sz="7200" dirty="0"/>
          </a:p>
        </p:txBody>
      </p:sp>
      <p:sp>
        <p:nvSpPr>
          <p:cNvPr id="13" name="Lab 5 minutes label"/>
          <p:cNvSpPr txBox="1"/>
          <p:nvPr/>
        </p:nvSpPr>
        <p:spPr>
          <a:xfrm>
            <a:off x="61722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minutes</a:t>
            </a:r>
            <a:endParaRPr lang="en-US" sz="1600" dirty="0"/>
          </a:p>
        </p:txBody>
      </p:sp>
      <p:sp>
        <p:nvSpPr>
          <p:cNvPr id="14" name="Lab 5 goal label"/>
          <p:cNvSpPr txBox="1"/>
          <p:nvPr/>
        </p:nvSpPr>
        <p:spPr>
          <a:xfrm>
            <a:off x="617220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Goal</a:t>
            </a:r>
            <a:endParaRPr lang="en-US" sz="1600" dirty="0"/>
          </a:p>
        </p:txBody>
      </p:sp>
      <p:sp>
        <p:nvSpPr>
          <p:cNvPr id="15" name="Lab 5 goal text"/>
          <p:cNvSpPr txBox="1"/>
          <p:nvPr/>
        </p:nvSpPr>
        <p:spPr>
          <a:xfrm>
            <a:off x="617220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Fix a bug with a test that proves it stays fixed.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Level up your workflow</a:t>
            </a:r>
            <a:endParaRPr lang="en-US" sz="3600" dirty="0"/>
          </a:p>
        </p:txBody>
      </p:sp>
      <p:sp>
        <p:nvSpPr>
          <p:cNvPr id="3" name="Card MCP servers"/>
          <p:cNvSpPr/>
          <p:nvPr/>
        </p:nvSpPr>
        <p:spPr>
          <a:xfrm>
            <a:off x="548640" y="137160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MCP servers icon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MCP servers icon" descr="MCP server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MCP servers heading"/>
          <p:cNvSpPr txBox="1"/>
          <p:nvPr/>
        </p:nvSpPr>
        <p:spPr>
          <a:xfrm>
            <a:off x="160020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MCP servers</a:t>
            </a:r>
            <a:endParaRPr lang="en-US" sz="1800" dirty="0"/>
          </a:p>
        </p:txBody>
      </p:sp>
      <p:sp>
        <p:nvSpPr>
          <p:cNvPr id="7" name="MCP servers text"/>
          <p:cNvSpPr txBox="1"/>
          <p:nvPr/>
        </p:nvSpPr>
        <p:spPr>
          <a:xfrm>
            <a:off x="160020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Connect GitHub, databases or docs so Agent can use them.</a:t>
            </a:r>
            <a:endParaRPr lang="en-US" sz="1400" dirty="0"/>
          </a:p>
        </p:txBody>
      </p:sp>
      <p:sp>
        <p:nvSpPr>
          <p:cNvPr id="8" name="MCP servers chip"/>
          <p:cNvSpPr/>
          <p:nvPr/>
        </p:nvSpPr>
        <p:spPr>
          <a:xfrm>
            <a:off x="1600200" y="24231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Connect tools</a:t>
            </a:r>
            <a:endParaRPr lang="en-US" sz="1200" dirty="0"/>
          </a:p>
        </p:txBody>
      </p:sp>
      <p:sp>
        <p:nvSpPr>
          <p:cNvPr id="9" name="Card Refactor safely"/>
          <p:cNvSpPr/>
          <p:nvPr/>
        </p:nvSpPr>
        <p:spPr>
          <a:xfrm>
            <a:off x="4709160" y="137160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factor safely icon circle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Refactor safely icon" descr="Refactor safel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83080"/>
            <a:ext cx="274320" cy="274320"/>
          </a:xfrm>
          <a:prstGeom prst="rect">
            <a:avLst/>
          </a:prstGeom>
        </p:spPr>
      </p:pic>
      <p:sp>
        <p:nvSpPr>
          <p:cNvPr id="12" name="Refactor safely heading"/>
          <p:cNvSpPr txBox="1"/>
          <p:nvPr/>
        </p:nvSpPr>
        <p:spPr>
          <a:xfrm>
            <a:off x="576072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Refactor safely</a:t>
            </a:r>
            <a:endParaRPr lang="en-US" sz="1800" dirty="0"/>
          </a:p>
        </p:txBody>
      </p:sp>
      <p:sp>
        <p:nvSpPr>
          <p:cNvPr id="13" name="Refactor safely text"/>
          <p:cNvSpPr txBox="1"/>
          <p:nvPr/>
        </p:nvSpPr>
        <p:spPr>
          <a:xfrm>
            <a:off x="576072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Rename, split and clean up code in small steps.</a:t>
            </a:r>
            <a:endParaRPr lang="en-US" sz="1400" dirty="0"/>
          </a:p>
        </p:txBody>
      </p:sp>
      <p:sp>
        <p:nvSpPr>
          <p:cNvPr id="14" name="Refactor safely chip"/>
          <p:cNvSpPr/>
          <p:nvPr/>
        </p:nvSpPr>
        <p:spPr>
          <a:xfrm>
            <a:off x="5760720" y="242316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Small steps</a:t>
            </a:r>
            <a:endParaRPr lang="en-US" sz="1200" dirty="0"/>
          </a:p>
        </p:txBody>
      </p:sp>
      <p:sp>
        <p:nvSpPr>
          <p:cNvPr id="15" name="Card Git habits"/>
          <p:cNvSpPr/>
          <p:nvPr/>
        </p:nvSpPr>
        <p:spPr>
          <a:xfrm>
            <a:off x="548640" y="306324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Git habits icon circle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Git habits icon" descr="Git habit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474720"/>
            <a:ext cx="274320" cy="274320"/>
          </a:xfrm>
          <a:prstGeom prst="rect">
            <a:avLst/>
          </a:prstGeom>
        </p:spPr>
      </p:pic>
      <p:sp>
        <p:nvSpPr>
          <p:cNvPr id="18" name="Git habits heading"/>
          <p:cNvSpPr txBox="1"/>
          <p:nvPr/>
        </p:nvSpPr>
        <p:spPr>
          <a:xfrm>
            <a:off x="16002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 habits</a:t>
            </a:r>
            <a:endParaRPr lang="en-US" sz="1800" dirty="0"/>
          </a:p>
        </p:txBody>
      </p:sp>
      <p:sp>
        <p:nvSpPr>
          <p:cNvPr id="19" name="Git habits text"/>
          <p:cNvSpPr txBox="1"/>
          <p:nvPr/>
        </p:nvSpPr>
        <p:spPr>
          <a:xfrm>
            <a:off x="1600200" y="3593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Commit often so any AI change is easy to undo.</a:t>
            </a:r>
            <a:endParaRPr lang="en-US" sz="1400" dirty="0"/>
          </a:p>
        </p:txBody>
      </p:sp>
      <p:sp>
        <p:nvSpPr>
          <p:cNvPr id="20" name="Git habits chip"/>
          <p:cNvSpPr/>
          <p:nvPr/>
        </p:nvSpPr>
        <p:spPr>
          <a:xfrm>
            <a:off x="1600200" y="411480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Review diffs</a:t>
            </a:r>
            <a:endParaRPr lang="en-US" sz="1200" dirty="0"/>
          </a:p>
        </p:txBody>
      </p:sp>
      <p:sp>
        <p:nvSpPr>
          <p:cNvPr id="21" name="Card Your own docs"/>
          <p:cNvSpPr/>
          <p:nvPr/>
        </p:nvSpPr>
        <p:spPr>
          <a:xfrm>
            <a:off x="4709160" y="3063240"/>
            <a:ext cx="38862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Your own docs icon circle"/>
          <p:cNvSpPr/>
          <p:nvPr/>
        </p:nvSpPr>
        <p:spPr>
          <a:xfrm>
            <a:off x="4983480" y="3337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Your own docs icon" descr="Your own doc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474720"/>
            <a:ext cx="274320" cy="274320"/>
          </a:xfrm>
          <a:prstGeom prst="rect">
            <a:avLst/>
          </a:prstGeom>
        </p:spPr>
      </p:pic>
      <p:sp>
        <p:nvSpPr>
          <p:cNvPr id="24" name="Your own docs heading"/>
          <p:cNvSpPr txBox="1"/>
          <p:nvPr/>
        </p:nvSpPr>
        <p:spPr>
          <a:xfrm>
            <a:off x="576072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own docs</a:t>
            </a:r>
            <a:endParaRPr lang="en-US" sz="1800" dirty="0"/>
          </a:p>
        </p:txBody>
      </p:sp>
      <p:sp>
        <p:nvSpPr>
          <p:cNvPr id="25" name="Your own docs text"/>
          <p:cNvSpPr txBox="1"/>
          <p:nvPr/>
        </p:nvSpPr>
        <p:spPr>
          <a:xfrm>
            <a:off x="5760720" y="3593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Add your team's docs so answers match your standards.</a:t>
            </a:r>
            <a:endParaRPr lang="en-US" sz="1400" dirty="0"/>
          </a:p>
        </p:txBody>
      </p:sp>
      <p:sp>
        <p:nvSpPr>
          <p:cNvPr id="26" name="Your own docs chip"/>
          <p:cNvSpPr/>
          <p:nvPr/>
        </p:nvSpPr>
        <p:spPr>
          <a:xfrm>
            <a:off x="5760720" y="4114800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Add @Docs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Using MCP servers</a:t>
            </a:r>
            <a:endParaRPr lang="en-US" sz="3600" dirty="0"/>
          </a:p>
        </p:txBody>
      </p:sp>
      <p:sp>
        <p:nvSpPr>
          <p:cNvPr id="3" name="MCP Add a server icon circle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MCP Add a server icon" descr="MCP Add a serv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497330"/>
            <a:ext cx="251460" cy="251460"/>
          </a:xfrm>
          <a:prstGeom prst="rect">
            <a:avLst/>
          </a:prstGeom>
        </p:spPr>
      </p:pic>
      <p:sp>
        <p:nvSpPr>
          <p:cNvPr id="5" name="MCP Add a server heading"/>
          <p:cNvSpPr txBox="1"/>
          <p:nvPr/>
        </p:nvSpPr>
        <p:spPr>
          <a:xfrm>
            <a:off x="1280160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 a server</a:t>
            </a:r>
            <a:endParaRPr lang="en-US" sz="1800" dirty="0"/>
          </a:p>
        </p:txBody>
      </p:sp>
      <p:sp>
        <p:nvSpPr>
          <p:cNvPr id="6" name="MCP Add a server text"/>
          <p:cNvSpPr txBox="1"/>
          <p:nvPr/>
        </p:nvSpPr>
        <p:spPr>
          <a:xfrm>
            <a:off x="12801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Configure it in Cursor's MCP settings.</a:t>
            </a:r>
            <a:endParaRPr lang="en-US" sz="1400" dirty="0"/>
          </a:p>
        </p:txBody>
      </p:sp>
      <p:sp>
        <p:nvSpPr>
          <p:cNvPr id="7" name="MCP Approve tools icon circle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MCP Approve tools icon" descr="MCP Approve tool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2274570"/>
            <a:ext cx="251460" cy="251460"/>
          </a:xfrm>
          <a:prstGeom prst="rect">
            <a:avLst/>
          </a:prstGeom>
        </p:spPr>
      </p:pic>
      <p:sp>
        <p:nvSpPr>
          <p:cNvPr id="9" name="MCP Approve tools heading"/>
          <p:cNvSpPr txBox="1"/>
          <p:nvPr/>
        </p:nvSpPr>
        <p:spPr>
          <a:xfrm>
            <a:off x="1280160" y="2130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Approve tools</a:t>
            </a:r>
            <a:endParaRPr lang="en-US" sz="1800" dirty="0"/>
          </a:p>
        </p:txBody>
      </p:sp>
      <p:sp>
        <p:nvSpPr>
          <p:cNvPr id="10" name="MCP Approve tools text"/>
          <p:cNvSpPr txBox="1"/>
          <p:nvPr/>
        </p:nvSpPr>
        <p:spPr>
          <a:xfrm>
            <a:off x="128016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Review what each tool can do before allowing it.</a:t>
            </a:r>
            <a:endParaRPr lang="en-US" sz="1400" dirty="0"/>
          </a:p>
        </p:txBody>
      </p:sp>
      <p:sp>
        <p:nvSpPr>
          <p:cNvPr id="11" name="MCP Ask in plain words icon circle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MCP Ask in plain words icon" descr="MCP Ask in plain word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3051810"/>
            <a:ext cx="251460" cy="251460"/>
          </a:xfrm>
          <a:prstGeom prst="rect">
            <a:avLst/>
          </a:prstGeom>
        </p:spPr>
      </p:pic>
      <p:sp>
        <p:nvSpPr>
          <p:cNvPr id="13" name="MCP Ask in plain words heading"/>
          <p:cNvSpPr txBox="1"/>
          <p:nvPr/>
        </p:nvSpPr>
        <p:spPr>
          <a:xfrm>
            <a:off x="128016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Ask in plain words</a:t>
            </a:r>
            <a:endParaRPr lang="en-US" sz="1800" dirty="0"/>
          </a:p>
        </p:txBody>
      </p:sp>
      <p:sp>
        <p:nvSpPr>
          <p:cNvPr id="14" name="MCP Ask in plain words text"/>
          <p:cNvSpPr txBox="1"/>
          <p:nvPr/>
        </p:nvSpPr>
        <p:spPr>
          <a:xfrm>
            <a:off x="128016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Say 'list my open pull requests'.</a:t>
            </a:r>
            <a:endParaRPr lang="en-US" sz="1400" dirty="0"/>
          </a:p>
        </p:txBody>
      </p:sp>
      <p:sp>
        <p:nvSpPr>
          <p:cNvPr id="15" name="MCP Mind permissions icon circle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MCP Mind permissions icon" descr="MCP Mind permission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" y="3829050"/>
            <a:ext cx="251460" cy="251460"/>
          </a:xfrm>
          <a:prstGeom prst="rect">
            <a:avLst/>
          </a:prstGeom>
        </p:spPr>
      </p:pic>
      <p:sp>
        <p:nvSpPr>
          <p:cNvPr id="17" name="MCP Mind permissions heading"/>
          <p:cNvSpPr txBox="1"/>
          <p:nvPr/>
        </p:nvSpPr>
        <p:spPr>
          <a:xfrm>
            <a:off x="1280160" y="3685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Mind permissions</a:t>
            </a:r>
            <a:endParaRPr lang="en-US" sz="1800" dirty="0"/>
          </a:p>
        </p:txBody>
      </p:sp>
      <p:sp>
        <p:nvSpPr>
          <p:cNvPr id="18" name="MCP Mind permissions text"/>
          <p:cNvSpPr txBox="1"/>
          <p:nvPr/>
        </p:nvSpPr>
        <p:spPr>
          <a:xfrm>
            <a:off x="128016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Give servers only the access they need.</a:t>
            </a:r>
            <a:endParaRPr lang="en-US" sz="1400" dirty="0"/>
          </a:p>
        </p:txBody>
      </p:sp>
      <p:sp>
        <p:nvSpPr>
          <p:cNvPr id="19" name="MCP uses card"/>
          <p:cNvSpPr/>
          <p:nvPr/>
        </p:nvSpPr>
        <p:spPr>
          <a:xfrm>
            <a:off x="5303520" y="1371600"/>
            <a:ext cx="3291840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MCP uses label"/>
          <p:cNvSpPr txBox="1"/>
          <p:nvPr/>
        </p:nvSpPr>
        <p:spPr>
          <a:xfrm>
            <a:off x="55778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Popular uses</a:t>
            </a:r>
            <a:endParaRPr lang="en-US" sz="1800" dirty="0"/>
          </a:p>
        </p:txBody>
      </p:sp>
      <p:sp>
        <p:nvSpPr>
          <p:cNvPr id="21" name="MCP uses list"/>
          <p:cNvSpPr txBox="1"/>
          <p:nvPr/>
        </p:nvSpPr>
        <p:spPr>
          <a:xfrm>
            <a:off x="557784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Read issues and pull requests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Query a database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Open a page in a browser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Look up internal docs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Stay in control</a:t>
            </a:r>
            <a:endParaRPr lang="en-US" sz="3600" dirty="0"/>
          </a:p>
        </p:txBody>
      </p:sp>
      <p:sp>
        <p:nvSpPr>
          <p:cNvPr id="3" name="Control Read every diff icon circle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Control Read every diff icon" descr="Control Read every diff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497330"/>
            <a:ext cx="251460" cy="251460"/>
          </a:xfrm>
          <a:prstGeom prst="rect">
            <a:avLst/>
          </a:prstGeom>
        </p:spPr>
      </p:pic>
      <p:sp>
        <p:nvSpPr>
          <p:cNvPr id="5" name="Control Read every diff heading"/>
          <p:cNvSpPr txBox="1"/>
          <p:nvPr/>
        </p:nvSpPr>
        <p:spPr>
          <a:xfrm>
            <a:off x="1280160" y="13533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every diff</a:t>
            </a:r>
            <a:endParaRPr lang="en-US" sz="1800" dirty="0"/>
          </a:p>
        </p:txBody>
      </p:sp>
      <p:sp>
        <p:nvSpPr>
          <p:cNvPr id="6" name="Control Read every diff text"/>
          <p:cNvSpPr txBox="1"/>
          <p:nvPr/>
        </p:nvSpPr>
        <p:spPr>
          <a:xfrm>
            <a:off x="128016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Never accept changes you can't explain.</a:t>
            </a:r>
            <a:endParaRPr lang="en-US" sz="1400" dirty="0"/>
          </a:p>
        </p:txBody>
      </p:sp>
      <p:sp>
        <p:nvSpPr>
          <p:cNvPr id="7" name="Control Commit before big runs icon circle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Control Commit before big runs icon" descr="Control Commit before big run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2274570"/>
            <a:ext cx="251460" cy="251460"/>
          </a:xfrm>
          <a:prstGeom prst="rect">
            <a:avLst/>
          </a:prstGeom>
        </p:spPr>
      </p:pic>
      <p:sp>
        <p:nvSpPr>
          <p:cNvPr id="9" name="Control Commit before big runs heading"/>
          <p:cNvSpPr txBox="1"/>
          <p:nvPr/>
        </p:nvSpPr>
        <p:spPr>
          <a:xfrm>
            <a:off x="1280160" y="2130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Commit before big runs</a:t>
            </a:r>
            <a:endParaRPr lang="en-US" sz="1800" dirty="0"/>
          </a:p>
        </p:txBody>
      </p:sp>
      <p:sp>
        <p:nvSpPr>
          <p:cNvPr id="10" name="Control Commit before big runs text"/>
          <p:cNvSpPr txBox="1"/>
          <p:nvPr/>
        </p:nvSpPr>
        <p:spPr>
          <a:xfrm>
            <a:off x="128016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Git is your safety net. Checkpoints help too.</a:t>
            </a:r>
            <a:endParaRPr lang="en-US" sz="1400" dirty="0"/>
          </a:p>
        </p:txBody>
      </p:sp>
      <p:sp>
        <p:nvSpPr>
          <p:cNvPr id="11" name="Control Run tests and the app icon circle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Control Run tests and the app icon" descr="Control Run tests and the ap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3051810"/>
            <a:ext cx="251460" cy="251460"/>
          </a:xfrm>
          <a:prstGeom prst="rect">
            <a:avLst/>
          </a:prstGeom>
        </p:spPr>
      </p:pic>
      <p:sp>
        <p:nvSpPr>
          <p:cNvPr id="13" name="Control Run tests and the app heading"/>
          <p:cNvSpPr txBox="1"/>
          <p:nvPr/>
        </p:nvSpPr>
        <p:spPr>
          <a:xfrm>
            <a:off x="1280160" y="2907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tests and the app</a:t>
            </a:r>
            <a:endParaRPr lang="en-US" sz="1800" dirty="0"/>
          </a:p>
        </p:txBody>
      </p:sp>
      <p:sp>
        <p:nvSpPr>
          <p:cNvPr id="14" name="Control Run tests and the app text"/>
          <p:cNvSpPr txBox="1"/>
          <p:nvPr/>
        </p:nvSpPr>
        <p:spPr>
          <a:xfrm>
            <a:off x="1280160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Verify behavior after each change.</a:t>
            </a:r>
            <a:endParaRPr lang="en-US" sz="1400" dirty="0"/>
          </a:p>
        </p:txBody>
      </p:sp>
      <p:sp>
        <p:nvSpPr>
          <p:cNvPr id="15" name="Control Keep secrets out icon circle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Control Keep secrets out icon" descr="Control Keep secrets ou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" y="3829050"/>
            <a:ext cx="251460" cy="251460"/>
          </a:xfrm>
          <a:prstGeom prst="rect">
            <a:avLst/>
          </a:prstGeom>
        </p:spPr>
      </p:pic>
      <p:sp>
        <p:nvSpPr>
          <p:cNvPr id="17" name="Control Keep secrets out heading"/>
          <p:cNvSpPr txBox="1"/>
          <p:nvPr/>
        </p:nvSpPr>
        <p:spPr>
          <a:xfrm>
            <a:off x="1280160" y="3685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Keep secrets out</a:t>
            </a:r>
            <a:endParaRPr lang="en-US" sz="1800" dirty="0"/>
          </a:p>
        </p:txBody>
      </p:sp>
      <p:sp>
        <p:nvSpPr>
          <p:cNvPr id="18" name="Control Keep secrets out text"/>
          <p:cNvSpPr txBox="1"/>
          <p:nvPr/>
        </p:nvSpPr>
        <p:spPr>
          <a:xfrm>
            <a:off x="128016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Don't paste keys or customer data into prompts.</a:t>
            </a:r>
            <a:endParaRPr lang="en-US" sz="1400" dirty="0"/>
          </a:p>
        </p:txBody>
      </p:sp>
      <p:sp>
        <p:nvSpPr>
          <p:cNvPr id="19" name="Trust card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rust icon circle"/>
          <p:cNvSpPr/>
          <p:nvPr/>
        </p:nvSpPr>
        <p:spPr>
          <a:xfrm>
            <a:off x="676656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Trust icon" descr="Trus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2011680"/>
            <a:ext cx="457200" cy="457200"/>
          </a:xfrm>
          <a:prstGeom prst="rect">
            <a:avLst/>
          </a:prstGeom>
        </p:spPr>
      </p:pic>
      <p:sp>
        <p:nvSpPr>
          <p:cNvPr id="22" name="Trust heading"/>
          <p:cNvSpPr txBox="1"/>
          <p:nvPr/>
        </p:nvSpPr>
        <p:spPr>
          <a:xfrm>
            <a:off x="612648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Trust, but verify</a:t>
            </a:r>
            <a:endParaRPr lang="en-US" sz="2200" dirty="0"/>
          </a:p>
        </p:txBody>
      </p:sp>
      <p:sp>
        <p:nvSpPr>
          <p:cNvPr id="23" name="Trust text"/>
          <p:cNvSpPr txBox="1"/>
          <p:nvPr/>
        </p:nvSpPr>
        <p:spPr>
          <a:xfrm>
            <a:off x="612648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AI drafts. You own the result.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Common pitfalls and fixes</a:t>
            </a:r>
            <a:endParaRPr lang="en-US" sz="3600" dirty="0"/>
          </a:p>
        </p:txBody>
      </p:sp>
      <p:sp>
        <p:nvSpPr>
          <p:cNvPr id="3" name="Column left"/>
          <p:cNvSpPr txBox="1"/>
          <p:nvPr/>
        </p:nvSpPr>
        <p:spPr>
          <a:xfrm>
            <a:off x="8229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Problem</a:t>
            </a:r>
            <a:endParaRPr lang="en-US" sz="1400" dirty="0"/>
          </a:p>
        </p:txBody>
      </p:sp>
      <p:sp>
        <p:nvSpPr>
          <p:cNvPr id="4" name="Column right"/>
          <p:cNvSpPr txBox="1"/>
          <p:nvPr/>
        </p:nvSpPr>
        <p:spPr>
          <a:xfrm>
            <a:off x="47548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Fix</a:t>
            </a:r>
            <a:endParaRPr lang="en-US" sz="1400" dirty="0"/>
          </a:p>
        </p:txBody>
      </p:sp>
      <p:sp>
        <p:nvSpPr>
          <p:cNvPr id="5" name="Row 1"/>
          <p:cNvSpPr/>
          <p:nvPr/>
        </p:nvSpPr>
        <p:spPr>
          <a:xfrm>
            <a:off x="548640" y="169164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ow left 1"/>
          <p:cNvSpPr txBox="1"/>
          <p:nvPr/>
        </p:nvSpPr>
        <p:spPr>
          <a:xfrm>
            <a:off x="82296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Answers feel generic</a:t>
            </a:r>
            <a:endParaRPr lang="en-US" sz="1600" dirty="0"/>
          </a:p>
        </p:txBody>
      </p:sp>
      <p:sp>
        <p:nvSpPr>
          <p:cNvPr id="7" name="Row right 1"/>
          <p:cNvSpPr txBox="1"/>
          <p:nvPr/>
        </p:nvSpPr>
        <p:spPr>
          <a:xfrm>
            <a:off x="475488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Add @ context and a rules file.</a:t>
            </a:r>
            <a:endParaRPr lang="en-US" sz="1400" dirty="0"/>
          </a:p>
        </p:txBody>
      </p:sp>
      <p:sp>
        <p:nvSpPr>
          <p:cNvPr id="8" name="Row 2"/>
          <p:cNvSpPr/>
          <p:nvPr/>
        </p:nvSpPr>
        <p:spPr>
          <a:xfrm>
            <a:off x="548640" y="242316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ow left 2"/>
          <p:cNvSpPr txBox="1"/>
          <p:nvPr/>
        </p:nvSpPr>
        <p:spPr>
          <a:xfrm>
            <a:off x="822960" y="2423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Agent changes too much</a:t>
            </a:r>
            <a:endParaRPr lang="en-US" sz="1600" dirty="0"/>
          </a:p>
        </p:txBody>
      </p:sp>
      <p:sp>
        <p:nvSpPr>
          <p:cNvPr id="10" name="Row right 2"/>
          <p:cNvSpPr txBox="1"/>
          <p:nvPr/>
        </p:nvSpPr>
        <p:spPr>
          <a:xfrm>
            <a:off x="4754880" y="2423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Ask for one small step at a time.</a:t>
            </a:r>
            <a:endParaRPr lang="en-US" sz="1400" dirty="0"/>
          </a:p>
        </p:txBody>
      </p:sp>
      <p:sp>
        <p:nvSpPr>
          <p:cNvPr id="11" name="Row 3"/>
          <p:cNvSpPr/>
          <p:nvPr/>
        </p:nvSpPr>
        <p:spPr>
          <a:xfrm>
            <a:off x="548640" y="315468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ow left 3"/>
          <p:cNvSpPr txBox="1"/>
          <p:nvPr/>
        </p:nvSpPr>
        <p:spPr>
          <a:xfrm>
            <a:off x="822960" y="3154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code doesn't run</a:t>
            </a:r>
            <a:endParaRPr lang="en-US" sz="1600" dirty="0"/>
          </a:p>
        </p:txBody>
      </p:sp>
      <p:sp>
        <p:nvSpPr>
          <p:cNvPr id="13" name="Row right 3"/>
          <p:cNvSpPr txBox="1"/>
          <p:nvPr/>
        </p:nvSpPr>
        <p:spPr>
          <a:xfrm>
            <a:off x="4754880" y="3154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Paste the full error back into chat.</a:t>
            </a:r>
            <a:endParaRPr lang="en-US" sz="1400" dirty="0"/>
          </a:p>
        </p:txBody>
      </p:sp>
      <p:sp>
        <p:nvSpPr>
          <p:cNvPr id="14" name="Row 4"/>
          <p:cNvSpPr/>
          <p:nvPr/>
        </p:nvSpPr>
        <p:spPr>
          <a:xfrm>
            <a:off x="548640" y="388620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ow left 4"/>
          <p:cNvSpPr txBox="1"/>
          <p:nvPr/>
        </p:nvSpPr>
        <p:spPr>
          <a:xfrm>
            <a:off x="822960" y="3886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Chat forgets earlier details</a:t>
            </a:r>
            <a:endParaRPr lang="en-US" sz="1600" dirty="0"/>
          </a:p>
        </p:txBody>
      </p:sp>
      <p:sp>
        <p:nvSpPr>
          <p:cNvPr id="16" name="Row right 4"/>
          <p:cNvSpPr txBox="1"/>
          <p:nvPr/>
        </p:nvSpPr>
        <p:spPr>
          <a:xfrm>
            <a:off x="4754880" y="3886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Start a new chat with a short summary.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Cheat sheet</a:t>
            </a:r>
            <a:endParaRPr lang="en-US" sz="3600" dirty="0"/>
          </a:p>
        </p:txBody>
      </p:sp>
      <p:sp>
        <p:nvSpPr>
          <p:cNvPr id="3" name="Cheat card Shortcuts"/>
          <p:cNvSpPr/>
          <p:nvPr/>
        </p:nvSpPr>
        <p:spPr>
          <a:xfrm>
            <a:off x="548640" y="1371600"/>
            <a:ext cx="2499360" cy="31089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Cheat heading Shortcuts"/>
          <p:cNvSpPr txBox="1"/>
          <p:nvPr/>
        </p:nvSpPr>
        <p:spPr>
          <a:xfrm>
            <a:off x="822960" y="160020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Shortcuts</a:t>
            </a:r>
            <a:endParaRPr lang="en-US" sz="1800" dirty="0"/>
          </a:p>
        </p:txBody>
      </p:sp>
      <p:sp>
        <p:nvSpPr>
          <p:cNvPr id="5" name="Cheat list Shortcuts"/>
          <p:cNvSpPr txBox="1"/>
          <p:nvPr/>
        </p:nvSpPr>
        <p:spPr>
          <a:xfrm>
            <a:off x="822960" y="2148840"/>
            <a:ext cx="204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Tab: accept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Cmd/Ctrl+K: edit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Cmd/Ctrl+L: chat</a:t>
            </a:r>
            <a:endParaRPr lang="en-US" sz="1400" dirty="0"/>
          </a:p>
        </p:txBody>
      </p:sp>
      <p:sp>
        <p:nvSpPr>
          <p:cNvPr id="6" name="Cheat card Context"/>
          <p:cNvSpPr/>
          <p:nvPr/>
        </p:nvSpPr>
        <p:spPr>
          <a:xfrm>
            <a:off x="3322320" y="1371600"/>
            <a:ext cx="2499360" cy="31089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Cheat heading Context"/>
          <p:cNvSpPr txBox="1"/>
          <p:nvPr/>
        </p:nvSpPr>
        <p:spPr>
          <a:xfrm>
            <a:off x="3596640" y="160020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Context</a:t>
            </a:r>
            <a:endParaRPr lang="en-US" sz="1800" dirty="0"/>
          </a:p>
        </p:txBody>
      </p:sp>
      <p:sp>
        <p:nvSpPr>
          <p:cNvPr id="8" name="Cheat list Context"/>
          <p:cNvSpPr txBox="1"/>
          <p:nvPr/>
        </p:nvSpPr>
        <p:spPr>
          <a:xfrm>
            <a:off x="3596640" y="2148840"/>
            <a:ext cx="204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@Files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@Folders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@Docs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@Web</a:t>
            </a:r>
            <a:endParaRPr lang="en-US" sz="1400" dirty="0"/>
          </a:p>
        </p:txBody>
      </p:sp>
      <p:sp>
        <p:nvSpPr>
          <p:cNvPr id="9" name="Cheat card Habits"/>
          <p:cNvSpPr/>
          <p:nvPr/>
        </p:nvSpPr>
        <p:spPr>
          <a:xfrm>
            <a:off x="6096000" y="1371600"/>
            <a:ext cx="2499360" cy="31089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heat heading Habits"/>
          <p:cNvSpPr txBox="1"/>
          <p:nvPr/>
        </p:nvSpPr>
        <p:spPr>
          <a:xfrm>
            <a:off x="6370320" y="160020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Habits</a:t>
            </a:r>
            <a:endParaRPr lang="en-US" sz="1800" dirty="0"/>
          </a:p>
        </p:txBody>
      </p:sp>
      <p:sp>
        <p:nvSpPr>
          <p:cNvPr id="11" name="Cheat list Habits"/>
          <p:cNvSpPr txBox="1"/>
          <p:nvPr/>
        </p:nvSpPr>
        <p:spPr>
          <a:xfrm>
            <a:off x="6370320" y="2148840"/>
            <a:ext cx="204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Commit first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Take small steps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Read every diff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Run the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Lab 6: Capstone project</a:t>
            </a:r>
            <a:endParaRPr lang="en-US" sz="3600" dirty="0"/>
          </a:p>
        </p:txBody>
      </p:sp>
      <p:sp>
        <p:nvSpPr>
          <p:cNvPr id="3" name="Capstone time 1"/>
          <p:cNvSpPr/>
          <p:nvPr/>
        </p:nvSpPr>
        <p:spPr>
          <a:xfrm>
            <a:off x="548640" y="1417320"/>
            <a:ext cx="118872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0-5 min</a:t>
            </a:r>
            <a:endParaRPr lang="en-US" sz="1400" dirty="0"/>
          </a:p>
        </p:txBody>
      </p:sp>
      <p:sp>
        <p:nvSpPr>
          <p:cNvPr id="4" name="Capstone heading 1"/>
          <p:cNvSpPr txBox="1"/>
          <p:nvPr/>
        </p:nvSpPr>
        <p:spPr>
          <a:xfrm>
            <a:off x="2011680" y="1353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</a:t>
            </a:r>
            <a:endParaRPr lang="en-US" sz="1800" dirty="0"/>
          </a:p>
        </p:txBody>
      </p:sp>
      <p:sp>
        <p:nvSpPr>
          <p:cNvPr id="5" name="Capstone text 1"/>
          <p:cNvSpPr txBox="1"/>
          <p:nvPr/>
        </p:nvSpPr>
        <p:spPr>
          <a:xfrm>
            <a:off x="2011680" y="16824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Write a one-paragraph spec and a rules file.</a:t>
            </a:r>
            <a:endParaRPr lang="en-US" sz="1400" dirty="0"/>
          </a:p>
        </p:txBody>
      </p:sp>
      <p:sp>
        <p:nvSpPr>
          <p:cNvPr id="6" name="Capstone time 2"/>
          <p:cNvSpPr/>
          <p:nvPr/>
        </p:nvSpPr>
        <p:spPr>
          <a:xfrm>
            <a:off x="548640" y="2468880"/>
            <a:ext cx="118872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5-25 min</a:t>
            </a:r>
            <a:endParaRPr lang="en-US" sz="1400" dirty="0"/>
          </a:p>
        </p:txBody>
      </p:sp>
      <p:sp>
        <p:nvSpPr>
          <p:cNvPr id="7" name="Capstone heading 2"/>
          <p:cNvSpPr txBox="1"/>
          <p:nvPr/>
        </p:nvSpPr>
        <p:spPr>
          <a:xfrm>
            <a:off x="2011680" y="2404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</a:t>
            </a:r>
            <a:endParaRPr lang="en-US" sz="1800" dirty="0"/>
          </a:p>
        </p:txBody>
      </p:sp>
      <p:sp>
        <p:nvSpPr>
          <p:cNvPr id="8" name="Capstone text 2"/>
          <p:cNvSpPr txBox="1"/>
          <p:nvPr/>
        </p:nvSpPr>
        <p:spPr>
          <a:xfrm>
            <a:off x="2011680" y="27340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 Agent in small steps. Commit after each.</a:t>
            </a:r>
            <a:endParaRPr lang="en-US" sz="1400" dirty="0"/>
          </a:p>
        </p:txBody>
      </p:sp>
      <p:sp>
        <p:nvSpPr>
          <p:cNvPr id="9" name="Capstone time 3"/>
          <p:cNvSpPr/>
          <p:nvPr/>
        </p:nvSpPr>
        <p:spPr>
          <a:xfrm>
            <a:off x="548640" y="3520440"/>
            <a:ext cx="118872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25-30 min</a:t>
            </a:r>
            <a:endParaRPr lang="en-US" sz="1400" dirty="0"/>
          </a:p>
        </p:txBody>
      </p:sp>
      <p:sp>
        <p:nvSpPr>
          <p:cNvPr id="10" name="Capstone heading 3"/>
          <p:cNvSpPr txBox="1"/>
          <p:nvPr/>
        </p:nvSpPr>
        <p:spPr>
          <a:xfrm>
            <a:off x="201168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11" name="Capstone text 3"/>
          <p:cNvSpPr txBox="1"/>
          <p:nvPr/>
        </p:nvSpPr>
        <p:spPr>
          <a:xfrm>
            <a:off x="2011680" y="37856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Run tests, fix bugs and write a short README.</a:t>
            </a:r>
            <a:endParaRPr lang="en-US" sz="1400" dirty="0"/>
          </a:p>
        </p:txBody>
      </p:sp>
      <p:sp>
        <p:nvSpPr>
          <p:cNvPr id="12" name="Capstone ideas card"/>
          <p:cNvSpPr/>
          <p:nvPr/>
        </p:nvSpPr>
        <p:spPr>
          <a:xfrm>
            <a:off x="585216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Ideas label"/>
          <p:cNvSpPr txBox="1"/>
          <p:nvPr/>
        </p:nvSpPr>
        <p:spPr>
          <a:xfrm>
            <a:off x="61264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Pick a project</a:t>
            </a:r>
            <a:endParaRPr lang="en-US" sz="1800" dirty="0"/>
          </a:p>
        </p:txBody>
      </p:sp>
      <p:sp>
        <p:nvSpPr>
          <p:cNvPr id="14" name="Ideas list"/>
          <p:cNvSpPr txBox="1"/>
          <p:nvPr/>
        </p:nvSpPr>
        <p:spPr>
          <a:xfrm>
            <a:off x="6126480" y="21031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Habit tracker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Markdown notes app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Expense CLI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Quiz game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Your own idea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Show and tell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10 minutes. Volunteers first.</a:t>
            </a:r>
            <a:endParaRPr lang="en-US" sz="1600" dirty="0"/>
          </a:p>
        </p:txBody>
      </p:sp>
      <p:sp>
        <p:nvSpPr>
          <p:cNvPr id="4" name="Card Demo"/>
          <p:cNvSpPr/>
          <p:nvPr/>
        </p:nvSpPr>
        <p:spPr>
          <a:xfrm>
            <a:off x="548640" y="1828800"/>
            <a:ext cx="2499360" cy="26517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Demo icon circle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Demo icon" descr="Demo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263140"/>
            <a:ext cx="320040" cy="320040"/>
          </a:xfrm>
          <a:prstGeom prst="rect">
            <a:avLst/>
          </a:prstGeom>
        </p:spPr>
      </p:pic>
      <p:sp>
        <p:nvSpPr>
          <p:cNvPr id="7" name="Demo heading"/>
          <p:cNvSpPr txBox="1"/>
          <p:nvPr/>
        </p:nvSpPr>
        <p:spPr>
          <a:xfrm>
            <a:off x="822960" y="292608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Demo</a:t>
            </a:r>
            <a:endParaRPr lang="en-US" sz="1800" dirty="0"/>
          </a:p>
        </p:txBody>
      </p:sp>
      <p:sp>
        <p:nvSpPr>
          <p:cNvPr id="8" name="Demo text"/>
          <p:cNvSpPr txBox="1"/>
          <p:nvPr/>
        </p:nvSpPr>
        <p:spPr>
          <a:xfrm>
            <a:off x="822960" y="3337560"/>
            <a:ext cx="195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Show what you built in three minutes or less.</a:t>
            </a:r>
            <a:endParaRPr lang="en-US" sz="1400" dirty="0"/>
          </a:p>
        </p:txBody>
      </p:sp>
      <p:sp>
        <p:nvSpPr>
          <p:cNvPr id="9" name="Card Reflect"/>
          <p:cNvSpPr/>
          <p:nvPr/>
        </p:nvSpPr>
        <p:spPr>
          <a:xfrm>
            <a:off x="3322320" y="1828800"/>
            <a:ext cx="2499360" cy="26517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flect icon circle"/>
          <p:cNvSpPr/>
          <p:nvPr/>
        </p:nvSpPr>
        <p:spPr>
          <a:xfrm>
            <a:off x="359664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Reflect icon" descr="Reflec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660" y="2263140"/>
            <a:ext cx="320040" cy="320040"/>
          </a:xfrm>
          <a:prstGeom prst="rect">
            <a:avLst/>
          </a:prstGeom>
        </p:spPr>
      </p:pic>
      <p:sp>
        <p:nvSpPr>
          <p:cNvPr id="12" name="Reflect heading"/>
          <p:cNvSpPr txBox="1"/>
          <p:nvPr/>
        </p:nvSpPr>
        <p:spPr>
          <a:xfrm>
            <a:off x="3596640" y="292608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Reflect</a:t>
            </a:r>
            <a:endParaRPr lang="en-US" sz="1800" dirty="0"/>
          </a:p>
        </p:txBody>
      </p:sp>
      <p:sp>
        <p:nvSpPr>
          <p:cNvPr id="13" name="Reflect text"/>
          <p:cNvSpPr txBox="1"/>
          <p:nvPr/>
        </p:nvSpPr>
        <p:spPr>
          <a:xfrm>
            <a:off x="3596640" y="3337560"/>
            <a:ext cx="195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What did Cursor get wrong, and how did you catch it?</a:t>
            </a:r>
            <a:endParaRPr lang="en-US" sz="1400" dirty="0"/>
          </a:p>
        </p:txBody>
      </p:sp>
      <p:sp>
        <p:nvSpPr>
          <p:cNvPr id="14" name="Card Share"/>
          <p:cNvSpPr/>
          <p:nvPr/>
        </p:nvSpPr>
        <p:spPr>
          <a:xfrm>
            <a:off x="6096000" y="1828800"/>
            <a:ext cx="2499360" cy="26517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re icon circle"/>
          <p:cNvSpPr/>
          <p:nvPr/>
        </p:nvSpPr>
        <p:spPr>
          <a:xfrm>
            <a:off x="637032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Share icon" descr="Shar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340" y="2263140"/>
            <a:ext cx="320040" cy="320040"/>
          </a:xfrm>
          <a:prstGeom prst="rect">
            <a:avLst/>
          </a:prstGeom>
        </p:spPr>
      </p:pic>
      <p:sp>
        <p:nvSpPr>
          <p:cNvPr id="17" name="Share heading"/>
          <p:cNvSpPr txBox="1"/>
          <p:nvPr/>
        </p:nvSpPr>
        <p:spPr>
          <a:xfrm>
            <a:off x="6370320" y="292608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Share</a:t>
            </a:r>
            <a:endParaRPr lang="en-US" sz="1800" dirty="0"/>
          </a:p>
        </p:txBody>
      </p:sp>
      <p:sp>
        <p:nvSpPr>
          <p:cNvPr id="18" name="Share text"/>
          <p:cNvSpPr txBox="1"/>
          <p:nvPr/>
        </p:nvSpPr>
        <p:spPr>
          <a:xfrm>
            <a:off x="6370320" y="3337560"/>
            <a:ext cx="195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Post your rules file and best prompt for the group.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Your next steps</a:t>
            </a:r>
            <a:endParaRPr lang="en-US" sz="3600" dirty="0"/>
          </a:p>
        </p:txBody>
      </p:sp>
      <p:sp>
        <p:nvSpPr>
          <p:cNvPr id="3" name="Next card 1"/>
          <p:cNvSpPr/>
          <p:nvPr/>
        </p:nvSpPr>
        <p:spPr>
          <a:xfrm>
            <a:off x="548640" y="1463040"/>
            <a:ext cx="249936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Next step 1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Next heading 1"/>
          <p:cNvSpPr txBox="1"/>
          <p:nvPr/>
        </p:nvSpPr>
        <p:spPr>
          <a:xfrm>
            <a:off x="822960" y="251460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Build a project</a:t>
            </a:r>
            <a:endParaRPr lang="en-US" sz="1800" dirty="0"/>
          </a:p>
        </p:txBody>
      </p:sp>
      <p:sp>
        <p:nvSpPr>
          <p:cNvPr id="6" name="Next text 1"/>
          <p:cNvSpPr txBox="1"/>
          <p:nvPr/>
        </p:nvSpPr>
        <p:spPr>
          <a:xfrm>
            <a:off x="822960" y="2926080"/>
            <a:ext cx="195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Use Agent on a small real idea this week.</a:t>
            </a:r>
            <a:endParaRPr lang="en-US" sz="1400" dirty="0"/>
          </a:p>
        </p:txBody>
      </p:sp>
      <p:sp>
        <p:nvSpPr>
          <p:cNvPr id="7" name="Next card 2"/>
          <p:cNvSpPr/>
          <p:nvPr/>
        </p:nvSpPr>
        <p:spPr>
          <a:xfrm>
            <a:off x="3322320" y="1463040"/>
            <a:ext cx="249936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Next step 2"/>
          <p:cNvSpPr/>
          <p:nvPr/>
        </p:nvSpPr>
        <p:spPr>
          <a:xfrm>
            <a:off x="359664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Next heading 2"/>
          <p:cNvSpPr txBox="1"/>
          <p:nvPr/>
        </p:nvSpPr>
        <p:spPr>
          <a:xfrm>
            <a:off x="3596640" y="251460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Write a rules file</a:t>
            </a:r>
            <a:endParaRPr lang="en-US" sz="1800" dirty="0"/>
          </a:p>
        </p:txBody>
      </p:sp>
      <p:sp>
        <p:nvSpPr>
          <p:cNvPr id="10" name="Next text 2"/>
          <p:cNvSpPr txBox="1"/>
          <p:nvPr/>
        </p:nvSpPr>
        <p:spPr>
          <a:xfrm>
            <a:off x="3596640" y="2926080"/>
            <a:ext cx="195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Capture your main repo's conventions.</a:t>
            </a:r>
            <a:endParaRPr lang="en-US" sz="1400" dirty="0"/>
          </a:p>
        </p:txBody>
      </p:sp>
      <p:sp>
        <p:nvSpPr>
          <p:cNvPr id="11" name="Next card 3"/>
          <p:cNvSpPr/>
          <p:nvPr/>
        </p:nvSpPr>
        <p:spPr>
          <a:xfrm>
            <a:off x="6096000" y="1463040"/>
            <a:ext cx="249936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Next step 3"/>
          <p:cNvSpPr/>
          <p:nvPr/>
        </p:nvSpPr>
        <p:spPr>
          <a:xfrm>
            <a:off x="637032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Next heading 3"/>
          <p:cNvSpPr txBox="1"/>
          <p:nvPr/>
        </p:nvSpPr>
        <p:spPr>
          <a:xfrm>
            <a:off x="6370320" y="251460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Share what worked</a:t>
            </a:r>
            <a:endParaRPr lang="en-US" sz="1800" dirty="0"/>
          </a:p>
        </p:txBody>
      </p:sp>
      <p:sp>
        <p:nvSpPr>
          <p:cNvPr id="14" name="Next text 3"/>
          <p:cNvSpPr txBox="1"/>
          <p:nvPr/>
        </p:nvSpPr>
        <p:spPr>
          <a:xfrm>
            <a:off x="6370320" y="2926080"/>
            <a:ext cx="195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Swap prompts that worked with your team.</a:t>
            </a:r>
            <a:endParaRPr lang="en-US" sz="1400" dirty="0"/>
          </a:p>
        </p:txBody>
      </p:sp>
      <p:sp>
        <p:nvSpPr>
          <p:cNvPr id="15" name="Docs link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Keep learning: cursor.com/docs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D6B3E1-BE65-53CE-94A9-2CECB5B36F22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66818736"/>
      </p:ext>
    </p:extLst>
  </p:cSld>
  <p:clrMapOvr>
    <a:masterClrMapping/>
  </p:clrMapOvr>
</p:sld>
</file>

<file path=ppt/theme/theme1.xml><?xml version="1.0" encoding="utf-8"?>
<a:theme xmlns:a="http://schemas.openxmlformats.org/drawingml/2006/main" name="Cursor Workshop">
  <a:themeElements>
    <a:clrScheme name="Cursor Workshop">
      <a:dk1>
        <a:srgbClr val="14161B"/>
      </a:dk1>
      <a:lt1>
        <a:srgbClr val="FFFFFF"/>
      </a:lt1>
      <a:dk2>
        <a:srgbClr val="262A33"/>
      </a:dk2>
      <a:lt2>
        <a:srgbClr val="F1F3F6"/>
      </a:lt2>
      <a:accent1>
        <a:srgbClr val="19C9AE"/>
      </a:accent1>
      <a:accent2>
        <a:srgbClr val="FF7A3D"/>
      </a:accent2>
      <a:accent3>
        <a:srgbClr val="7C5CFF"/>
      </a:accent3>
      <a:accent4>
        <a:srgbClr val="F5B700"/>
      </a:accent4>
      <a:accent5>
        <a:srgbClr val="3AA0FF"/>
      </a:accent5>
      <a:accent6>
        <a:srgbClr val="8A93A6"/>
      </a:accent6>
      <a:hlink>
        <a:srgbClr val="0B7F6E"/>
      </a:hlink>
      <a:folHlink>
        <a:srgbClr val="7C5CFF"/>
      </a:folHlink>
    </a:clrScheme>
    <a:fontScheme name="Cursor Worksh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2358</Words>
  <Application>Microsoft Office PowerPoint</Application>
  <PresentationFormat>On-screen Show (16:9)</PresentationFormat>
  <Paragraphs>471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Cursor Workshop</vt:lpstr>
      <vt:lpstr>Cursor Hands-On Workshop</vt:lpstr>
      <vt:lpstr>By the end you will</vt:lpstr>
      <vt:lpstr>Four-hour schedule</vt:lpstr>
      <vt:lpstr>What is Cursor?</vt:lpstr>
      <vt:lpstr>Setup in 15 minutes</vt:lpstr>
      <vt:lpstr>Know your workspace</vt:lpstr>
      <vt:lpstr>Four ways to work with AI</vt:lpstr>
      <vt:lpstr>Choose the right tool</vt:lpstr>
      <vt:lpstr>Lab 1: Tab and inline edit</vt:lpstr>
      <vt:lpstr>Context is everything</vt:lpstr>
      <vt:lpstr>Chat prompts to try</vt:lpstr>
      <vt:lpstr>Lab 2: Explore a codebase</vt:lpstr>
      <vt:lpstr>Teach Cursor your project</vt:lpstr>
      <vt:lpstr>Lab 3: Write your rules file</vt:lpstr>
      <vt:lpstr>When to use Agent</vt:lpstr>
      <vt:lpstr>How Agent works</vt:lpstr>
      <vt:lpstr>Lab 4: Build with Agent</vt:lpstr>
      <vt:lpstr>Prompts that work</vt:lpstr>
      <vt:lpstr>Debug with Cursor</vt:lpstr>
      <vt:lpstr>Test with Cursor</vt:lpstr>
      <vt:lpstr>Lab 5: Debug and test</vt:lpstr>
      <vt:lpstr>Level up your workflow</vt:lpstr>
      <vt:lpstr>Using MCP servers</vt:lpstr>
      <vt:lpstr>Stay in control</vt:lpstr>
      <vt:lpstr>Common pitfalls and fixes</vt:lpstr>
      <vt:lpstr>Cheat sheet</vt:lpstr>
      <vt:lpstr>Lab 6: Capstone project</vt:lpstr>
      <vt:lpstr>Show and tell</vt:lpstr>
      <vt:lpstr>Your next steps</vt:lpstr>
      <vt:lpstr>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Cursor Hands-On Workshop (4 Hours)</dc:title>
  <dc:subject>PptxGenJS Presentation</dc:subject>
  <dc:creator>PptxGenJS</dc:creator>
  <cp:lastModifiedBy>Anindita Basak</cp:lastModifiedBy>
  <cp:revision>3</cp:revision>
  <dcterms:created xsi:type="dcterms:W3CDTF">2026-10-26T19:59:45Z</dcterms:created>
  <dcterms:modified xsi:type="dcterms:W3CDTF">2026-10-26T20:04:18Z</dcterms:modified>
</cp:coreProperties>
</file>