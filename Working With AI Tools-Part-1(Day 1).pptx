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1"/>
  </p:notesMasterIdLst>
  <p:handoutMasterIdLst>
    <p:handoutMasterId r:id="rId42"/>
  </p:handoutMasterIdLst>
  <p:sldIdLst>
    <p:sldId id="292" r:id="rId5"/>
    <p:sldId id="299" r:id="rId6"/>
    <p:sldId id="297" r:id="rId7"/>
    <p:sldId id="261" r:id="rId8"/>
    <p:sldId id="298" r:id="rId9"/>
    <p:sldId id="301" r:id="rId10"/>
    <p:sldId id="302" r:id="rId11"/>
    <p:sldId id="279" r:id="rId12"/>
    <p:sldId id="276" r:id="rId13"/>
    <p:sldId id="303" r:id="rId14"/>
    <p:sldId id="293" r:id="rId15"/>
    <p:sldId id="268" r:id="rId16"/>
    <p:sldId id="269" r:id="rId17"/>
    <p:sldId id="300" r:id="rId18"/>
    <p:sldId id="295" r:id="rId19"/>
    <p:sldId id="304" r:id="rId20"/>
    <p:sldId id="305" r:id="rId21"/>
    <p:sldId id="306" r:id="rId22"/>
    <p:sldId id="307" r:id="rId23"/>
    <p:sldId id="308" r:id="rId24"/>
    <p:sldId id="309" r:id="rId25"/>
    <p:sldId id="310" r:id="rId26"/>
    <p:sldId id="311" r:id="rId27"/>
    <p:sldId id="312" r:id="rId28"/>
    <p:sldId id="313" r:id="rId29"/>
    <p:sldId id="314" r:id="rId30"/>
    <p:sldId id="315" r:id="rId31"/>
    <p:sldId id="316" r:id="rId32"/>
    <p:sldId id="317" r:id="rId33"/>
    <p:sldId id="318" r:id="rId34"/>
    <p:sldId id="319" r:id="rId35"/>
    <p:sldId id="320" r:id="rId36"/>
    <p:sldId id="321" r:id="rId37"/>
    <p:sldId id="322" r:id="rId38"/>
    <p:sldId id="323" r:id="rId39"/>
    <p:sldId id="289" r:id="rId4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839" autoAdjust="0"/>
  </p:normalViewPr>
  <p:slideViewPr>
    <p:cSldViewPr snapToGrid="0" showGuides="1">
      <p:cViewPr varScale="1">
        <p:scale>
          <a:sx n="65" d="100"/>
          <a:sy n="65" d="100"/>
        </p:scale>
        <p:origin x="936" y="78"/>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1" qsCatId="simple" csTypeId="urn:microsoft.com/office/officeart/2005/8/colors/accent2_2#1" csCatId="accent2" phldr="1"/>
      <dgm:spPr/>
      <dgm:t>
        <a:bodyPr/>
        <a:lstStyle/>
        <a:p>
          <a:endParaRPr lang="en-US"/>
        </a:p>
      </dgm:t>
    </dgm:pt>
    <dgm:pt modelId="{A8C03FBB-4A75-4460-AEA6-DEAEB9C61496}">
      <dgm:prSet phldrT="[Text]" phldr="0"/>
      <dgm:spPr/>
      <dgm:t>
        <a:bodyPr/>
        <a:lstStyle/>
        <a:p>
          <a:pPr>
            <a:defRPr b="1"/>
          </a:pPr>
          <a:r>
            <a:rPr lang="en-US" dirty="0">
              <a:solidFill>
                <a:schemeClr val="accent2">
                  <a:lumMod val="60000"/>
                  <a:lumOff val="40000"/>
                </a:schemeClr>
              </a:solidFill>
              <a:latin typeface="+mn-lt"/>
            </a:rPr>
            <a:t>Who it should act as</a:t>
          </a:r>
        </a:p>
      </dgm:t>
    </dgm:pt>
    <dgm:pt modelId="{4E972F7F-4B1B-47AA-A25B-1FFC561F1C76}" type="parTrans" cxnId="{D3D81948-D963-4D1E-AE16-9705EAF510FC}">
      <dgm:prSet/>
      <dgm:spPr/>
      <dgm:t>
        <a:bodyPr/>
        <a:lstStyle/>
        <a:p>
          <a:pPr algn="ctr"/>
          <a:endParaRPr lang="en-US">
            <a:latin typeface="+mn-lt"/>
          </a:endParaRPr>
        </a:p>
      </dgm:t>
    </dgm:pt>
    <dgm:pt modelId="{67361508-930A-4A23-8CFC-BB56DA645C3C}" type="sibTrans" cxnId="{D3D81948-D963-4D1E-AE16-9705EAF510FC}">
      <dgm:prSet/>
      <dgm:spPr/>
      <dgm:t>
        <a:bodyPr/>
        <a:lstStyle/>
        <a:p>
          <a:pPr algn="ctr"/>
          <a:endParaRPr lang="en-US">
            <a:latin typeface="+mn-lt"/>
          </a:endParaRPr>
        </a:p>
      </dgm:t>
    </dgm:pt>
    <dgm:pt modelId="{5E71F362-34DF-4EEC-92A3-0EFE450E05E4}">
      <dgm:prSet phldrT="[Text]" phldr="0" custT="1"/>
      <dgm:spPr/>
      <dgm:t>
        <a:bodyPr/>
        <a:lstStyle/>
        <a:p>
          <a:r>
            <a:rPr lang="en-US" sz="1800" dirty="0">
              <a:latin typeface="+mn-lt"/>
            </a:rPr>
            <a:t>Role</a:t>
          </a:r>
        </a:p>
      </dgm:t>
    </dgm:pt>
    <dgm:pt modelId="{8E5EE4D1-908E-455C-B8B3-281AD42DEC9A}" type="parTrans" cxnId="{B99CA6C9-28D1-4DDB-B8EC-AED73AD115CA}">
      <dgm:prSet/>
      <dgm:spPr/>
      <dgm:t>
        <a:bodyPr/>
        <a:lstStyle/>
        <a:p>
          <a:pPr algn="ctr"/>
          <a:endParaRPr lang="en-US">
            <a:latin typeface="+mn-lt"/>
          </a:endParaRPr>
        </a:p>
      </dgm:t>
    </dgm:pt>
    <dgm:pt modelId="{B208B24A-E9FD-40A9-B764-FB7C2B7ED8B9}" type="sibTrans" cxnId="{B99CA6C9-28D1-4DDB-B8EC-AED73AD115CA}">
      <dgm:prSet/>
      <dgm:spPr/>
      <dgm:t>
        <a:bodyPr/>
        <a:lstStyle/>
        <a:p>
          <a:pPr algn="ctr"/>
          <a:endParaRPr lang="en-US">
            <a:latin typeface="+mn-lt"/>
          </a:endParaRPr>
        </a:p>
      </dgm:t>
    </dgm:pt>
    <dgm:pt modelId="{91969DED-4CB8-4A14-A50B-3F7B848E46B5}">
      <dgm:prSet phldrT="[Text]" phldr="0"/>
      <dgm:spPr/>
      <dgm:t>
        <a:bodyPr/>
        <a:lstStyle/>
        <a:p>
          <a:pPr>
            <a:defRPr b="1"/>
          </a:pPr>
          <a:r>
            <a:rPr lang="en-US" dirty="0">
              <a:solidFill>
                <a:schemeClr val="accent2">
                  <a:lumMod val="60000"/>
                  <a:lumOff val="40000"/>
                </a:schemeClr>
              </a:solidFill>
              <a:latin typeface="+mn-lt"/>
            </a:rPr>
            <a:t>Direct Action</a:t>
          </a:r>
        </a:p>
      </dgm:t>
    </dgm:pt>
    <dgm:pt modelId="{441CD73D-85E1-42A6-BCF8-362A3247E2F3}" type="parTrans" cxnId="{537F2ED0-8BD0-4AD5-B60D-89B660EDA1AC}">
      <dgm:prSet/>
      <dgm:spPr/>
      <dgm:t>
        <a:bodyPr/>
        <a:lstStyle/>
        <a:p>
          <a:pPr algn="ctr"/>
          <a:endParaRPr lang="en-US">
            <a:latin typeface="+mn-lt"/>
          </a:endParaRPr>
        </a:p>
      </dgm:t>
    </dgm:pt>
    <dgm:pt modelId="{81CA8AA2-C0C3-4381-BA8B-413EDD578B83}" type="sibTrans" cxnId="{537F2ED0-8BD0-4AD5-B60D-89B660EDA1AC}">
      <dgm:prSet/>
      <dgm:spPr/>
      <dgm:t>
        <a:bodyPr/>
        <a:lstStyle/>
        <a:p>
          <a:pPr algn="ctr"/>
          <a:endParaRPr lang="en-US">
            <a:latin typeface="+mn-lt"/>
          </a:endParaRPr>
        </a:p>
      </dgm:t>
    </dgm:pt>
    <dgm:pt modelId="{8A04F340-E8E1-4146-9905-E7ADCAEAABD7}">
      <dgm:prSet phldrT="[Text]" phldr="0" custT="1"/>
      <dgm:spPr/>
      <dgm:t>
        <a:bodyPr/>
        <a:lstStyle/>
        <a:p>
          <a:r>
            <a:rPr lang="en-US" sz="1800" dirty="0">
              <a:latin typeface="+mn-lt"/>
            </a:rPr>
            <a:t>Task</a:t>
          </a:r>
        </a:p>
      </dgm:t>
    </dgm:pt>
    <dgm:pt modelId="{4EBD5EC2-45ED-4ED6-8376-97D155A911AE}" type="parTrans" cxnId="{E636BFFB-0404-4D4B-B3F0-C64FDFD9DDEF}">
      <dgm:prSet/>
      <dgm:spPr/>
      <dgm:t>
        <a:bodyPr/>
        <a:lstStyle/>
        <a:p>
          <a:pPr algn="ctr"/>
          <a:endParaRPr lang="en-US">
            <a:latin typeface="+mn-lt"/>
          </a:endParaRPr>
        </a:p>
      </dgm:t>
    </dgm:pt>
    <dgm:pt modelId="{F9CD2A04-6A34-4104-A971-391788B88F55}" type="sibTrans" cxnId="{E636BFFB-0404-4D4B-B3F0-C64FDFD9DDEF}">
      <dgm:prSet/>
      <dgm:spPr/>
      <dgm:t>
        <a:bodyPr/>
        <a:lstStyle/>
        <a:p>
          <a:pPr algn="ctr"/>
          <a:endParaRPr lang="en-US">
            <a:latin typeface="+mn-lt"/>
          </a:endParaRPr>
        </a:p>
      </dgm:t>
    </dgm:pt>
    <dgm:pt modelId="{3CC73758-10C1-47F8-AFA7-1A986D4DDD60}">
      <dgm:prSet phldrT="[Text]" phldr="0"/>
      <dgm:spPr/>
      <dgm:t>
        <a:bodyPr/>
        <a:lstStyle/>
        <a:p>
          <a:pPr>
            <a:defRPr b="1"/>
          </a:pPr>
          <a:r>
            <a:rPr lang="en-US" dirty="0">
              <a:solidFill>
                <a:schemeClr val="accent2">
                  <a:lumMod val="60000"/>
                  <a:lumOff val="40000"/>
                </a:schemeClr>
              </a:solidFill>
              <a:latin typeface="+mn-lt"/>
            </a:rPr>
            <a:t>Background Info</a:t>
          </a:r>
        </a:p>
      </dgm:t>
    </dgm:pt>
    <dgm:pt modelId="{FF6AE4B6-4A2F-49EE-9316-9AF55E77838B}" type="parTrans" cxnId="{4A69F85D-5C15-48FD-893A-B3050E1BADEB}">
      <dgm:prSet/>
      <dgm:spPr/>
      <dgm:t>
        <a:bodyPr/>
        <a:lstStyle/>
        <a:p>
          <a:pPr algn="ctr"/>
          <a:endParaRPr lang="en-US">
            <a:latin typeface="+mn-lt"/>
          </a:endParaRPr>
        </a:p>
      </dgm:t>
    </dgm:pt>
    <dgm:pt modelId="{D8170BBA-6035-4773-8431-FEDD687647FF}" type="sibTrans" cxnId="{4A69F85D-5C15-48FD-893A-B3050E1BADEB}">
      <dgm:prSet/>
      <dgm:spPr/>
      <dgm:t>
        <a:bodyPr/>
        <a:lstStyle/>
        <a:p>
          <a:pPr algn="ctr"/>
          <a:endParaRPr lang="en-US">
            <a:latin typeface="+mn-lt"/>
          </a:endParaRPr>
        </a:p>
      </dgm:t>
    </dgm:pt>
    <dgm:pt modelId="{FD9CA14A-483C-4869-B0C1-7C5FB7EEDBCC}">
      <dgm:prSet phldrT="[Text]" phldr="0" custT="1"/>
      <dgm:spPr/>
      <dgm:t>
        <a:bodyPr/>
        <a:lstStyle/>
        <a:p>
          <a:r>
            <a:rPr lang="en-US" sz="1800">
              <a:latin typeface="+mn-lt"/>
            </a:rPr>
            <a:t> Context</a:t>
          </a:r>
          <a:endParaRPr lang="en-US" sz="1800" dirty="0">
            <a:latin typeface="+mn-lt"/>
          </a:endParaRPr>
        </a:p>
      </dgm:t>
    </dgm:pt>
    <dgm:pt modelId="{8182A92F-45BA-4CD1-8E43-0B0810A50FEB}" type="parTrans" cxnId="{5EDA943F-300F-408A-A52E-3D5140FD5C22}">
      <dgm:prSet/>
      <dgm:spPr/>
      <dgm:t>
        <a:bodyPr/>
        <a:lstStyle/>
        <a:p>
          <a:pPr algn="ctr"/>
          <a:endParaRPr lang="en-US">
            <a:latin typeface="+mn-lt"/>
          </a:endParaRPr>
        </a:p>
      </dgm:t>
    </dgm:pt>
    <dgm:pt modelId="{914BB93C-EA8A-4B5B-8F06-30DA7C7F4B7B}" type="sibTrans" cxnId="{5EDA943F-300F-408A-A52E-3D5140FD5C22}">
      <dgm:prSet/>
      <dgm:spPr/>
      <dgm:t>
        <a:bodyPr/>
        <a:lstStyle/>
        <a:p>
          <a:pPr algn="ctr"/>
          <a:endParaRPr lang="en-US">
            <a:latin typeface="+mn-lt"/>
          </a:endParaRPr>
        </a:p>
      </dgm:t>
    </dgm:pt>
    <dgm:pt modelId="{2BE415B7-7185-4956-8487-237B40BC0EE5}">
      <dgm:prSet phldrT="[Text]" phldr="0" custT="1"/>
      <dgm:spPr/>
      <dgm:t>
        <a:bodyPr/>
        <a:lstStyle/>
        <a:p>
          <a:r>
            <a:rPr lang="en-US" sz="1800" dirty="0">
              <a:latin typeface="+mn-lt"/>
            </a:rPr>
            <a:t>Output format</a:t>
          </a:r>
        </a:p>
      </dgm:t>
    </dgm:pt>
    <dgm:pt modelId="{A38E847E-0D1D-4F40-9A71-4D5999ADE08B}" type="parTrans" cxnId="{CB32A309-9CA9-4554-941D-519A91A9E733}">
      <dgm:prSet/>
      <dgm:spPr/>
      <dgm:t>
        <a:bodyPr/>
        <a:lstStyle/>
        <a:p>
          <a:pPr algn="ctr"/>
          <a:endParaRPr lang="en-US">
            <a:latin typeface="+mn-lt"/>
          </a:endParaRPr>
        </a:p>
      </dgm:t>
    </dgm:pt>
    <dgm:pt modelId="{F0D1C61C-E3F2-49BA-A2D8-C04A81308E5D}" type="sibTrans" cxnId="{CB32A309-9CA9-4554-941D-519A91A9E733}">
      <dgm:prSet/>
      <dgm:spPr/>
      <dgm:t>
        <a:bodyPr/>
        <a:lstStyle/>
        <a:p>
          <a:pPr algn="ctr"/>
          <a:endParaRPr lang="en-US">
            <a:latin typeface="+mn-lt"/>
          </a:endParaRPr>
        </a:p>
      </dgm:t>
    </dgm:pt>
    <dgm:pt modelId="{D2FE027B-4161-41E1-B4D4-02AECB2E3FA0}">
      <dgm:prSet phldrT="[Text]" phldr="0"/>
      <dgm:spPr/>
      <dgm:t>
        <a:bodyPr/>
        <a:lstStyle/>
        <a:p>
          <a:pPr>
            <a:defRPr b="1"/>
          </a:pPr>
          <a:r>
            <a:rPr lang="en-US">
              <a:solidFill>
                <a:schemeClr val="accent2">
                  <a:lumMod val="60000"/>
                  <a:lumOff val="40000"/>
                </a:schemeClr>
              </a:solidFill>
              <a:latin typeface="+mn-lt"/>
            </a:rPr>
            <a:t>Exact Visual or Structured Shape</a:t>
          </a:r>
          <a:endParaRPr lang="en-US" dirty="0">
            <a:solidFill>
              <a:schemeClr val="accent2">
                <a:lumMod val="60000"/>
                <a:lumOff val="40000"/>
              </a:schemeClr>
            </a:solidFill>
            <a:latin typeface="+mn-lt"/>
          </a:endParaRPr>
        </a:p>
      </dgm:t>
    </dgm:pt>
    <dgm:pt modelId="{88680CFE-3CE0-4842-B3D3-716D3B671238}" type="parTrans" cxnId="{1C78E323-4C31-4E38-9970-3403D59126E3}">
      <dgm:prSet/>
      <dgm:spPr/>
      <dgm:t>
        <a:bodyPr/>
        <a:lstStyle/>
        <a:p>
          <a:pPr algn="ctr"/>
          <a:endParaRPr lang="en-US">
            <a:latin typeface="+mn-lt"/>
          </a:endParaRPr>
        </a:p>
      </dgm:t>
    </dgm:pt>
    <dgm:pt modelId="{4D59E06B-629C-40B5-96D3-423B7A56C945}" type="sibTrans" cxnId="{1C78E323-4C31-4E38-9970-3403D59126E3}">
      <dgm:prSet/>
      <dgm:spPr/>
      <dgm:t>
        <a:bodyPr/>
        <a:lstStyle/>
        <a:p>
          <a:pPr algn="ctr"/>
          <a:endParaRPr lang="en-US">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6350" cap="flat" cmpd="sng" algn="ctr">
          <a:solidFill>
            <a:schemeClr val="accent2">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6350" cap="flat" cmpd="sng" algn="ctr">
          <a:solidFill>
            <a:schemeClr val="accent2">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6350" cap="flat" cmpd="sng" algn="ctr">
          <a:solidFill>
            <a:schemeClr val="accent2">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2">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1C78E323-4C31-4E38-9970-3403D59126E3}" srcId="{A66480AC-C0DE-4E5E-9ECD-9AE37E3FCB79}" destId="{D2FE027B-4161-41E1-B4D4-02AECB2E3FA0}" srcOrd="3" destOrd="0" parTransId="{88680CFE-3CE0-4842-B3D3-716D3B671238}" sibTransId="{4D59E06B-629C-40B5-96D3-423B7A56C945}"/>
    <dgm:cxn modelId="{562F3C2D-20DE-46C4-9B3C-B0710E175F4B}" type="presOf" srcId="{2BE415B7-7185-4956-8487-237B40BC0EE5}" destId="{6C3A59BD-6D45-4573-B098-8CB5207F194D}"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EEDB3963-A583-4E0B-AD0D-477C762C3772}" type="presOf" srcId="{FD9CA14A-483C-4869-B0C1-7C5FB7EEDBCC}" destId="{E0D48281-565D-47A3-9B6C-576231178549}" srcOrd="0" destOrd="0" presId="urn:microsoft.com/office/officeart/2016/7/layout/BasicTimeline"/>
    <dgm:cxn modelId="{D3D81948-D963-4D1E-AE16-9705EAF510FC}" srcId="{A66480AC-C0DE-4E5E-9ECD-9AE37E3FCB79}" destId="{A8C03FBB-4A75-4460-AEA6-DEAEB9C61496}" srcOrd="0" destOrd="0" parTransId="{4E972F7F-4B1B-47AA-A25B-1FFC561F1C76}" sibTransId="{67361508-930A-4A23-8CFC-BB56DA645C3C}"/>
    <dgm:cxn modelId="{CF9C9B72-2B84-4E2D-BF35-743F3DB3D084}" type="presOf" srcId="{3CC73758-10C1-47F8-AFA7-1A986D4DDD60}" destId="{E712D073-0B15-4887-9DCE-A27BCACBC178}" srcOrd="0" destOrd="0" presId="urn:microsoft.com/office/officeart/2016/7/layout/BasicTimeline"/>
    <dgm:cxn modelId="{2021BA54-1586-41F9-BD61-1333510CFCAF}" type="presOf" srcId="{A8C03FBB-4A75-4460-AEA6-DEAEB9C61496}" destId="{FE5C7F33-9326-49FB-89A3-8A20163AD994}" srcOrd="0" destOrd="0" presId="urn:microsoft.com/office/officeart/2016/7/layout/BasicTimeline"/>
    <dgm:cxn modelId="{EFC83199-8530-48D1-B22D-0AE581F32169}" type="presOf" srcId="{8A04F340-E8E1-4146-9905-E7ADCAEAABD7}" destId="{DADAA0C9-3E42-4088-8622-30E9F6EA139A}"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235C28D2-A54F-48A6-8DFB-A4EEBF76A8DA}" type="presOf" srcId="{91969DED-4CB8-4A14-A50B-3F7B848E46B5}" destId="{60D0713D-AF69-4AF8-B071-F65622790886}" srcOrd="0" destOrd="0" presId="urn:microsoft.com/office/officeart/2016/7/layout/BasicTimeline"/>
    <dgm:cxn modelId="{403E30EA-CA23-4A5A-9D22-DF82F93CFF08}" type="presOf" srcId="{A66480AC-C0DE-4E5E-9ECD-9AE37E3FCB79}" destId="{9FFA803F-EA25-49D8-A073-96E9747E345F}" srcOrd="0" destOrd="0" presId="urn:microsoft.com/office/officeart/2016/7/layout/BasicTimeline"/>
    <dgm:cxn modelId="{E724D4EC-746E-422E-8D8D-D39DB3B267F9}" type="presOf" srcId="{D2FE027B-4161-41E1-B4D4-02AECB2E3FA0}" destId="{F782935D-BBBD-4420-826A-F71C517659B6}" srcOrd="0" destOrd="0" presId="urn:microsoft.com/office/officeart/2016/7/layout/BasicTimeline"/>
    <dgm:cxn modelId="{5EB022F1-22B3-48AE-977E-8A57468425FD}" type="presOf" srcId="{5E71F362-34DF-4EEC-92A3-0EFE450E05E4}" destId="{BA29120C-7C6B-4F62-9079-4AD528BC0744}"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6A28C4EE-3905-4EE9-AD3A-61D92ABEA988}" type="presParOf" srcId="{9FFA803F-EA25-49D8-A073-96E9747E345F}" destId="{EE0E6265-BE99-48D1-8879-DB5A75D6D78E}" srcOrd="0" destOrd="0" presId="urn:microsoft.com/office/officeart/2016/7/layout/BasicTimeline"/>
    <dgm:cxn modelId="{2F5BC753-81CF-4A86-9B47-73697DC0E4B4}" type="presParOf" srcId="{9FFA803F-EA25-49D8-A073-96E9747E345F}" destId="{BDA8F949-88B8-486D-9E41-ABA1463A8926}" srcOrd="1" destOrd="0" presId="urn:microsoft.com/office/officeart/2016/7/layout/BasicTimeline"/>
    <dgm:cxn modelId="{17DE16EB-FE9B-4975-99C6-A9C4C8520F68}" type="presParOf" srcId="{BDA8F949-88B8-486D-9E41-ABA1463A8926}" destId="{A41AEE8D-8763-4311-BB07-B499A93D76EA}" srcOrd="0" destOrd="0" presId="urn:microsoft.com/office/officeart/2016/7/layout/BasicTimeline"/>
    <dgm:cxn modelId="{9913B12E-2B1A-425C-A92A-5D1D815F71C8}" type="presParOf" srcId="{A41AEE8D-8763-4311-BB07-B499A93D76EA}" destId="{FE5C7F33-9326-49FB-89A3-8A20163AD994}" srcOrd="0" destOrd="0" presId="urn:microsoft.com/office/officeart/2016/7/layout/BasicTimeline"/>
    <dgm:cxn modelId="{7938E2D6-9394-4C45-848E-AF21056D8A6A}" type="presParOf" srcId="{A41AEE8D-8763-4311-BB07-B499A93D76EA}" destId="{C51067AB-548D-47E7-B9DD-C7A4C9600F8C}" srcOrd="1" destOrd="0" presId="urn:microsoft.com/office/officeart/2016/7/layout/BasicTimeline"/>
    <dgm:cxn modelId="{4018E326-D263-488E-A91B-BA58B83B1B9F}" type="presParOf" srcId="{C51067AB-548D-47E7-B9DD-C7A4C9600F8C}" destId="{BA29120C-7C6B-4F62-9079-4AD528BC0744}" srcOrd="0" destOrd="0" presId="urn:microsoft.com/office/officeart/2016/7/layout/BasicTimeline"/>
    <dgm:cxn modelId="{EF6CBDBB-E383-4F88-8F35-CA580AFD5D4A}" type="presParOf" srcId="{C51067AB-548D-47E7-B9DD-C7A4C9600F8C}" destId="{617B6CDA-9351-44EF-9011-41758FE93851}" srcOrd="1" destOrd="0" presId="urn:microsoft.com/office/officeart/2016/7/layout/BasicTimeline"/>
    <dgm:cxn modelId="{ED8FB241-327C-4694-A1D7-11AC67EFBD0E}" type="presParOf" srcId="{A41AEE8D-8763-4311-BB07-B499A93D76EA}" destId="{A95DB80B-444A-4D69-B205-3A801BB8524A}" srcOrd="2" destOrd="0" presId="urn:microsoft.com/office/officeart/2016/7/layout/BasicTimeline"/>
    <dgm:cxn modelId="{EAC4E64E-8095-40BE-AC56-AD9B8339A1D6}" type="presParOf" srcId="{A41AEE8D-8763-4311-BB07-B499A93D76EA}" destId="{FA19A0AA-8B0B-4AA8-A80D-08CFFDD3F112}" srcOrd="3" destOrd="0" presId="urn:microsoft.com/office/officeart/2016/7/layout/BasicTimeline"/>
    <dgm:cxn modelId="{C09664F3-E794-4060-92BA-392801C26C23}" type="presParOf" srcId="{A41AEE8D-8763-4311-BB07-B499A93D76EA}" destId="{C298CC98-EF08-4D23-94A2-F58DEE6D7DE4}" srcOrd="4" destOrd="0" presId="urn:microsoft.com/office/officeart/2016/7/layout/BasicTimeline"/>
    <dgm:cxn modelId="{048204E2-B03C-4C16-854B-2175F29A3B6B}" type="presParOf" srcId="{BDA8F949-88B8-486D-9E41-ABA1463A8926}" destId="{F3D981F8-7433-4E93-99E6-2B447306B973}" srcOrd="1" destOrd="0" presId="urn:microsoft.com/office/officeart/2016/7/layout/BasicTimeline"/>
    <dgm:cxn modelId="{9295B1A4-EBF6-4800-8288-6A2334BD16A5}" type="presParOf" srcId="{BDA8F949-88B8-486D-9E41-ABA1463A8926}" destId="{7D29DFA7-018B-45C9-AC1C-5CFC82FEE150}" srcOrd="2" destOrd="0" presId="urn:microsoft.com/office/officeart/2016/7/layout/BasicTimeline"/>
    <dgm:cxn modelId="{EEC60F77-D23C-4B6B-8F70-C2AC70CA354E}" type="presParOf" srcId="{7D29DFA7-018B-45C9-AC1C-5CFC82FEE150}" destId="{60D0713D-AF69-4AF8-B071-F65622790886}" srcOrd="0" destOrd="0" presId="urn:microsoft.com/office/officeart/2016/7/layout/BasicTimeline"/>
    <dgm:cxn modelId="{DF401B09-4FB2-4821-9B1A-1F1312C76965}" type="presParOf" srcId="{7D29DFA7-018B-45C9-AC1C-5CFC82FEE150}" destId="{5DAA1547-FEA7-4F69-96D3-0E3A07601B1E}" srcOrd="1" destOrd="0" presId="urn:microsoft.com/office/officeart/2016/7/layout/BasicTimeline"/>
    <dgm:cxn modelId="{7FE0319E-C9EE-4FF5-8851-B6F7691FC428}" type="presParOf" srcId="{5DAA1547-FEA7-4F69-96D3-0E3A07601B1E}" destId="{DADAA0C9-3E42-4088-8622-30E9F6EA139A}" srcOrd="0" destOrd="0" presId="urn:microsoft.com/office/officeart/2016/7/layout/BasicTimeline"/>
    <dgm:cxn modelId="{E148FC51-2CF5-446B-A412-470D83938980}" type="presParOf" srcId="{5DAA1547-FEA7-4F69-96D3-0E3A07601B1E}" destId="{D2E61EE0-F306-43AF-AFF9-74A14B9CF379}" srcOrd="1" destOrd="0" presId="urn:microsoft.com/office/officeart/2016/7/layout/BasicTimeline"/>
    <dgm:cxn modelId="{1B508217-367B-426C-AE0C-A04AD7D8BE99}" type="presParOf" srcId="{7D29DFA7-018B-45C9-AC1C-5CFC82FEE150}" destId="{DBD74D6B-057A-432C-9067-BF618C19EB2A}" srcOrd="2" destOrd="0" presId="urn:microsoft.com/office/officeart/2016/7/layout/BasicTimeline"/>
    <dgm:cxn modelId="{4E5D0887-E663-4F98-A136-60ACA5822383}" type="presParOf" srcId="{7D29DFA7-018B-45C9-AC1C-5CFC82FEE150}" destId="{0F979253-FD39-4920-BFCA-78C564B167EA}" srcOrd="3" destOrd="0" presId="urn:microsoft.com/office/officeart/2016/7/layout/BasicTimeline"/>
    <dgm:cxn modelId="{FBA3BC6B-88DF-42FB-A4DA-4CB52DADF3B0}" type="presParOf" srcId="{7D29DFA7-018B-45C9-AC1C-5CFC82FEE150}" destId="{C9B4B298-E04C-4317-856D-E345FE5EC64B}" srcOrd="4" destOrd="0" presId="urn:microsoft.com/office/officeart/2016/7/layout/BasicTimeline"/>
    <dgm:cxn modelId="{7654473A-B660-401D-95C1-A378F30D4839}" type="presParOf" srcId="{BDA8F949-88B8-486D-9E41-ABA1463A8926}" destId="{9B636147-AF19-40E0-BE7D-3BE8148CC024}" srcOrd="3" destOrd="0" presId="urn:microsoft.com/office/officeart/2016/7/layout/BasicTimeline"/>
    <dgm:cxn modelId="{7F18A335-18BC-4DD7-91A7-9D42E99E9670}" type="presParOf" srcId="{BDA8F949-88B8-486D-9E41-ABA1463A8926}" destId="{76CB18D4-86E2-467C-A2CF-3ED9EFE66BEA}" srcOrd="4" destOrd="0" presId="urn:microsoft.com/office/officeart/2016/7/layout/BasicTimeline"/>
    <dgm:cxn modelId="{4C47EE63-B1DE-4DC3-A2E8-A3B242610771}" type="presParOf" srcId="{76CB18D4-86E2-467C-A2CF-3ED9EFE66BEA}" destId="{E712D073-0B15-4887-9DCE-A27BCACBC178}" srcOrd="0" destOrd="0" presId="urn:microsoft.com/office/officeart/2016/7/layout/BasicTimeline"/>
    <dgm:cxn modelId="{913D5376-10EA-450B-B330-8FE84C46EF3D}" type="presParOf" srcId="{76CB18D4-86E2-467C-A2CF-3ED9EFE66BEA}" destId="{4C57E835-21E8-44E9-8CE3-1E2D478ECB2B}" srcOrd="1" destOrd="0" presId="urn:microsoft.com/office/officeart/2016/7/layout/BasicTimeline"/>
    <dgm:cxn modelId="{4BEE1009-D660-44E6-88FE-69F0DD60643B}" type="presParOf" srcId="{4C57E835-21E8-44E9-8CE3-1E2D478ECB2B}" destId="{E0D48281-565D-47A3-9B6C-576231178549}" srcOrd="0" destOrd="0" presId="urn:microsoft.com/office/officeart/2016/7/layout/BasicTimeline"/>
    <dgm:cxn modelId="{8DC26495-2494-4797-8A3F-B125898940E9}" type="presParOf" srcId="{4C57E835-21E8-44E9-8CE3-1E2D478ECB2B}" destId="{E0365E95-CAD6-4660-956D-E490447A5CB4}" srcOrd="1" destOrd="0" presId="urn:microsoft.com/office/officeart/2016/7/layout/BasicTimeline"/>
    <dgm:cxn modelId="{08EE4CD0-196E-4930-BCD4-B1C1DF68B57B}" type="presParOf" srcId="{76CB18D4-86E2-467C-A2CF-3ED9EFE66BEA}" destId="{DCAE8A46-752C-4E82-84CE-E790E1F2918E}" srcOrd="2" destOrd="0" presId="urn:microsoft.com/office/officeart/2016/7/layout/BasicTimeline"/>
    <dgm:cxn modelId="{45BA7304-3E53-4679-A7B6-FA7F239911AF}" type="presParOf" srcId="{76CB18D4-86E2-467C-A2CF-3ED9EFE66BEA}" destId="{B6459BF8-D2C3-4018-9C28-98667DC203F4}" srcOrd="3" destOrd="0" presId="urn:microsoft.com/office/officeart/2016/7/layout/BasicTimeline"/>
    <dgm:cxn modelId="{E3510A7D-3261-4308-89DE-B58D873B8F65}" type="presParOf" srcId="{76CB18D4-86E2-467C-A2CF-3ED9EFE66BEA}" destId="{EAB0CCC2-BFF9-432D-BA8E-7ECAF2D92AF2}" srcOrd="4" destOrd="0" presId="urn:microsoft.com/office/officeart/2016/7/layout/BasicTimeline"/>
    <dgm:cxn modelId="{FFCADF00-4079-4EA0-873D-F40AF7C7A756}" type="presParOf" srcId="{BDA8F949-88B8-486D-9E41-ABA1463A8926}" destId="{07073103-04B7-4C74-9AC8-048764100B10}" srcOrd="5" destOrd="0" presId="urn:microsoft.com/office/officeart/2016/7/layout/BasicTimeline"/>
    <dgm:cxn modelId="{42A285A7-770F-427A-8EBD-60386F3FA617}" type="presParOf" srcId="{BDA8F949-88B8-486D-9E41-ABA1463A8926}" destId="{C68762A5-E9DF-484F-B385-6C7E07325E98}" srcOrd="6" destOrd="0" presId="urn:microsoft.com/office/officeart/2016/7/layout/BasicTimeline"/>
    <dgm:cxn modelId="{F98C8559-9584-46C6-8171-CA543610B9C6}" type="presParOf" srcId="{C68762A5-E9DF-484F-B385-6C7E07325E98}" destId="{F782935D-BBBD-4420-826A-F71C517659B6}" srcOrd="0" destOrd="0" presId="urn:microsoft.com/office/officeart/2016/7/layout/BasicTimeline"/>
    <dgm:cxn modelId="{53EE0C76-8E38-41B1-A893-786E09AE1984}" type="presParOf" srcId="{C68762A5-E9DF-484F-B385-6C7E07325E98}" destId="{3C71E446-482E-4CAC-8D42-2D4AC020412B}" srcOrd="1" destOrd="0" presId="urn:microsoft.com/office/officeart/2016/7/layout/BasicTimeline"/>
    <dgm:cxn modelId="{40C95DC5-9029-4519-AF5A-E7E8C35EC508}" type="presParOf" srcId="{3C71E446-482E-4CAC-8D42-2D4AC020412B}" destId="{6C3A59BD-6D45-4573-B098-8CB5207F194D}" srcOrd="0" destOrd="0" presId="urn:microsoft.com/office/officeart/2016/7/layout/BasicTimeline"/>
    <dgm:cxn modelId="{52C78456-7B3C-4EF4-970C-27EADED1C043}" type="presParOf" srcId="{3C71E446-482E-4CAC-8D42-2D4AC020412B}" destId="{8EB042C8-D666-4667-A1E4-E0C87151B72F}" srcOrd="1" destOrd="0" presId="urn:microsoft.com/office/officeart/2016/7/layout/BasicTimeline"/>
    <dgm:cxn modelId="{A4FA0C2B-25BC-441B-B00D-E8192F657A6B}" type="presParOf" srcId="{C68762A5-E9DF-484F-B385-6C7E07325E98}" destId="{086FB9B1-82B2-4197-8B33-6E7FF94F8D2E}" srcOrd="2" destOrd="0" presId="urn:microsoft.com/office/officeart/2016/7/layout/BasicTimeline"/>
    <dgm:cxn modelId="{5C6926CE-5B68-479A-86E6-8ED573016DBD}" type="presParOf" srcId="{C68762A5-E9DF-484F-B385-6C7E07325E98}" destId="{3F359E8B-7C7E-4FD9-B106-36CCBFC731D5}" srcOrd="3" destOrd="0" presId="urn:microsoft.com/office/officeart/2016/7/layout/BasicTimeline"/>
    <dgm:cxn modelId="{85EFFA46-3F92-419A-B069-40862F60F07B}"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7537"/>
          <a:ext cx="8348663" cy="0"/>
        </a:xfrm>
        <a:prstGeom prst="line">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185195" y="2027215"/>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755650">
            <a:lnSpc>
              <a:spcPct val="90000"/>
            </a:lnSpc>
            <a:spcBef>
              <a:spcPct val="0"/>
            </a:spcBef>
            <a:spcAft>
              <a:spcPct val="35000"/>
            </a:spcAft>
            <a:buNone/>
            <a:defRPr b="1"/>
          </a:pPr>
          <a:r>
            <a:rPr lang="en-US" sz="1700" kern="1200" dirty="0">
              <a:solidFill>
                <a:schemeClr val="accent2">
                  <a:lumMod val="60000"/>
                  <a:lumOff val="40000"/>
                </a:schemeClr>
              </a:solidFill>
              <a:latin typeface="+mn-lt"/>
            </a:rPr>
            <a:t>Who it should act as</a:t>
          </a:r>
        </a:p>
      </dsp:txBody>
      <dsp:txXfrm>
        <a:off x="185195" y="2027215"/>
        <a:ext cx="2679725" cy="426583"/>
      </dsp:txXfrm>
    </dsp:sp>
    <dsp:sp modelId="{BA29120C-7C6B-4F62-9079-4AD528BC0744}">
      <dsp:nvSpPr>
        <dsp:cNvPr id="0" name=""/>
        <dsp:cNvSpPr/>
      </dsp:nvSpPr>
      <dsp:spPr>
        <a:xfrm>
          <a:off x="2486" y="526622"/>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Role</a:t>
          </a:r>
        </a:p>
      </dsp:txBody>
      <dsp:txXfrm>
        <a:off x="33906" y="558042"/>
        <a:ext cx="2982302" cy="580810"/>
      </dsp:txXfrm>
    </dsp:sp>
    <dsp:sp modelId="{A95DB80B-444A-4D69-B205-3A801BB8524A}">
      <dsp:nvSpPr>
        <dsp:cNvPr id="0" name=""/>
        <dsp:cNvSpPr/>
      </dsp:nvSpPr>
      <dsp:spPr>
        <a:xfrm>
          <a:off x="1525057"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951377" y="1321276"/>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755650">
            <a:lnSpc>
              <a:spcPct val="90000"/>
            </a:lnSpc>
            <a:spcBef>
              <a:spcPct val="0"/>
            </a:spcBef>
            <a:spcAft>
              <a:spcPct val="35000"/>
            </a:spcAft>
            <a:buNone/>
            <a:defRPr b="1"/>
          </a:pPr>
          <a:r>
            <a:rPr lang="en-US" sz="1700" kern="1200" dirty="0">
              <a:solidFill>
                <a:schemeClr val="accent2">
                  <a:lumMod val="60000"/>
                  <a:lumOff val="40000"/>
                </a:schemeClr>
              </a:solidFill>
              <a:latin typeface="+mn-lt"/>
            </a:rPr>
            <a:t>Direct Action</a:t>
          </a:r>
        </a:p>
      </dsp:txBody>
      <dsp:txXfrm>
        <a:off x="1951377" y="1321276"/>
        <a:ext cx="2679725" cy="426583"/>
      </dsp:txXfrm>
    </dsp:sp>
    <dsp:sp modelId="{FA19A0AA-8B0B-4AA8-A80D-08CFFDD3F112}">
      <dsp:nvSpPr>
        <dsp:cNvPr id="0" name=""/>
        <dsp:cNvSpPr/>
      </dsp:nvSpPr>
      <dsp:spPr>
        <a:xfrm>
          <a:off x="1496744"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1768669" y="2604801"/>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Task</a:t>
          </a:r>
        </a:p>
      </dsp:txBody>
      <dsp:txXfrm>
        <a:off x="1800089" y="2636221"/>
        <a:ext cx="2982302" cy="580810"/>
      </dsp:txXfrm>
    </dsp:sp>
    <dsp:sp modelId="{DBD74D6B-057A-432C-9067-BF618C19EB2A}">
      <dsp:nvSpPr>
        <dsp:cNvPr id="0" name=""/>
        <dsp:cNvSpPr/>
      </dsp:nvSpPr>
      <dsp:spPr>
        <a:xfrm>
          <a:off x="3291240"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3717560" y="2027215"/>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755650">
            <a:lnSpc>
              <a:spcPct val="90000"/>
            </a:lnSpc>
            <a:spcBef>
              <a:spcPct val="0"/>
            </a:spcBef>
            <a:spcAft>
              <a:spcPct val="35000"/>
            </a:spcAft>
            <a:buNone/>
            <a:defRPr b="1"/>
          </a:pPr>
          <a:r>
            <a:rPr lang="en-US" sz="1700" kern="1200" dirty="0">
              <a:solidFill>
                <a:schemeClr val="accent2">
                  <a:lumMod val="60000"/>
                  <a:lumOff val="40000"/>
                </a:schemeClr>
              </a:solidFill>
              <a:latin typeface="+mn-lt"/>
            </a:rPr>
            <a:t>Background Info</a:t>
          </a:r>
        </a:p>
      </dsp:txBody>
      <dsp:txXfrm>
        <a:off x="3717560" y="2027215"/>
        <a:ext cx="2679725" cy="426583"/>
      </dsp:txXfrm>
    </dsp:sp>
    <dsp:sp modelId="{0F979253-FD39-4920-BFCA-78C564B167EA}">
      <dsp:nvSpPr>
        <dsp:cNvPr id="0" name=""/>
        <dsp:cNvSpPr/>
      </dsp:nvSpPr>
      <dsp:spPr>
        <a:xfrm>
          <a:off x="3262927"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3534851" y="526622"/>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a:latin typeface="+mn-lt"/>
            </a:rPr>
            <a:t> Context</a:t>
          </a:r>
          <a:endParaRPr lang="en-US" sz="1800" kern="1200" dirty="0">
            <a:latin typeface="+mn-lt"/>
          </a:endParaRPr>
        </a:p>
      </dsp:txBody>
      <dsp:txXfrm>
        <a:off x="3566271" y="558042"/>
        <a:ext cx="2982302" cy="580810"/>
      </dsp:txXfrm>
    </dsp:sp>
    <dsp:sp modelId="{DCAE8A46-752C-4E82-84CE-E790E1F2918E}">
      <dsp:nvSpPr>
        <dsp:cNvPr id="0" name=""/>
        <dsp:cNvSpPr/>
      </dsp:nvSpPr>
      <dsp:spPr>
        <a:xfrm>
          <a:off x="5057422"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5483742" y="1321276"/>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755650">
            <a:lnSpc>
              <a:spcPct val="90000"/>
            </a:lnSpc>
            <a:spcBef>
              <a:spcPct val="0"/>
            </a:spcBef>
            <a:spcAft>
              <a:spcPct val="35000"/>
            </a:spcAft>
            <a:buNone/>
            <a:defRPr b="1"/>
          </a:pPr>
          <a:r>
            <a:rPr lang="en-US" sz="1700" kern="1200">
              <a:solidFill>
                <a:schemeClr val="accent2">
                  <a:lumMod val="60000"/>
                  <a:lumOff val="40000"/>
                </a:schemeClr>
              </a:solidFill>
              <a:latin typeface="+mn-lt"/>
            </a:rPr>
            <a:t>Exact Visual or Structured Shape</a:t>
          </a:r>
          <a:endParaRPr lang="en-US" sz="1700" kern="1200" dirty="0">
            <a:solidFill>
              <a:schemeClr val="accent2">
                <a:lumMod val="60000"/>
                <a:lumOff val="40000"/>
              </a:schemeClr>
            </a:solidFill>
            <a:latin typeface="+mn-lt"/>
          </a:endParaRPr>
        </a:p>
      </dsp:txBody>
      <dsp:txXfrm>
        <a:off x="5483742" y="1321276"/>
        <a:ext cx="2679725" cy="426583"/>
      </dsp:txXfrm>
    </dsp:sp>
    <dsp:sp modelId="{B6459BF8-D2C3-4018-9C28-98667DC203F4}">
      <dsp:nvSpPr>
        <dsp:cNvPr id="0" name=""/>
        <dsp:cNvSpPr/>
      </dsp:nvSpPr>
      <dsp:spPr>
        <a:xfrm>
          <a:off x="5029109"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5301034" y="2604801"/>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Output format</a:t>
          </a:r>
        </a:p>
      </dsp:txBody>
      <dsp:txXfrm>
        <a:off x="5332454" y="2636221"/>
        <a:ext cx="2982302" cy="580810"/>
      </dsp:txXfrm>
    </dsp:sp>
    <dsp:sp modelId="{086FB9B1-82B2-4197-8B33-6E7FF94F8D2E}">
      <dsp:nvSpPr>
        <dsp:cNvPr id="0" name=""/>
        <dsp:cNvSpPr/>
      </dsp:nvSpPr>
      <dsp:spPr>
        <a:xfrm>
          <a:off x="6823605"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6795292"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10/23/2026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10/23/2026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8</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9</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11</a:t>
            </a:fld>
            <a:endParaRPr lang="en-US" altLang="zh-CN" noProof="0" dirty="0"/>
          </a:p>
        </p:txBody>
      </p:sp>
    </p:spTree>
    <p:extLst>
      <p:ext uri="{BB962C8B-B14F-4D97-AF65-F5344CB8AC3E}">
        <p14:creationId xmlns:p14="http://schemas.microsoft.com/office/powerpoint/2010/main" val="2093800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15</a:t>
            </a:fld>
            <a:endParaRPr lang="en-US" altLang="zh-CN" dirty="0"/>
          </a:p>
        </p:txBody>
      </p:sp>
    </p:spTree>
    <p:extLst>
      <p:ext uri="{BB962C8B-B14F-4D97-AF65-F5344CB8AC3E}">
        <p14:creationId xmlns:p14="http://schemas.microsoft.com/office/powerpoint/2010/main" val="2424331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36</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endParaRPr lang="en-US" altLang="zh-CN" noProof="0" dirty="0"/>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endParaRPr lang="en-US" altLang="zh-CN" noProof="0" dirty="0"/>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endParaRPr lang="en-US" altLang="zh-CN" noProof="0" dirty="0"/>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wo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914400" y="731520"/>
            <a:ext cx="4389120" cy="2103120"/>
          </a:xfrm>
        </p:spPr>
        <p:txBody>
          <a:bodyPr anchor="b" anchorCtr="0">
            <a:normAutofit/>
          </a:bodyPr>
          <a:lstStyle>
            <a:lvl1pPr>
              <a:defRPr sz="3600"/>
            </a:lvl1pPr>
          </a:lstStyle>
          <a:p>
            <a:r>
              <a:rPr lang="en-US"/>
              <a:t>Click to edit Master title style</a:t>
            </a:r>
          </a:p>
        </p:txBody>
      </p:sp>
      <p:sp>
        <p:nvSpPr>
          <p:cNvPr id="4" name="Content Placeholder 2">
            <a:extLst>
              <a:ext uri="{FF2B5EF4-FFF2-40B4-BE49-F238E27FC236}">
                <a16:creationId xmlns:a16="http://schemas.microsoft.com/office/drawing/2014/main" id="{C403123E-E3E0-5E2A-E1FB-EC28A2C68EEB}"/>
              </a:ext>
            </a:extLst>
          </p:cNvPr>
          <p:cNvSpPr>
            <a:spLocks noGrp="1"/>
          </p:cNvSpPr>
          <p:nvPr>
            <p:ph idx="14"/>
          </p:nvPr>
        </p:nvSpPr>
        <p:spPr>
          <a:xfrm>
            <a:off x="914400" y="3108960"/>
            <a:ext cx="4389120" cy="192024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9" name="Content Placeholder 2">
            <a:extLst>
              <a:ext uri="{FF2B5EF4-FFF2-40B4-BE49-F238E27FC236}">
                <a16:creationId xmlns:a16="http://schemas.microsoft.com/office/drawing/2014/main" id="{5B0A6B95-C59B-C125-7957-8C41B37891E1}"/>
              </a:ext>
            </a:extLst>
          </p:cNvPr>
          <p:cNvSpPr>
            <a:spLocks noGrp="1"/>
          </p:cNvSpPr>
          <p:nvPr>
            <p:ph idx="1"/>
          </p:nvPr>
        </p:nvSpPr>
        <p:spPr>
          <a:xfrm>
            <a:off x="5852160" y="731520"/>
            <a:ext cx="5367528" cy="52120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Freeform 11">
            <a:extLst>
              <a:ext uri="{FF2B5EF4-FFF2-40B4-BE49-F238E27FC236}">
                <a16:creationId xmlns:a16="http://schemas.microsoft.com/office/drawing/2014/main" id="{18CD2E87-8426-FC12-6665-A6E2F64FEA93}"/>
              </a:ext>
            </a:extLst>
          </p:cNvPr>
          <p:cNvSpPr>
            <a:spLocks noChangeAspect="1"/>
          </p:cNvSpPr>
          <p:nvPr userDrawn="1"/>
        </p:nvSpPr>
        <p:spPr>
          <a:xfrm flipH="1">
            <a:off x="-9525" y="5039331"/>
            <a:ext cx="986377" cy="128016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1">
            <a:extLst>
              <a:ext uri="{FF2B5EF4-FFF2-40B4-BE49-F238E27FC236}">
                <a16:creationId xmlns:a16="http://schemas.microsoft.com/office/drawing/2014/main" id="{D35CF771-1335-6C94-6AA8-AF68EADDDF00}"/>
              </a:ext>
            </a:extLst>
          </p:cNvPr>
          <p:cNvSpPr/>
          <p:nvPr userDrawn="1"/>
        </p:nvSpPr>
        <p:spPr>
          <a:xfrm>
            <a:off x="1140014" y="5142797"/>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bg2">
                <a:lumMod val="75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924390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914400" y="731520"/>
            <a:ext cx="7671816" cy="2103120"/>
          </a:xfrm>
        </p:spPr>
        <p:txBody>
          <a:bodyPr anchor="b" anchorCtr="0">
            <a:normAutofit/>
          </a:bodyPr>
          <a:lstStyle/>
          <a:p>
            <a:r>
              <a:rPr lang="en-US"/>
              <a:t>Click to edit Master title style</a:t>
            </a:r>
            <a:endParaRPr lang="en-US" dirty="0"/>
          </a:p>
        </p:txBody>
      </p:sp>
      <p:sp>
        <p:nvSpPr>
          <p:cNvPr id="15" name="Content Placeholder 2">
            <a:extLst>
              <a:ext uri="{FF2B5EF4-FFF2-40B4-BE49-F238E27FC236}">
                <a16:creationId xmlns:a16="http://schemas.microsoft.com/office/drawing/2014/main" id="{F9296AFE-5FB8-52A4-3111-3B53DBE4DB3E}"/>
              </a:ext>
            </a:extLst>
          </p:cNvPr>
          <p:cNvSpPr>
            <a:spLocks noGrp="1"/>
          </p:cNvSpPr>
          <p:nvPr>
            <p:ph idx="14"/>
          </p:nvPr>
        </p:nvSpPr>
        <p:spPr>
          <a:xfrm>
            <a:off x="914400" y="3200400"/>
            <a:ext cx="10149840" cy="28346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3" name="Freeform: Shape 12">
            <a:extLst>
              <a:ext uri="{FF2B5EF4-FFF2-40B4-BE49-F238E27FC236}">
                <a16:creationId xmlns:a16="http://schemas.microsoft.com/office/drawing/2014/main" id="{809C5320-0161-C582-141C-55F06D4F3BAE}"/>
              </a:ext>
            </a:extLst>
          </p:cNvPr>
          <p:cNvSpPr/>
          <p:nvPr userDrawn="1"/>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6">
            <a:extLst>
              <a:ext uri="{FF2B5EF4-FFF2-40B4-BE49-F238E27FC236}">
                <a16:creationId xmlns:a16="http://schemas.microsoft.com/office/drawing/2014/main" id="{29C982F3-4477-76AC-0429-350585A39FFA}"/>
              </a:ext>
            </a:extLst>
          </p:cNvPr>
          <p:cNvSpPr/>
          <p:nvPr userDrawn="1"/>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5">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87A8F7B2-0552-AAD4-9DE2-845DE10CA10A}"/>
              </a:ext>
            </a:extLst>
          </p:cNvPr>
          <p:cNvSpPr/>
          <p:nvPr userDrawn="1"/>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9">
            <a:extLst>
              <a:ext uri="{FF2B5EF4-FFF2-40B4-BE49-F238E27FC236}">
                <a16:creationId xmlns:a16="http://schemas.microsoft.com/office/drawing/2014/main" id="{395DA7FF-BAA0-F04C-CA6C-16E9C2D55593}"/>
              </a:ext>
            </a:extLst>
          </p:cNvPr>
          <p:cNvSpPr/>
          <p:nvPr userDrawn="1"/>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0">
            <a:extLst>
              <a:ext uri="{FF2B5EF4-FFF2-40B4-BE49-F238E27FC236}">
                <a16:creationId xmlns:a16="http://schemas.microsoft.com/office/drawing/2014/main" id="{468D9CEC-53B7-B8DC-B77E-E3F86681879C}"/>
              </a:ext>
            </a:extLst>
          </p:cNvPr>
          <p:cNvSpPr/>
          <p:nvPr userDrawn="1"/>
        </p:nvSpPr>
        <p:spPr>
          <a:xfrm>
            <a:off x="2336512" y="-9525"/>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1">
            <a:extLst>
              <a:ext uri="{FF2B5EF4-FFF2-40B4-BE49-F238E27FC236}">
                <a16:creationId xmlns:a16="http://schemas.microsoft.com/office/drawing/2014/main" id="{9222D4D6-56B1-C4C3-0E51-FB22F0CD902B}"/>
              </a:ext>
            </a:extLst>
          </p:cNvPr>
          <p:cNvSpPr/>
          <p:nvPr userDrawn="1"/>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0E6292F0-9E78-C98C-097B-30DEBBC1B179}"/>
              </a:ext>
            </a:extLst>
          </p:cNvPr>
          <p:cNvSpPr/>
          <p:nvPr userDrawn="1"/>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2">
            <a:extLst>
              <a:ext uri="{FF2B5EF4-FFF2-40B4-BE49-F238E27FC236}">
                <a16:creationId xmlns:a16="http://schemas.microsoft.com/office/drawing/2014/main" id="{315817B3-76DB-FDD0-60F7-E385C0E84F58}"/>
              </a:ext>
            </a:extLst>
          </p:cNvPr>
          <p:cNvSpPr/>
          <p:nvPr userDrawn="1"/>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Tree>
    <p:extLst>
      <p:ext uri="{BB962C8B-B14F-4D97-AF65-F5344CB8AC3E}">
        <p14:creationId xmlns:p14="http://schemas.microsoft.com/office/powerpoint/2010/main" val="389171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endParaRPr lang="en-US" altLang="zh-CN"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72" r:id="rId9"/>
    <p:sldLayoutId id="2147483673" r:id="rId10"/>
    <p:sldLayoutId id="2147483653" r:id="rId11"/>
    <p:sldLayoutId id="2147483663" r:id="rId12"/>
    <p:sldLayoutId id="2147483665" r:id="rId13"/>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hyperlink" Target="https://jjeongil.tistory.com/2892" TargetMode="External"/><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1" y="731520"/>
            <a:ext cx="5433489" cy="3291840"/>
          </a:xfrm>
        </p:spPr>
        <p:txBody>
          <a:bodyPr lIns="0" anchor="b" anchorCtr="0">
            <a:normAutofit/>
          </a:bodyPr>
          <a:lstStyle/>
          <a:p>
            <a:r>
              <a:rPr lang="en-US" sz="3600" dirty="0"/>
              <a:t>Working With AI Tools</a:t>
            </a: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a:t>Session – 1 </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Agenda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3023420" y="2523448"/>
            <a:ext cx="8254180" cy="3282992"/>
          </a:xfrm>
        </p:spPr>
        <p:txBody>
          <a:bodyPr anchor="t" anchorCtr="0">
            <a:normAutofit/>
          </a:bodyPr>
          <a:lstStyle/>
          <a:p>
            <a:r>
              <a:rPr lang="en-US" sz="2400" b="1" dirty="0"/>
              <a:t>Prompt Engineering</a:t>
            </a:r>
          </a:p>
          <a:p>
            <a:r>
              <a:rPr lang="en-US" sz="2400" b="1" dirty="0"/>
              <a:t>Anatomy of Effective Prompts</a:t>
            </a:r>
          </a:p>
          <a:p>
            <a:r>
              <a:rPr lang="en-US" sz="2400" b="1" dirty="0"/>
              <a:t>Core Prompting Techniques </a:t>
            </a:r>
          </a:p>
          <a:p>
            <a:r>
              <a:rPr lang="en-US" sz="2400" b="1" dirty="0"/>
              <a:t>Controlling of Prompt Output</a:t>
            </a:r>
          </a:p>
          <a:p>
            <a:r>
              <a:rPr lang="en-US" sz="2400" b="1" dirty="0"/>
              <a:t>Debugging and Iteration</a:t>
            </a:r>
          </a:p>
          <a:p>
            <a:r>
              <a:rPr lang="en-US" sz="2400" b="1" dirty="0"/>
              <a:t>Hands on Lab – Reduce Hallucinations, Common Pitfalls</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731520"/>
            <a:ext cx="5029200" cy="3291840"/>
          </a:xfrm>
        </p:spPr>
        <p:txBody>
          <a:bodyPr lIns="0" anchor="b" anchorCtr="0"/>
          <a:lstStyle/>
          <a:p>
            <a:r>
              <a:rPr lang="en-US" dirty="0"/>
              <a:t>Prompt Engineering</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6" y="4172084"/>
            <a:ext cx="4910328" cy="1005840"/>
          </a:xfrm>
        </p:spPr>
        <p:txBody>
          <a:bodyPr/>
          <a:lstStyle/>
          <a:p>
            <a:r>
              <a:rPr lang="en-US" dirty="0"/>
              <a:t>Navigating the future</a:t>
            </a:r>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14400" y="2487168"/>
            <a:ext cx="4572000" cy="3383280"/>
          </a:xfrm>
          <a:noFill/>
        </p:spPr>
        <p:txBody>
          <a:bodyPr anchor="t" anchorCtr="0">
            <a:noAutofit/>
          </a:bodyPr>
          <a:lstStyle/>
          <a:p>
            <a:r>
              <a:rPr lang="en-US" dirty="0"/>
              <a:t>How LLMs read a Prompt </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5235677" y="2487168"/>
            <a:ext cx="6636775" cy="3383280"/>
          </a:xfrm>
          <a:noFill/>
        </p:spPr>
        <p:txBody>
          <a:bodyPr>
            <a:normAutofit/>
          </a:bodyPr>
          <a:lstStyle/>
          <a:p>
            <a:r>
              <a:rPr lang="en-US" dirty="0"/>
              <a:t>To build a highly accurate model with LLM, the relationship between </a:t>
            </a:r>
            <a:r>
              <a:rPr lang="en-US" b="1" dirty="0"/>
              <a:t>Tokens</a:t>
            </a:r>
            <a:r>
              <a:rPr lang="en-US" dirty="0"/>
              <a:t>, </a:t>
            </a:r>
            <a:r>
              <a:rPr lang="en-US" b="1" dirty="0"/>
              <a:t>Context Window management</a:t>
            </a:r>
            <a:r>
              <a:rPr lang="en-US" dirty="0"/>
              <a:t>, and </a:t>
            </a:r>
            <a:r>
              <a:rPr lang="en-US" b="1" dirty="0"/>
              <a:t>Prompt Engineering should be optimized</a:t>
            </a:r>
            <a:endParaRPr lang="en-US" dirty="0"/>
          </a:p>
          <a:p>
            <a:r>
              <a:rPr lang="en-US" dirty="0"/>
              <a:t>An accurate model relies on maximizing the </a:t>
            </a:r>
            <a:r>
              <a:rPr lang="en-US" b="1" dirty="0"/>
              <a:t>signal-to-noise ratio</a:t>
            </a:r>
            <a:r>
              <a:rPr lang="en-US" dirty="0"/>
              <a:t> within the context window while phrasing prompts in a way that aligns with how the LLM computes probabilities.</a:t>
            </a:r>
          </a:p>
          <a:p>
            <a:pPr marL="0" indent="0">
              <a:buNone/>
            </a:pPr>
            <a:endParaRPr lang="en-US" dirty="0"/>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4</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1143000" y="3200400"/>
            <a:ext cx="5029200" cy="2743200"/>
          </a:xfrm>
        </p:spPr>
        <p:txBody>
          <a:bodyPr lIns="0" anchor="t" anchorCtr="0"/>
          <a:lstStyle/>
          <a:p>
            <a:r>
              <a:rPr lang="en-US" dirty="0"/>
              <a:t>Token Optimization &amp; Cost Efficiency</a:t>
            </a:r>
          </a:p>
        </p:txBody>
      </p:sp>
      <p:sp>
        <p:nvSpPr>
          <p:cNvPr id="3" name="Text Placeholder 2">
            <a:extLst>
              <a:ext uri="{FF2B5EF4-FFF2-40B4-BE49-F238E27FC236}">
                <a16:creationId xmlns:a16="http://schemas.microsoft.com/office/drawing/2014/main" id="{2A399339-FABF-04A2-4090-C38B947B2B8B}"/>
              </a:ext>
            </a:extLst>
          </p:cNvPr>
          <p:cNvSpPr>
            <a:spLocks noGrp="1"/>
          </p:cNvSpPr>
          <p:nvPr>
            <p:ph type="body" sz="quarter" idx="28"/>
          </p:nvPr>
        </p:nvSpPr>
        <p:spPr>
          <a:xfrm>
            <a:off x="1261872" y="2240280"/>
            <a:ext cx="5029200" cy="760288"/>
          </a:xfrm>
        </p:spPr>
        <p:txBody>
          <a:bodyPr anchor="b" anchorCtr="0"/>
          <a:lstStyle/>
          <a:p>
            <a:r>
              <a:rPr lang="en-US" dirty="0"/>
              <a:t>Unlocking new horizons</a:t>
            </a:r>
          </a:p>
        </p:txBody>
      </p:sp>
      <p:pic>
        <p:nvPicPr>
          <p:cNvPr id="12" name="Picture Placeholder 11" descr="A person sitting at their deck and a person walking to their desk">
            <a:extLst>
              <a:ext uri="{FF2B5EF4-FFF2-40B4-BE49-F238E27FC236}">
                <a16:creationId xmlns:a16="http://schemas.microsoft.com/office/drawing/2014/main" id="{7372550F-E2C0-2C0B-0ABA-5672CEBF71D0}"/>
              </a:ext>
            </a:extLst>
          </p:cNvPr>
          <p:cNvPicPr>
            <a:picLocks noGrp="1" noChangeAspect="1"/>
          </p:cNvPicPr>
          <p:nvPr>
            <p:ph type="pic" sz="quarter" idx="47"/>
          </p:nvPr>
        </p:nvPicPr>
        <p:blipFill>
          <a:blip r:embed="rId2"/>
          <a:srcRect l="10" r="10"/>
          <a:stretch/>
        </p:blipFill>
        <p:spPr>
          <a:xfrm>
            <a:off x="7493157" y="529148"/>
            <a:ext cx="4248873" cy="4731130"/>
          </a:xfrm>
        </p:spPr>
      </p:pic>
    </p:spTree>
    <p:extLst>
      <p:ext uri="{BB962C8B-B14F-4D97-AF65-F5344CB8AC3E}">
        <p14:creationId xmlns:p14="http://schemas.microsoft.com/office/powerpoint/2010/main" val="2735087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13E0F-B53B-B2C1-C72B-7680C14F55D2}"/>
              </a:ext>
            </a:extLst>
          </p:cNvPr>
          <p:cNvSpPr>
            <a:spLocks noGrp="1"/>
          </p:cNvSpPr>
          <p:nvPr>
            <p:ph type="title"/>
          </p:nvPr>
        </p:nvSpPr>
        <p:spPr>
          <a:xfrm>
            <a:off x="1142999" y="3200400"/>
            <a:ext cx="5906729" cy="2802194"/>
          </a:xfrm>
        </p:spPr>
        <p:txBody>
          <a:bodyPr>
            <a:normAutofit fontScale="90000"/>
          </a:bodyPr>
          <a:lstStyle/>
          <a:p>
            <a:pPr marL="457200" indent="-457200">
              <a:buFont typeface="Arial" panose="020B0604020202020204" pitchFamily="34" charset="0"/>
              <a:buChar char="•"/>
            </a:pPr>
            <a:r>
              <a:rPr lang="en-US" sz="2400" dirty="0">
                <a:latin typeface="Abadi" panose="020B0604020104020204" pitchFamily="34" charset="0"/>
              </a:rPr>
              <a:t>The Token Ratio – </a:t>
            </a:r>
            <a:r>
              <a:rPr lang="en-US" sz="1600" dirty="0">
                <a:latin typeface="Abadi" panose="020B0604020104020204" pitchFamily="34" charset="0"/>
              </a:rPr>
              <a:t>100 English words ~ 130 Tokens. Non-English words, code blocks and special characters take up more tokens per word. </a:t>
            </a:r>
            <a:br>
              <a:rPr lang="en-US" sz="1600" dirty="0">
                <a:latin typeface="Abadi" panose="020B0604020104020204" pitchFamily="34" charset="0"/>
              </a:rPr>
            </a:br>
            <a:br>
              <a:rPr lang="en-US" sz="1600" dirty="0">
                <a:latin typeface="Abadi" panose="020B0604020104020204" pitchFamily="34" charset="0"/>
              </a:rPr>
            </a:br>
            <a:r>
              <a:rPr lang="en-US" sz="2400" dirty="0">
                <a:latin typeface="Abadi" panose="020B0604020104020204" pitchFamily="34" charset="0"/>
              </a:rPr>
              <a:t>Granular Tracking </a:t>
            </a:r>
            <a:r>
              <a:rPr lang="en-US" sz="1600" dirty="0">
                <a:latin typeface="Abadi" panose="020B0604020104020204" pitchFamily="34" charset="0"/>
              </a:rPr>
              <a:t>– Monitor the input token count with Token Library e.g. OpenAI supports </a:t>
            </a:r>
            <a:r>
              <a:rPr lang="en-US" sz="1600" b="0" i="1" dirty="0" err="1">
                <a:latin typeface="Abadi" panose="020B0604020104020204" pitchFamily="34" charset="0"/>
              </a:rPr>
              <a:t>tiktoken</a:t>
            </a:r>
            <a:r>
              <a:rPr lang="en-US" sz="1600" b="0" i="1" dirty="0">
                <a:latin typeface="Abadi" panose="020B0604020104020204" pitchFamily="34" charset="0"/>
              </a:rPr>
              <a:t> </a:t>
            </a:r>
            <a:r>
              <a:rPr lang="en-US" sz="1600" dirty="0">
                <a:latin typeface="Abadi" panose="020B0604020104020204" pitchFamily="34" charset="0"/>
              </a:rPr>
              <a:t>or </a:t>
            </a:r>
            <a:r>
              <a:rPr lang="en-US" sz="1600" b="0" i="1" dirty="0">
                <a:latin typeface="Abadi" panose="020B0604020104020204" pitchFamily="34" charset="0"/>
              </a:rPr>
              <a:t>anthropic-tokenizer</a:t>
            </a:r>
            <a:r>
              <a:rPr lang="en-US" sz="1600" dirty="0">
                <a:latin typeface="Abadi" panose="020B0604020104020204" pitchFamily="34" charset="0"/>
              </a:rPr>
              <a:t> (Claude). </a:t>
            </a:r>
            <a:br>
              <a:rPr lang="en-US" sz="1600" dirty="0">
                <a:latin typeface="Abadi" panose="020B0604020104020204" pitchFamily="34" charset="0"/>
              </a:rPr>
            </a:br>
            <a:br>
              <a:rPr lang="en-US" sz="1600" dirty="0">
                <a:latin typeface="Abadi" panose="020B0604020104020204" pitchFamily="34" charset="0"/>
              </a:rPr>
            </a:br>
            <a:r>
              <a:rPr lang="en-US" sz="2400" dirty="0">
                <a:latin typeface="Abadi" panose="020B0604020104020204" pitchFamily="34" charset="0"/>
              </a:rPr>
              <a:t>Stop Sequences </a:t>
            </a:r>
            <a:r>
              <a:rPr lang="en-US" sz="1600" dirty="0">
                <a:latin typeface="Abadi" panose="020B0604020104020204" pitchFamily="34" charset="0"/>
              </a:rPr>
              <a:t>– Implementation of explicit stop token to prevent unnecessary fillers to overcome wastage of tokens and output precision</a:t>
            </a:r>
            <a:br>
              <a:rPr lang="en-US" sz="1600" dirty="0">
                <a:latin typeface="Abadi" panose="020B0604020104020204" pitchFamily="34" charset="0"/>
              </a:rPr>
            </a:br>
            <a:br>
              <a:rPr lang="en-US" sz="1600" dirty="0">
                <a:latin typeface="Abadi" panose="020B0604020104020204" pitchFamily="34" charset="0"/>
              </a:rPr>
            </a:br>
            <a:endParaRPr lang="en-US" sz="1600" dirty="0">
              <a:latin typeface="Abadi" panose="020B0604020104020204" pitchFamily="34" charset="0"/>
            </a:endParaRPr>
          </a:p>
        </p:txBody>
      </p:sp>
      <p:pic>
        <p:nvPicPr>
          <p:cNvPr id="6" name="Picture Placeholder 5">
            <a:extLst>
              <a:ext uri="{FF2B5EF4-FFF2-40B4-BE49-F238E27FC236}">
                <a16:creationId xmlns:a16="http://schemas.microsoft.com/office/drawing/2014/main" id="{8CA897D2-5A78-B32C-9891-6D8CFA9AE99D}"/>
              </a:ext>
            </a:extLst>
          </p:cNvPr>
          <p:cNvPicPr>
            <a:picLocks noGrp="1" noChangeAspect="1"/>
          </p:cNvPicPr>
          <p:nvPr>
            <p:ph type="pic" sz="quarter" idx="47"/>
          </p:nvPr>
        </p:nvPicPr>
        <p:blipFill>
          <a:blip r:embed="rId2">
            <a:extLst>
              <a:ext uri="{837473B0-CC2E-450A-ABE3-18F120FF3D39}">
                <a1611:picAttrSrcUrl xmlns:a1611="http://schemas.microsoft.com/office/drawing/2016/11/main" r:id="rId3"/>
              </a:ext>
            </a:extLst>
          </a:blip>
          <a:srcRect l="5099" r="5099"/>
          <a:stretch>
            <a:fillRect/>
          </a:stretch>
        </p:blipFill>
        <p:spPr/>
      </p:pic>
      <p:sp>
        <p:nvSpPr>
          <p:cNvPr id="4" name="Text Placeholder 3">
            <a:extLst>
              <a:ext uri="{FF2B5EF4-FFF2-40B4-BE49-F238E27FC236}">
                <a16:creationId xmlns:a16="http://schemas.microsoft.com/office/drawing/2014/main" id="{37AC8F39-4683-A5A9-64A9-A04F45EC4963}"/>
              </a:ext>
            </a:extLst>
          </p:cNvPr>
          <p:cNvSpPr>
            <a:spLocks noGrp="1"/>
          </p:cNvSpPr>
          <p:nvPr>
            <p:ph type="body" sz="quarter" idx="28"/>
          </p:nvPr>
        </p:nvSpPr>
        <p:spPr/>
        <p:txBody>
          <a:bodyPr/>
          <a:lstStyle/>
          <a:p>
            <a:r>
              <a:rPr lang="en-US" dirty="0"/>
              <a:t>LLMs don’t read words, they process word fragments called Tokens</a:t>
            </a:r>
          </a:p>
        </p:txBody>
      </p:sp>
    </p:spTree>
    <p:extLst>
      <p:ext uri="{BB962C8B-B14F-4D97-AF65-F5344CB8AC3E}">
        <p14:creationId xmlns:p14="http://schemas.microsoft.com/office/powerpoint/2010/main" val="1731376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3EC2E-10C4-8FEA-82E9-50699BB4C6B0}"/>
              </a:ext>
            </a:extLst>
          </p:cNvPr>
          <p:cNvSpPr>
            <a:spLocks noGrp="1"/>
          </p:cNvSpPr>
          <p:nvPr>
            <p:ph type="title"/>
          </p:nvPr>
        </p:nvSpPr>
        <p:spPr>
          <a:xfrm>
            <a:off x="914400" y="2487168"/>
            <a:ext cx="4572000" cy="3383280"/>
          </a:xfrm>
        </p:spPr>
        <p:txBody>
          <a:bodyPr>
            <a:normAutofit/>
          </a:bodyPr>
          <a:lstStyle/>
          <a:p>
            <a:r>
              <a:rPr lang="en-US" dirty="0"/>
              <a:t>Context Window Management</a:t>
            </a:r>
            <a:br>
              <a:rPr lang="en-US" dirty="0"/>
            </a:br>
            <a:br>
              <a:rPr lang="en-US" dirty="0"/>
            </a:br>
            <a:r>
              <a:rPr lang="en-US" sz="1800" b="0" dirty="0"/>
              <a:t>Total Memory space available between input prompt and output </a:t>
            </a:r>
            <a:endParaRPr lang="en-US" sz="1800" dirty="0"/>
          </a:p>
        </p:txBody>
      </p:sp>
      <p:sp>
        <p:nvSpPr>
          <p:cNvPr id="4" name="Text Placeholder 3">
            <a:extLst>
              <a:ext uri="{FF2B5EF4-FFF2-40B4-BE49-F238E27FC236}">
                <a16:creationId xmlns:a16="http://schemas.microsoft.com/office/drawing/2014/main" id="{BC834571-380C-FB36-37AF-13E2486111D2}"/>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6217920" y="2487168"/>
            <a:ext cx="5029200" cy="3383280"/>
          </a:xfrm>
        </p:spPr>
        <p:txBody>
          <a:bodyPr>
            <a:normAutofit/>
          </a:bodyPr>
          <a:lstStyle/>
          <a:p>
            <a:pPr marL="0" lvl="0" indent="0">
              <a:spcBef>
                <a:spcPts val="2500"/>
              </a:spcBef>
              <a:buFont typeface="Arial" panose="020B0604020202020204" pitchFamily="34" charset="0"/>
              <a:buNone/>
            </a:pPr>
            <a:r>
              <a:rPr lang="en-US" sz="1200" b="1" dirty="0"/>
              <a:t>The ‘Lost in Middle’ phenomenon</a:t>
            </a:r>
          </a:p>
          <a:p>
            <a:pPr marL="0" lvl="1" indent="0">
              <a:buFont typeface="Arial" panose="020B0604020202020204" pitchFamily="34" charset="0"/>
              <a:buNone/>
            </a:pPr>
            <a:r>
              <a:rPr lang="en-US" sz="1200" dirty="0"/>
              <a:t>Give general information about this topic to add depth and clarity. Write short, interesting reference points that don’t need to be read aloud.​</a:t>
            </a:r>
          </a:p>
          <a:p>
            <a:pPr marL="0" lvl="0" indent="0">
              <a:spcBef>
                <a:spcPts val="2500"/>
              </a:spcBef>
              <a:buFont typeface="Arial" panose="020B0604020202020204" pitchFamily="34" charset="0"/>
              <a:buNone/>
            </a:pPr>
            <a:r>
              <a:rPr lang="en-US" sz="1200" b="1" dirty="0"/>
              <a:t>Add a subtitle</a:t>
            </a:r>
          </a:p>
          <a:p>
            <a:pPr marL="0" lvl="1" indent="0">
              <a:buFont typeface="Arial" panose="020B0604020202020204" pitchFamily="34" charset="0"/>
              <a:buNone/>
            </a:pPr>
            <a:r>
              <a:rPr lang="en-US" sz="1200" dirty="0"/>
              <a:t>Give general information about this topic to add depth and clarity. Write short, interesting reference points that don’t need to be read aloud.​</a:t>
            </a:r>
          </a:p>
          <a:p>
            <a:pPr marL="0" lvl="0" indent="0">
              <a:spcBef>
                <a:spcPts val="2500"/>
              </a:spcBef>
              <a:buFont typeface="Arial" panose="020B0604020202020204" pitchFamily="34" charset="0"/>
              <a:buNone/>
            </a:pPr>
            <a:r>
              <a:rPr lang="en-US" sz="1200" b="1" dirty="0"/>
              <a:t>Add a subtitle​</a:t>
            </a:r>
          </a:p>
          <a:p>
            <a:pPr marL="0" lvl="1" indent="0">
              <a:buFont typeface="Arial" panose="020B0604020202020204" pitchFamily="34" charset="0"/>
              <a:buNone/>
            </a:pPr>
            <a:r>
              <a:rPr lang="en-US" sz="1200" dirty="0"/>
              <a:t>Give general information about this topic to add depth and clarity. Write short, interesting reference points that don’t need to be read aloud.​</a:t>
            </a:r>
          </a:p>
        </p:txBody>
      </p:sp>
      <p:sp>
        <p:nvSpPr>
          <p:cNvPr id="9" name="Slide Number Placeholder 3">
            <a:extLst>
              <a:ext uri="{FF2B5EF4-FFF2-40B4-BE49-F238E27FC236}">
                <a16:creationId xmlns:a16="http://schemas.microsoft.com/office/drawing/2014/main" id="{9A11A463-A188-380B-759C-9171903AF3A2}"/>
              </a:ext>
            </a:extLst>
          </p:cNvPr>
          <p:cNvSpPr>
            <a:spLocks noGrp="1"/>
          </p:cNvSpPr>
          <p:nvPr>
            <p:ph type="sldNum" sz="quarter" idx="12"/>
          </p:nvPr>
        </p:nvSpPr>
        <p:spPr>
          <a:xfrm>
            <a:off x="11194169" y="6217920"/>
            <a:ext cx="458592" cy="365125"/>
          </a:xfrm>
        </p:spPr>
        <p:txBody>
          <a:bodyPr/>
          <a:lstStyle/>
          <a:p>
            <a:pPr>
              <a:spcAft>
                <a:spcPts val="600"/>
              </a:spcAft>
            </a:pPr>
            <a:fld id="{69E57DC2-970A-4B3E-BB1C-7A09969E49DF}" type="slidenum">
              <a:rPr lang="en-US" smtClean="0"/>
              <a:pPr>
                <a:spcAft>
                  <a:spcPts val="600"/>
                </a:spcAft>
              </a:pPr>
              <a:t>7</a:t>
            </a:fld>
            <a:endParaRPr lang="en-US"/>
          </a:p>
        </p:txBody>
      </p:sp>
    </p:spTree>
    <p:extLst>
      <p:ext uri="{BB962C8B-B14F-4D97-AF65-F5344CB8AC3E}">
        <p14:creationId xmlns:p14="http://schemas.microsoft.com/office/powerpoint/2010/main" val="1561556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914400" y="731520"/>
            <a:ext cx="4663440" cy="1737360"/>
          </a:xfrm>
        </p:spPr>
        <p:txBody>
          <a:bodyPr/>
          <a:lstStyle/>
          <a:p>
            <a:r>
              <a:rPr lang="en-US" dirty="0"/>
              <a:t>Anatomy of Effective</a:t>
            </a:r>
            <a:br>
              <a:rPr lang="en-US" dirty="0"/>
            </a:br>
            <a:r>
              <a:rPr lang="en-US" dirty="0"/>
              <a:t>Prompt</a:t>
            </a:r>
          </a:p>
        </p:txBody>
      </p:sp>
      <p:sp>
        <p:nvSpPr>
          <p:cNvPr id="10" name="Content Placeholder 9">
            <a:extLst>
              <a:ext uri="{FF2B5EF4-FFF2-40B4-BE49-F238E27FC236}">
                <a16:creationId xmlns:a16="http://schemas.microsoft.com/office/drawing/2014/main" id="{633B199B-AFAF-FCA4-CEA7-D9E73D7079E5}"/>
              </a:ext>
            </a:extLst>
          </p:cNvPr>
          <p:cNvSpPr>
            <a:spLocks noGrp="1"/>
          </p:cNvSpPr>
          <p:nvPr>
            <p:ph idx="1"/>
          </p:nvPr>
        </p:nvSpPr>
        <p:spPr>
          <a:xfrm>
            <a:off x="5852160" y="731520"/>
            <a:ext cx="5486400" cy="1737360"/>
          </a:xfrm>
        </p:spPr>
        <p:txBody>
          <a:bodyPr>
            <a:normAutofit fontScale="92500" lnSpcReduction="10000"/>
          </a:bodyPr>
          <a:lstStyle/>
          <a:p>
            <a:r>
              <a:rPr lang="en-US" dirty="0"/>
              <a:t>An </a:t>
            </a:r>
            <a:r>
              <a:rPr lang="en-US" b="1" dirty="0"/>
              <a:t>effective prompt functions like a project brief for a smart teammate</a:t>
            </a:r>
          </a:p>
          <a:p>
            <a:r>
              <a:rPr lang="en-US" dirty="0"/>
              <a:t>it eliminates ambiguity by providing exact boundaries and instructions.</a:t>
            </a:r>
          </a:p>
          <a:p>
            <a:r>
              <a:rPr lang="en-US" dirty="0"/>
              <a:t>Effective Prompt = Role + Context + Task + Constraints + Output Format + Examples</a:t>
            </a:r>
          </a:p>
        </p:txBody>
      </p:sp>
      <p:graphicFrame>
        <p:nvGraphicFramePr>
          <p:cNvPr id="11" name="Table Placeholder 6" descr="A timeline of the product launch">
            <a:extLst>
              <a:ext uri="{FF2B5EF4-FFF2-40B4-BE49-F238E27FC236}">
                <a16:creationId xmlns:a16="http://schemas.microsoft.com/office/drawing/2014/main" id="{A9E2E0E1-AAB8-A475-781D-7E66AD5CFE21}"/>
              </a:ext>
            </a:extLst>
          </p:cNvPr>
          <p:cNvGraphicFramePr>
            <a:graphicFrameLocks noGrp="1"/>
          </p:cNvGraphicFramePr>
          <p:nvPr>
            <p:ph idx="30"/>
            <p:extLst>
              <p:ext uri="{D42A27DB-BD31-4B8C-83A1-F6EECF244321}">
                <p14:modId xmlns:p14="http://schemas.microsoft.com/office/powerpoint/2010/main" val="3216867364"/>
              </p:ext>
            </p:extLst>
          </p:nvPr>
        </p:nvGraphicFramePr>
        <p:xfrm>
          <a:off x="914400" y="2341563"/>
          <a:ext cx="8348663" cy="3775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8</a:t>
            </a:fld>
            <a:endParaRPr lang="en-US" altLang="zh-CN" noProof="0" dirty="0"/>
          </a:p>
        </p:txBody>
      </p:sp>
    </p:spTree>
    <p:extLst>
      <p:ext uri="{BB962C8B-B14F-4D97-AF65-F5344CB8AC3E}">
        <p14:creationId xmlns:p14="http://schemas.microsoft.com/office/powerpoint/2010/main" val="1246021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914400" y="731520"/>
            <a:ext cx="3931920" cy="2103120"/>
          </a:xfrm>
        </p:spPr>
        <p:txBody>
          <a:bodyPr anchor="b" anchorCtr="0"/>
          <a:lstStyle/>
          <a:p>
            <a:r>
              <a:rPr lang="en-US" dirty="0"/>
              <a:t>The 6 Core Building Blocks</a:t>
            </a:r>
          </a:p>
        </p:txBody>
      </p:sp>
      <p:sp>
        <p:nvSpPr>
          <p:cNvPr id="20" name="Text Placeholder 19">
            <a:extLst>
              <a:ext uri="{FF2B5EF4-FFF2-40B4-BE49-F238E27FC236}">
                <a16:creationId xmlns:a16="http://schemas.microsoft.com/office/drawing/2014/main" id="{CC0093B1-77CC-1E61-FB22-E136F94EABD2}"/>
              </a:ext>
            </a:extLst>
          </p:cNvPr>
          <p:cNvSpPr>
            <a:spLocks noGrp="1"/>
          </p:cNvSpPr>
          <p:nvPr>
            <p:ph idx="1"/>
          </p:nvPr>
        </p:nvSpPr>
        <p:spPr>
          <a:xfrm>
            <a:off x="914400" y="3108960"/>
            <a:ext cx="3931920" cy="2651760"/>
          </a:xfrm>
        </p:spPr>
        <p:txBody>
          <a:bodyPr>
            <a:normAutofit/>
          </a:bodyPr>
          <a:lstStyle/>
          <a:p>
            <a:r>
              <a:rPr lang="en-US" dirty="0"/>
              <a:t>Role(Persona)</a:t>
            </a:r>
          </a:p>
          <a:p>
            <a:r>
              <a:rPr lang="en-US" dirty="0"/>
              <a:t>Context</a:t>
            </a:r>
          </a:p>
          <a:p>
            <a:r>
              <a:rPr lang="en-US" dirty="0"/>
              <a:t>Task(Instruction)</a:t>
            </a:r>
          </a:p>
          <a:p>
            <a:r>
              <a:rPr lang="en-US" dirty="0"/>
              <a:t>Constraints</a:t>
            </a:r>
          </a:p>
          <a:p>
            <a:r>
              <a:rPr lang="en-US" dirty="0"/>
              <a:t>Output format</a:t>
            </a:r>
          </a:p>
          <a:p>
            <a:r>
              <a:rPr lang="en-US" dirty="0"/>
              <a:t>Examples (Few-shot)</a:t>
            </a:r>
          </a:p>
        </p:txBody>
      </p:sp>
      <p:pic>
        <p:nvPicPr>
          <p:cNvPr id="12" name="Picture Placeholder 11" descr="Three people having a discussion at a table">
            <a:extLst>
              <a:ext uri="{FF2B5EF4-FFF2-40B4-BE49-F238E27FC236}">
                <a16:creationId xmlns:a16="http://schemas.microsoft.com/office/drawing/2014/main" id="{8C4B5C6A-45B4-1976-622A-4CEB4E3211BC}"/>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9</a:t>
            </a:fld>
            <a:endParaRPr lang="en-US" altLang="zh-CN" noProof="0" dirty="0"/>
          </a:p>
        </p:txBody>
      </p:sp>
    </p:spTree>
    <p:extLst>
      <p:ext uri="{BB962C8B-B14F-4D97-AF65-F5344CB8AC3E}">
        <p14:creationId xmlns:p14="http://schemas.microsoft.com/office/powerpoint/2010/main" val="77554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FFA50DF-F8D0-EEAF-0638-F28084DC6FC8}"/>
              </a:ext>
            </a:extLst>
          </p:cNvPr>
          <p:cNvSpPr>
            <a:spLocks noGrp="1"/>
          </p:cNvSpPr>
          <p:nvPr>
            <p:ph type="title"/>
          </p:nvPr>
        </p:nvSpPr>
        <p:spPr>
          <a:xfrm>
            <a:off x="5998464" y="731520"/>
            <a:ext cx="5029200" cy="2087880"/>
          </a:xfrm>
        </p:spPr>
        <p:txBody>
          <a:bodyPr/>
          <a:lstStyle/>
          <a:p>
            <a:r>
              <a:rPr lang="en-US" dirty="0"/>
              <a:t>3 Rules for Prompt Mastery</a:t>
            </a:r>
          </a:p>
        </p:txBody>
      </p:sp>
      <p:sp>
        <p:nvSpPr>
          <p:cNvPr id="7" name="Text Placeholder 6">
            <a:extLst>
              <a:ext uri="{FF2B5EF4-FFF2-40B4-BE49-F238E27FC236}">
                <a16:creationId xmlns:a16="http://schemas.microsoft.com/office/drawing/2014/main" id="{F8E09D42-DDF3-7694-BDDA-0EBA1CF7FAFB}"/>
              </a:ext>
            </a:extLst>
          </p:cNvPr>
          <p:cNvSpPr>
            <a:spLocks noGrp="1"/>
          </p:cNvSpPr>
          <p:nvPr>
            <p:ph type="body" sz="quarter" idx="28"/>
          </p:nvPr>
        </p:nvSpPr>
        <p:spPr>
          <a:xfrm>
            <a:off x="6117336" y="3090044"/>
            <a:ext cx="5236464" cy="3310756"/>
          </a:xfrm>
        </p:spPr>
        <p:txBody>
          <a:bodyPr>
            <a:normAutofit fontScale="92500" lnSpcReduction="10000"/>
          </a:bodyPr>
          <a:lstStyle/>
          <a:p>
            <a:pPr marL="285750" indent="-285750">
              <a:buFontTx/>
              <a:buChar char="-"/>
            </a:pPr>
            <a:r>
              <a:rPr lang="en-US" dirty="0"/>
              <a:t>Order Matters -&gt; Lead with the Role, then the Task, followed by Context, Constraints, and finally the Format</a:t>
            </a:r>
          </a:p>
          <a:p>
            <a:pPr marL="285750" indent="-285750">
              <a:buFontTx/>
              <a:buChar char="-"/>
            </a:pPr>
            <a:endParaRPr lang="en-US" dirty="0"/>
          </a:p>
          <a:p>
            <a:pPr marL="285750" indent="-285750">
              <a:buFontTx/>
              <a:buChar char="-"/>
            </a:pPr>
            <a:r>
              <a:rPr lang="en-US" dirty="0"/>
              <a:t>Be Specific, Not Verbose -&gt; Adding random filler words confuses the engine. Priorities precise adjectives, exact numeric constraints</a:t>
            </a:r>
          </a:p>
          <a:p>
            <a:pPr marL="285750" indent="-285750">
              <a:buFontTx/>
              <a:buChar char="-"/>
            </a:pPr>
            <a:r>
              <a:rPr lang="en-US" dirty="0"/>
              <a:t>Prompting is essential -&gt; Treat it as an iterative process—start broad, analyze the AI's response, and chip away at it by feeding it follow-up constraints or clarifications</a:t>
            </a:r>
          </a:p>
        </p:txBody>
      </p:sp>
      <p:sp>
        <p:nvSpPr>
          <p:cNvPr id="5" name="Slide Number Placeholder 4">
            <a:extLst>
              <a:ext uri="{FF2B5EF4-FFF2-40B4-BE49-F238E27FC236}">
                <a16:creationId xmlns:a16="http://schemas.microsoft.com/office/drawing/2014/main" id="{F82F7028-EAF6-E185-E7AE-0D043557EFA1}"/>
              </a:ext>
            </a:extLst>
          </p:cNvPr>
          <p:cNvSpPr>
            <a:spLocks noGrp="1"/>
          </p:cNvSpPr>
          <p:nvPr>
            <p:ph type="sldNum" sz="quarter" idx="4294967295"/>
          </p:nvPr>
        </p:nvSpPr>
        <p:spPr>
          <a:xfrm>
            <a:off x="11733213" y="6218238"/>
            <a:ext cx="458787" cy="365125"/>
          </a:xfrm>
        </p:spPr>
        <p:txBody>
          <a:bodyPr/>
          <a:lstStyle/>
          <a:p>
            <a:fld id="{47FEACEE-25B4-4A2D-B147-27296E36371D}" type="slidenum">
              <a:rPr lang="en-US" altLang="zh-CN" noProof="0" smtClean="0"/>
              <a:pPr/>
              <a:t>10</a:t>
            </a:fld>
            <a:endParaRPr lang="en-US" altLang="zh-CN" noProof="0" dirty="0"/>
          </a:p>
        </p:txBody>
      </p:sp>
    </p:spTree>
    <p:extLst>
      <p:ext uri="{BB962C8B-B14F-4D97-AF65-F5344CB8AC3E}">
        <p14:creationId xmlns:p14="http://schemas.microsoft.com/office/powerpoint/2010/main" val="3346871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914400" y="1060704"/>
            <a:ext cx="7132320" cy="1773936"/>
          </a:xfrm>
        </p:spPr>
        <p:txBody>
          <a:bodyPr/>
          <a:lstStyle/>
          <a:p>
            <a:r>
              <a:rPr lang="en-US" dirty="0"/>
              <a:t>The Reusable Template</a:t>
            </a:r>
          </a:p>
        </p:txBody>
      </p:sp>
      <p:sp>
        <p:nvSpPr>
          <p:cNvPr id="43" name="Text Placeholder 42">
            <a:extLst>
              <a:ext uri="{FF2B5EF4-FFF2-40B4-BE49-F238E27FC236}">
                <a16:creationId xmlns:a16="http://schemas.microsoft.com/office/drawing/2014/main" id="{520E98B6-7B33-8FD4-A662-31DD4B85E22E}"/>
              </a:ext>
            </a:extLst>
          </p:cNvPr>
          <p:cNvSpPr>
            <a:spLocks noGrp="1"/>
          </p:cNvSpPr>
          <p:nvPr>
            <p:ph idx="1"/>
          </p:nvPr>
        </p:nvSpPr>
        <p:spPr>
          <a:xfrm>
            <a:off x="914400" y="3108960"/>
            <a:ext cx="3291840" cy="2651760"/>
          </a:xfrm>
        </p:spPr>
        <p:txBody>
          <a:bodyPr/>
          <a:lstStyle/>
          <a:p>
            <a:r>
              <a:rPr lang="en-US" b="1" dirty="0"/>
              <a:t>Reusable prompt </a:t>
            </a:r>
            <a:r>
              <a:rPr lang="en-US" dirty="0"/>
              <a:t>templates turn successful, ad-hoc AI interactions into reliable workflows by separating stable instructions from dynamic runtime variables.</a:t>
            </a:r>
          </a:p>
        </p:txBody>
      </p:sp>
      <p:sp>
        <p:nvSpPr>
          <p:cNvPr id="44" name="Text Placeholder 43">
            <a:extLst>
              <a:ext uri="{FF2B5EF4-FFF2-40B4-BE49-F238E27FC236}">
                <a16:creationId xmlns:a16="http://schemas.microsoft.com/office/drawing/2014/main" id="{78466807-A2DA-EC5D-ACDE-B83D6F7169EA}"/>
              </a:ext>
            </a:extLst>
          </p:cNvPr>
          <p:cNvSpPr>
            <a:spLocks noGrp="1"/>
          </p:cNvSpPr>
          <p:nvPr>
            <p:ph idx="56"/>
          </p:nvPr>
        </p:nvSpPr>
        <p:spPr>
          <a:xfrm>
            <a:off x="4754880" y="3108960"/>
            <a:ext cx="3291840" cy="2651760"/>
          </a:xfrm>
        </p:spPr>
        <p:txBody>
          <a:bodyPr/>
          <a:lstStyle/>
          <a:p>
            <a:r>
              <a:rPr lang="en-US" dirty="0"/>
              <a:t>A bulletproof prompt template for a recurring task maps out a five-part framework: </a:t>
            </a:r>
            <a:r>
              <a:rPr lang="en-US" b="1" dirty="0"/>
              <a:t>Role → Task → Context → Format → Constraints</a:t>
            </a:r>
            <a:r>
              <a:rPr lang="en-US" dirty="0"/>
              <a:t>.</a:t>
            </a:r>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222DE72-77CB-CB24-A4D1-2FAC47307AC9}"/>
              </a:ext>
            </a:extLst>
          </p:cNvPr>
          <p:cNvSpPr>
            <a:spLocks noGrp="1"/>
          </p:cNvSpPr>
          <p:nvPr>
            <p:ph type="sldNum" sz="quarter" idx="55"/>
          </p:nvPr>
        </p:nvSpPr>
        <p:spPr/>
        <p:txBody>
          <a:bodyPr/>
          <a:lstStyle/>
          <a:p>
            <a:fld id="{47FEACEE-25B4-4A2D-B147-27296E36371D}" type="slidenum">
              <a:rPr lang="en-US" altLang="zh-CN" noProof="0" smtClean="0"/>
              <a:pPr/>
              <a:t>11</a:t>
            </a:fld>
            <a:endParaRPr lang="en-US" altLang="zh-CN" noProof="0" dirty="0"/>
          </a:p>
        </p:txBody>
      </p:sp>
    </p:spTree>
    <p:extLst>
      <p:ext uri="{BB962C8B-B14F-4D97-AF65-F5344CB8AC3E}">
        <p14:creationId xmlns:p14="http://schemas.microsoft.com/office/powerpoint/2010/main" val="4182148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914400" y="731520"/>
            <a:ext cx="4663440" cy="1737360"/>
          </a:xfrm>
        </p:spPr>
        <p:txBody>
          <a:bodyPr anchor="t" anchorCtr="0">
            <a:normAutofit/>
          </a:bodyPr>
          <a:lstStyle/>
          <a:p>
            <a:r>
              <a:rPr lang="en-US" dirty="0"/>
              <a:t>Steps to build Prompt Library</a:t>
            </a:r>
          </a:p>
        </p:txBody>
      </p:sp>
      <p:sp>
        <p:nvSpPr>
          <p:cNvPr id="10" name="Content Placeholder 9">
            <a:extLst>
              <a:ext uri="{FF2B5EF4-FFF2-40B4-BE49-F238E27FC236}">
                <a16:creationId xmlns:a16="http://schemas.microsoft.com/office/drawing/2014/main" id="{19DA784D-F56F-1224-707E-9F882C4EB8A1}"/>
              </a:ext>
            </a:extLst>
          </p:cNvPr>
          <p:cNvSpPr>
            <a:spLocks noGrp="1"/>
          </p:cNvSpPr>
          <p:nvPr>
            <p:ph idx="30"/>
          </p:nvPr>
        </p:nvSpPr>
        <p:spPr>
          <a:xfrm>
            <a:off x="914400" y="2743200"/>
            <a:ext cx="8348472" cy="3374136"/>
          </a:xfrm>
        </p:spPr>
        <p:txBody>
          <a:bodyPr>
            <a:normAutofit fontScale="92500" lnSpcReduction="20000"/>
          </a:bodyPr>
          <a:lstStyle/>
          <a:p>
            <a:pPr lvl="0"/>
            <a:r>
              <a:rPr lang="en-US" b="1" dirty="0"/>
              <a:t>Audit Your Routine:</a:t>
            </a:r>
            <a:r>
              <a:rPr lang="en-US" dirty="0"/>
              <a:t> Review your daily or weekly workload. Anything you have prompted an AI to do more than twice this month (e.g., status reports, content generation, data extraction) is a prime candidate for a template.</a:t>
            </a:r>
          </a:p>
          <a:p>
            <a:pPr lvl="0"/>
            <a:r>
              <a:rPr lang="en-US" b="1" dirty="0"/>
              <a:t>Isolate the Variables:</a:t>
            </a:r>
            <a:r>
              <a:rPr lang="en-US" dirty="0"/>
              <a:t> Clearly separate your static core logic from the user data that changes per request. Use distinct variable markers like {</a:t>
            </a:r>
            <a:r>
              <a:rPr lang="en-US" dirty="0" err="1"/>
              <a:t>variable_name</a:t>
            </a:r>
            <a:r>
              <a:rPr lang="en-US" dirty="0"/>
              <a:t>} or [VARIABLE_NAME].</a:t>
            </a:r>
          </a:p>
          <a:p>
            <a:pPr lvl="0"/>
            <a:r>
              <a:rPr lang="en-US" b="1" dirty="0"/>
              <a:t>Establish Guardrails:</a:t>
            </a:r>
            <a:r>
              <a:rPr lang="en-US" dirty="0"/>
              <a:t> Define explicit fallback rules for the model. Tell it exactly what to do if an input variable is missing, incomplete, or ambiguous (e.g., </a:t>
            </a:r>
            <a:r>
              <a:rPr lang="en-US" i="1" dirty="0"/>
              <a:t>"If no tone is specified, default to professional"</a:t>
            </a:r>
            <a:r>
              <a:rPr lang="en-US" dirty="0"/>
              <a:t> or </a:t>
            </a:r>
            <a:r>
              <a:rPr lang="en-US" i="1" dirty="0"/>
              <a:t>"If the data is missing, reply with 'Information not provided' instead of guessing"</a:t>
            </a:r>
            <a:r>
              <a:rPr lang="en-US" dirty="0"/>
              <a:t>).</a:t>
            </a:r>
          </a:p>
          <a:p>
            <a:pPr lvl="0"/>
            <a:r>
              <a:rPr lang="en-US" b="1" dirty="0"/>
              <a:t>Validate on Multiple Inputs:</a:t>
            </a:r>
            <a:r>
              <a:rPr lang="en-US" dirty="0"/>
              <a:t> Never put a template into a production pipeline or shared team library based on a single successful output. Test the template on at least 3 distinct sets of input data to ensure it doesn't break under different edge cases.</a:t>
            </a:r>
          </a:p>
        </p:txBody>
      </p:sp>
      <p:sp>
        <p:nvSpPr>
          <p:cNvPr id="3" name="Slide Number Placeholder 2">
            <a:extLst>
              <a:ext uri="{FF2B5EF4-FFF2-40B4-BE49-F238E27FC236}">
                <a16:creationId xmlns:a16="http://schemas.microsoft.com/office/drawing/2014/main" id="{ADDFE8A8-4537-F7A1-3BF9-834AEFE3EA1A}"/>
              </a:ext>
            </a:extLst>
          </p:cNvPr>
          <p:cNvSpPr>
            <a:spLocks noGrp="1"/>
          </p:cNvSpPr>
          <p:nvPr>
            <p:ph type="sldNum" sz="quarter" idx="29"/>
          </p:nvPr>
        </p:nvSpPr>
        <p:spPr>
          <a:xfrm>
            <a:off x="11194169" y="6217920"/>
            <a:ext cx="458592" cy="365125"/>
          </a:xfrm>
        </p:spPr>
        <p:txBody>
          <a:bodyPr anchor="ctr">
            <a:normAutofit/>
          </a:bodyPr>
          <a:lstStyle/>
          <a:p>
            <a:pPr>
              <a:spcAft>
                <a:spcPts val="600"/>
              </a:spcAft>
            </a:pPr>
            <a:fld id="{CBD12358-51D2-46B3-9BDE-DF29528B9454}" type="slidenum">
              <a:rPr lang="en-US" smtClean="0"/>
              <a:pPr>
                <a:spcAft>
                  <a:spcPts val="600"/>
                </a:spcAft>
              </a:pPr>
              <a:t>12</a:t>
            </a:fld>
            <a:endParaRPr lang="en-US"/>
          </a:p>
        </p:txBody>
      </p:sp>
      <p:sp>
        <p:nvSpPr>
          <p:cNvPr id="7" name="Content Placeholder 6">
            <a:extLst>
              <a:ext uri="{FF2B5EF4-FFF2-40B4-BE49-F238E27FC236}">
                <a16:creationId xmlns:a16="http://schemas.microsoft.com/office/drawing/2014/main" id="{316258AE-3D52-CA44-1161-D250CAC6D252}"/>
              </a:ext>
            </a:extLst>
          </p:cNvPr>
          <p:cNvSpPr>
            <a:spLocks noGrp="1"/>
          </p:cNvSpPr>
          <p:nvPr>
            <p:ph idx="1"/>
          </p:nvPr>
        </p:nvSpPr>
        <p:spPr/>
        <p:txBody>
          <a:bodyPr/>
          <a:lstStyle/>
          <a:p>
            <a:r>
              <a:rPr lang="en-US" dirty="0"/>
              <a:t>[Identify Tasks] ➔ [Isolate Variables] ➔ [Establish Guardrails] ➔ [Test &amp; Refine]</a:t>
            </a:r>
          </a:p>
        </p:txBody>
      </p:sp>
    </p:spTree>
    <p:extLst>
      <p:ext uri="{BB962C8B-B14F-4D97-AF65-F5344CB8AC3E}">
        <p14:creationId xmlns:p14="http://schemas.microsoft.com/office/powerpoint/2010/main" val="4259977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C59F6-9B22-C211-4B4C-A2FD4B914C46}"/>
              </a:ext>
            </a:extLst>
          </p:cNvPr>
          <p:cNvSpPr>
            <a:spLocks noGrp="1"/>
          </p:cNvSpPr>
          <p:nvPr>
            <p:ph type="title"/>
          </p:nvPr>
        </p:nvSpPr>
        <p:spPr>
          <a:xfrm>
            <a:off x="914400" y="731520"/>
            <a:ext cx="8229600" cy="2103120"/>
          </a:xfrm>
          <a:noFill/>
        </p:spPr>
        <p:txBody>
          <a:bodyPr anchor="b" anchorCtr="0">
            <a:noAutofit/>
          </a:bodyPr>
          <a:lstStyle/>
          <a:p>
            <a:r>
              <a:rPr lang="en-US" dirty="0"/>
              <a:t>Core Prompting Techniques</a:t>
            </a:r>
          </a:p>
        </p:txBody>
      </p:sp>
      <p:sp>
        <p:nvSpPr>
          <p:cNvPr id="3" name="Slide Number Placeholder 2">
            <a:extLst>
              <a:ext uri="{FF2B5EF4-FFF2-40B4-BE49-F238E27FC236}">
                <a16:creationId xmlns:a16="http://schemas.microsoft.com/office/drawing/2014/main" id="{C5231D8C-5C7D-BFD9-19A4-7628C1400A37}"/>
              </a:ext>
            </a:extLst>
          </p:cNvPr>
          <p:cNvSpPr>
            <a:spLocks noGrp="1"/>
          </p:cNvSpPr>
          <p:nvPr>
            <p:ph type="sldNum" sz="quarter" idx="12"/>
          </p:nvPr>
        </p:nvSpPr>
        <p:spPr/>
        <p:txBody>
          <a:bodyPr/>
          <a:lstStyle/>
          <a:p>
            <a:fld id="{CBD12358-51D2-46B3-9BDE-DF29528B9454}" type="slidenum">
              <a:rPr lang="en-US" smtClean="0"/>
              <a:t>13</a:t>
            </a:fld>
            <a:endParaRPr lang="en-US" dirty="0"/>
          </a:p>
        </p:txBody>
      </p:sp>
      <p:sp>
        <p:nvSpPr>
          <p:cNvPr id="5" name="Content Placeholder 4">
            <a:extLst>
              <a:ext uri="{FF2B5EF4-FFF2-40B4-BE49-F238E27FC236}">
                <a16:creationId xmlns:a16="http://schemas.microsoft.com/office/drawing/2014/main" id="{0700B834-33C9-709E-E61E-5FA280A0B8E4}"/>
              </a:ext>
            </a:extLst>
          </p:cNvPr>
          <p:cNvSpPr>
            <a:spLocks noGrp="1"/>
          </p:cNvSpPr>
          <p:nvPr>
            <p:ph idx="14"/>
          </p:nvPr>
        </p:nvSpPr>
        <p:spPr/>
        <p:txBody>
          <a:bodyPr/>
          <a:lstStyle/>
          <a:p>
            <a:r>
              <a:rPr lang="en-US" dirty="0"/>
              <a:t>Zero-Shot vs. Few-Shot Prompting</a:t>
            </a:r>
          </a:p>
          <a:p>
            <a:endParaRPr lang="en-US" dirty="0"/>
          </a:p>
          <a:p>
            <a:r>
              <a:rPr lang="en-US" dirty="0"/>
              <a:t>Few-Shot Prompting</a:t>
            </a:r>
          </a:p>
        </p:txBody>
      </p:sp>
    </p:spTree>
    <p:extLst>
      <p:ext uri="{BB962C8B-B14F-4D97-AF65-F5344CB8AC3E}">
        <p14:creationId xmlns:p14="http://schemas.microsoft.com/office/powerpoint/2010/main" val="3604630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CEC29-2F05-D7E4-A266-08C74BE4F5F8}"/>
              </a:ext>
            </a:extLst>
          </p:cNvPr>
          <p:cNvSpPr>
            <a:spLocks noGrp="1"/>
          </p:cNvSpPr>
          <p:nvPr>
            <p:ph type="title"/>
          </p:nvPr>
        </p:nvSpPr>
        <p:spPr>
          <a:xfrm>
            <a:off x="6710510" y="2016579"/>
            <a:ext cx="4441188" cy="2775857"/>
          </a:xfrm>
        </p:spPr>
        <p:txBody>
          <a:bodyPr/>
          <a:lstStyle/>
          <a:p>
            <a:r>
              <a:rPr lang="en-US" dirty="0"/>
              <a:t>Zero-Shot Prompting</a:t>
            </a:r>
          </a:p>
        </p:txBody>
      </p:sp>
      <p:pic>
        <p:nvPicPr>
          <p:cNvPr id="5" name="Picture Placeholder 4" descr="A person looking at a person who is looking at a computer screen">
            <a:extLst>
              <a:ext uri="{FF2B5EF4-FFF2-40B4-BE49-F238E27FC236}">
                <a16:creationId xmlns:a16="http://schemas.microsoft.com/office/drawing/2014/main" id="{867EED95-1785-2CFF-AB72-C7852C4B1E15}"/>
              </a:ext>
            </a:extLst>
          </p:cNvPr>
          <p:cNvPicPr>
            <a:picLocks noGrp="1" noChangeAspect="1"/>
          </p:cNvPicPr>
          <p:nvPr>
            <p:ph type="pic" sz="quarter" idx="48"/>
          </p:nvPr>
        </p:nvPicPr>
        <p:blipFill>
          <a:blip r:embed="rId2"/>
          <a:srcRect t="11651" b="11651"/>
          <a:stretch/>
        </p:blipFill>
        <p:spPr>
          <a:xfrm>
            <a:off x="914400" y="539496"/>
            <a:ext cx="5025207" cy="5779008"/>
          </a:xfrm>
        </p:spPr>
      </p:pic>
    </p:spTree>
    <p:extLst>
      <p:ext uri="{BB962C8B-B14F-4D97-AF65-F5344CB8AC3E}">
        <p14:creationId xmlns:p14="http://schemas.microsoft.com/office/powerpoint/2010/main" val="1148227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a:xfrm>
            <a:off x="3465576" y="1499616"/>
            <a:ext cx="7955280" cy="1335024"/>
          </a:xfrm>
        </p:spPr>
        <p:txBody>
          <a:bodyPr anchor="b" anchorCtr="0"/>
          <a:lstStyle/>
          <a:p>
            <a:r>
              <a:rPr lang="en-US" dirty="0"/>
              <a:t>Contrast Framework</a:t>
            </a:r>
          </a:p>
        </p:txBody>
      </p:sp>
      <p:sp>
        <p:nvSpPr>
          <p:cNvPr id="14" name="Text Placeholder 13">
            <a:extLst>
              <a:ext uri="{FF2B5EF4-FFF2-40B4-BE49-F238E27FC236}">
                <a16:creationId xmlns:a16="http://schemas.microsoft.com/office/drawing/2014/main" id="{C78180D0-1AB6-8416-0EB1-10648E1A6050}"/>
              </a:ext>
            </a:extLst>
          </p:cNvPr>
          <p:cNvSpPr>
            <a:spLocks noGrp="1"/>
          </p:cNvSpPr>
          <p:nvPr>
            <p:ph idx="14"/>
          </p:nvPr>
        </p:nvSpPr>
        <p:spPr>
          <a:xfrm>
            <a:off x="3465576" y="3108960"/>
            <a:ext cx="6897624" cy="3108960"/>
          </a:xfrm>
        </p:spPr>
        <p:txBody>
          <a:bodyPr/>
          <a:lstStyle/>
          <a:p>
            <a:r>
              <a:rPr lang="en-US" b="1" dirty="0"/>
              <a:t>Zero-Shot:</a:t>
            </a:r>
            <a:r>
              <a:rPr lang="en-US" dirty="0"/>
              <a:t> </a:t>
            </a:r>
            <a:r>
              <a:rPr lang="en-US" i="1" dirty="0"/>
              <a:t>"Classify this customer review as Positive, Neutral, or Negative: 'The product arrived on time but the packaging was slightly torn, though the item itself works perfectly.'"</a:t>
            </a:r>
            <a:r>
              <a:rPr lang="en-US" dirty="0"/>
              <a:t>.</a:t>
            </a:r>
          </a:p>
          <a:p>
            <a:r>
              <a:rPr lang="en-US" b="1" dirty="0"/>
              <a:t>Few-Shot:</a:t>
            </a:r>
            <a:r>
              <a:rPr lang="en-US" dirty="0"/>
              <a:t> Provide explicit examples first to lock in the formatting..</a:t>
            </a:r>
          </a:p>
        </p:txBody>
      </p:sp>
      <p:sp>
        <p:nvSpPr>
          <p:cNvPr id="2" name="Slide Number Placeholder 1">
            <a:extLst>
              <a:ext uri="{FF2B5EF4-FFF2-40B4-BE49-F238E27FC236}">
                <a16:creationId xmlns:a16="http://schemas.microsoft.com/office/drawing/2014/main" id="{B2E4D147-B48C-ADE3-3FEF-627D467699A2}"/>
              </a:ext>
            </a:extLst>
          </p:cNvPr>
          <p:cNvSpPr>
            <a:spLocks noGrp="1"/>
          </p:cNvSpPr>
          <p:nvPr>
            <p:ph type="sldNum" sz="quarter" idx="40"/>
          </p:nvPr>
        </p:nvSpPr>
        <p:spPr>
          <a:xfrm>
            <a:off x="11194169" y="6217920"/>
            <a:ext cx="458592" cy="365125"/>
          </a:xfrm>
        </p:spPr>
        <p:txBody>
          <a:bodyPr/>
          <a:lstStyle/>
          <a:p>
            <a:fld id="{47FEACEE-25B4-4A2D-B147-27296E36371D}" type="slidenum">
              <a:rPr lang="en-US" altLang="zh-CN" noProof="0" smtClean="0"/>
              <a:pPr/>
              <a:t>15</a:t>
            </a:fld>
            <a:endParaRPr lang="en-US" altLang="zh-CN" noProof="0" dirty="0"/>
          </a:p>
        </p:txBody>
      </p:sp>
      <p:sp>
        <p:nvSpPr>
          <p:cNvPr id="15" name="Slide Number Placehold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altLang="zh-CN" sz="1200" u="none" strike="noStrike" kern="1200" cap="none" spc="0" normalizeH="0" baseline="0" dirty="0">
              <a:ln>
                <a:noFill/>
              </a:ln>
              <a:solidFill>
                <a:schemeClr val="bg1"/>
              </a:solidFill>
              <a:effectLst/>
              <a:uLnTx/>
              <a:uFillTx/>
            </a:endParaRPr>
          </a:p>
        </p:txBody>
      </p:sp>
    </p:spTree>
    <p:extLst>
      <p:ext uri="{BB962C8B-B14F-4D97-AF65-F5344CB8AC3E}">
        <p14:creationId xmlns:p14="http://schemas.microsoft.com/office/powerpoint/2010/main" val="25197270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D4188-0CE5-C635-3755-DF500080E74F}"/>
              </a:ext>
            </a:extLst>
          </p:cNvPr>
          <p:cNvSpPr>
            <a:spLocks noGrp="1"/>
          </p:cNvSpPr>
          <p:nvPr>
            <p:ph type="title"/>
          </p:nvPr>
        </p:nvSpPr>
        <p:spPr>
          <a:xfrm>
            <a:off x="571500" y="1238250"/>
            <a:ext cx="11334750" cy="1596390"/>
          </a:xfrm>
        </p:spPr>
        <p:txBody>
          <a:bodyPr>
            <a:normAutofit/>
          </a:bodyPr>
          <a:lstStyle/>
          <a:p>
            <a:r>
              <a:rPr lang="en-US" sz="1600" dirty="0"/>
              <a:t>Zero-shot prompting asks an AI to complete a task without showing it any examples, while few-shot prompting provides 1 to 3 examples of the exact input-output structure you want before giving the final prompt</a:t>
            </a:r>
            <a:r>
              <a:rPr lang="en-US" dirty="0"/>
              <a:t>.</a:t>
            </a:r>
          </a:p>
        </p:txBody>
      </p:sp>
      <p:sp>
        <p:nvSpPr>
          <p:cNvPr id="5" name="Slide Number Placeholder 4">
            <a:extLst>
              <a:ext uri="{FF2B5EF4-FFF2-40B4-BE49-F238E27FC236}">
                <a16:creationId xmlns:a16="http://schemas.microsoft.com/office/drawing/2014/main" id="{49543192-004A-21EE-B478-DC7B0DFD845F}"/>
              </a:ext>
            </a:extLst>
          </p:cNvPr>
          <p:cNvSpPr>
            <a:spLocks noGrp="1"/>
          </p:cNvSpPr>
          <p:nvPr>
            <p:ph type="sldNum" sz="quarter" idx="40"/>
          </p:nvPr>
        </p:nvSpPr>
        <p:spPr/>
        <p:txBody>
          <a:bodyPr/>
          <a:lstStyle/>
          <a:p>
            <a:fld id="{47FEACEE-25B4-4A2D-B147-27296E36371D}" type="slidenum">
              <a:rPr lang="en-US" altLang="zh-CN" noProof="0" smtClean="0"/>
              <a:pPr/>
              <a:t>16</a:t>
            </a:fld>
            <a:endParaRPr lang="en-US" altLang="zh-CN" noProof="0" dirty="0"/>
          </a:p>
        </p:txBody>
      </p:sp>
      <p:pic>
        <p:nvPicPr>
          <p:cNvPr id="7" name="Picture 6">
            <a:extLst>
              <a:ext uri="{FF2B5EF4-FFF2-40B4-BE49-F238E27FC236}">
                <a16:creationId xmlns:a16="http://schemas.microsoft.com/office/drawing/2014/main" id="{E6C0A6C2-E988-6B19-9C0D-1FE7E24AD2C3}"/>
              </a:ext>
            </a:extLst>
          </p:cNvPr>
          <p:cNvPicPr>
            <a:picLocks noChangeAspect="1"/>
          </p:cNvPicPr>
          <p:nvPr/>
        </p:nvPicPr>
        <p:blipFill>
          <a:blip r:embed="rId2"/>
          <a:stretch>
            <a:fillRect/>
          </a:stretch>
        </p:blipFill>
        <p:spPr>
          <a:xfrm>
            <a:off x="3586162" y="3092767"/>
            <a:ext cx="5019675" cy="286702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0288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B16ED-38FB-75D2-F41B-CEBF867283A2}"/>
              </a:ext>
            </a:extLst>
          </p:cNvPr>
          <p:cNvSpPr>
            <a:spLocks noGrp="1"/>
          </p:cNvSpPr>
          <p:nvPr>
            <p:ph type="title"/>
          </p:nvPr>
        </p:nvSpPr>
        <p:spPr/>
        <p:txBody>
          <a:bodyPr/>
          <a:lstStyle/>
          <a:p>
            <a:r>
              <a:rPr lang="en-US" dirty="0"/>
              <a:t>Zero Shot Example (no Guidance)</a:t>
            </a:r>
          </a:p>
        </p:txBody>
      </p:sp>
      <p:sp>
        <p:nvSpPr>
          <p:cNvPr id="3" name="Content Placeholder 2">
            <a:extLst>
              <a:ext uri="{FF2B5EF4-FFF2-40B4-BE49-F238E27FC236}">
                <a16:creationId xmlns:a16="http://schemas.microsoft.com/office/drawing/2014/main" id="{7E38025F-6C90-73E0-58DA-4EEE25FDA30C}"/>
              </a:ext>
            </a:extLst>
          </p:cNvPr>
          <p:cNvSpPr>
            <a:spLocks noGrp="1"/>
          </p:cNvSpPr>
          <p:nvPr>
            <p:ph idx="14"/>
          </p:nvPr>
        </p:nvSpPr>
        <p:spPr>
          <a:xfrm>
            <a:off x="3465576" y="3108960"/>
            <a:ext cx="6707124" cy="3108960"/>
          </a:xfrm>
        </p:spPr>
        <p:txBody>
          <a:bodyPr/>
          <a:lstStyle/>
          <a:p>
            <a:r>
              <a:rPr lang="en-US" b="1" dirty="0"/>
              <a:t>Prompt:</a:t>
            </a:r>
            <a:r>
              <a:rPr lang="en-US" dirty="0"/>
              <a:t> </a:t>
            </a:r>
            <a:r>
              <a:rPr lang="en-US" i="1" dirty="0"/>
              <a:t>Classify this support ticket as Technical, Billing, or General: "My screen goes entirely black every time I try to open the export menu."</a:t>
            </a:r>
            <a:endParaRPr lang="en-US" dirty="0"/>
          </a:p>
          <a:p>
            <a:r>
              <a:rPr lang="en-US" b="1" dirty="0"/>
              <a:t>Likely AI Output:</a:t>
            </a:r>
            <a:r>
              <a:rPr lang="en-US" dirty="0"/>
              <a:t> </a:t>
            </a:r>
            <a:r>
              <a:rPr lang="en-US" i="1" dirty="0"/>
              <a:t>This support ticket falls under the Technical category because it describes an application crash/UI failure when triggering an explicit software action (the export menu).</a:t>
            </a:r>
            <a:endParaRPr lang="en-US" dirty="0"/>
          </a:p>
          <a:p>
            <a:endParaRPr lang="en-US" dirty="0"/>
          </a:p>
        </p:txBody>
      </p:sp>
      <p:sp>
        <p:nvSpPr>
          <p:cNvPr id="5" name="Slide Number Placeholder 4">
            <a:extLst>
              <a:ext uri="{FF2B5EF4-FFF2-40B4-BE49-F238E27FC236}">
                <a16:creationId xmlns:a16="http://schemas.microsoft.com/office/drawing/2014/main" id="{1EA971C7-E87B-BEC0-B1B8-54AB61E7BD42}"/>
              </a:ext>
            </a:extLst>
          </p:cNvPr>
          <p:cNvSpPr>
            <a:spLocks noGrp="1"/>
          </p:cNvSpPr>
          <p:nvPr>
            <p:ph type="sldNum" sz="quarter" idx="40"/>
          </p:nvPr>
        </p:nvSpPr>
        <p:spPr/>
        <p:txBody>
          <a:bodyPr/>
          <a:lstStyle/>
          <a:p>
            <a:fld id="{47FEACEE-25B4-4A2D-B147-27296E36371D}" type="slidenum">
              <a:rPr lang="en-US" altLang="zh-CN" noProof="0" smtClean="0"/>
              <a:pPr/>
              <a:t>17</a:t>
            </a:fld>
            <a:endParaRPr lang="en-US" altLang="zh-CN" noProof="0" dirty="0"/>
          </a:p>
        </p:txBody>
      </p:sp>
    </p:spTree>
    <p:extLst>
      <p:ext uri="{BB962C8B-B14F-4D97-AF65-F5344CB8AC3E}">
        <p14:creationId xmlns:p14="http://schemas.microsoft.com/office/powerpoint/2010/main" val="15095765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43606-9BBE-56CB-9803-10118FEC167C}"/>
              </a:ext>
            </a:extLst>
          </p:cNvPr>
          <p:cNvSpPr>
            <a:spLocks noGrp="1"/>
          </p:cNvSpPr>
          <p:nvPr>
            <p:ph type="title"/>
          </p:nvPr>
        </p:nvSpPr>
        <p:spPr>
          <a:xfrm>
            <a:off x="3086100" y="1499616"/>
            <a:ext cx="8334756" cy="1335024"/>
          </a:xfrm>
        </p:spPr>
        <p:txBody>
          <a:bodyPr/>
          <a:lstStyle/>
          <a:p>
            <a:r>
              <a:rPr lang="en-US" dirty="0"/>
              <a:t>Few-Shot Example (Pattern Lock-in)</a:t>
            </a:r>
          </a:p>
        </p:txBody>
      </p:sp>
      <p:sp>
        <p:nvSpPr>
          <p:cNvPr id="3" name="Content Placeholder 2">
            <a:extLst>
              <a:ext uri="{FF2B5EF4-FFF2-40B4-BE49-F238E27FC236}">
                <a16:creationId xmlns:a16="http://schemas.microsoft.com/office/drawing/2014/main" id="{76DB452E-95B7-C8F7-DF14-E99683C881F4}"/>
              </a:ext>
            </a:extLst>
          </p:cNvPr>
          <p:cNvSpPr>
            <a:spLocks noGrp="1"/>
          </p:cNvSpPr>
          <p:nvPr>
            <p:ph idx="14"/>
          </p:nvPr>
        </p:nvSpPr>
        <p:spPr>
          <a:xfrm>
            <a:off x="3465575" y="3108960"/>
            <a:ext cx="7728593" cy="3108960"/>
          </a:xfrm>
        </p:spPr>
        <p:txBody>
          <a:bodyPr>
            <a:normAutofit fontScale="92500"/>
          </a:bodyPr>
          <a:lstStyle/>
          <a:p>
            <a:pPr marL="0" indent="0">
              <a:buNone/>
            </a:pPr>
            <a:r>
              <a:rPr lang="en-US" b="1" dirty="0"/>
              <a:t>Prompt:</a:t>
            </a:r>
            <a:br>
              <a:rPr lang="en-US" dirty="0"/>
            </a:br>
            <a:r>
              <a:rPr lang="en-US" i="1" dirty="0"/>
              <a:t>Classify the support tickets below. Follow the formatting of the examples exactly.</a:t>
            </a:r>
            <a:endParaRPr lang="en-US" dirty="0"/>
          </a:p>
          <a:p>
            <a:pPr marL="0" indent="0">
              <a:buNone/>
            </a:pPr>
            <a:r>
              <a:rPr lang="en-US" i="1" dirty="0"/>
              <a:t>Ticket: "I need to update my credit card on file."</a:t>
            </a:r>
            <a:br>
              <a:rPr lang="en-US" dirty="0"/>
            </a:br>
            <a:r>
              <a:rPr lang="en-US" i="1" dirty="0"/>
              <a:t>Category: BILLING</a:t>
            </a:r>
            <a:endParaRPr lang="en-US" dirty="0"/>
          </a:p>
          <a:p>
            <a:pPr marL="0" indent="0">
              <a:buNone/>
            </a:pPr>
            <a:r>
              <a:rPr lang="en-US" i="1" dirty="0"/>
              <a:t>Ticket: "Where can I find the company holiday calendar?"</a:t>
            </a:r>
            <a:br>
              <a:rPr lang="en-US" dirty="0"/>
            </a:br>
            <a:r>
              <a:rPr lang="en-US" i="1" dirty="0"/>
              <a:t>Category: GENERAL</a:t>
            </a:r>
            <a:endParaRPr lang="en-US" dirty="0"/>
          </a:p>
          <a:p>
            <a:pPr marL="0" indent="0">
              <a:buNone/>
            </a:pPr>
            <a:r>
              <a:rPr lang="en-US" i="1" dirty="0"/>
              <a:t>Ticket: "My screen goes entirely black every time I try to open the export menu."</a:t>
            </a:r>
            <a:br>
              <a:rPr lang="en-US" dirty="0"/>
            </a:br>
            <a:r>
              <a:rPr lang="en-US" i="1" dirty="0"/>
              <a:t>Category:</a:t>
            </a:r>
            <a:endParaRPr lang="en-US" dirty="0"/>
          </a:p>
          <a:p>
            <a:pPr marL="0" indent="0">
              <a:buNone/>
            </a:pPr>
            <a:r>
              <a:rPr lang="en-US" b="1" dirty="0"/>
              <a:t>Likely AI Output:</a:t>
            </a:r>
            <a:r>
              <a:rPr lang="en-US" dirty="0"/>
              <a:t> </a:t>
            </a:r>
            <a:r>
              <a:rPr lang="en-US" i="1" dirty="0"/>
              <a:t>TECHNICAL</a:t>
            </a:r>
            <a:endParaRPr lang="en-US" dirty="0"/>
          </a:p>
          <a:p>
            <a:endParaRPr lang="en-US" dirty="0"/>
          </a:p>
        </p:txBody>
      </p:sp>
      <p:sp>
        <p:nvSpPr>
          <p:cNvPr id="5" name="Slide Number Placeholder 4">
            <a:extLst>
              <a:ext uri="{FF2B5EF4-FFF2-40B4-BE49-F238E27FC236}">
                <a16:creationId xmlns:a16="http://schemas.microsoft.com/office/drawing/2014/main" id="{F977AC81-787E-425F-3163-301566031576}"/>
              </a:ext>
            </a:extLst>
          </p:cNvPr>
          <p:cNvSpPr>
            <a:spLocks noGrp="1"/>
          </p:cNvSpPr>
          <p:nvPr>
            <p:ph type="sldNum" sz="quarter" idx="40"/>
          </p:nvPr>
        </p:nvSpPr>
        <p:spPr/>
        <p:txBody>
          <a:bodyPr/>
          <a:lstStyle/>
          <a:p>
            <a:fld id="{47FEACEE-25B4-4A2D-B147-27296E36371D}" type="slidenum">
              <a:rPr lang="en-US" altLang="zh-CN" noProof="0" smtClean="0"/>
              <a:pPr/>
              <a:t>18</a:t>
            </a:fld>
            <a:endParaRPr lang="en-US" altLang="zh-CN" noProof="0" dirty="0"/>
          </a:p>
        </p:txBody>
      </p:sp>
    </p:spTree>
    <p:extLst>
      <p:ext uri="{BB962C8B-B14F-4D97-AF65-F5344CB8AC3E}">
        <p14:creationId xmlns:p14="http://schemas.microsoft.com/office/powerpoint/2010/main" val="4057257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F615B-E436-E4E2-C72F-96BC02803BE1}"/>
              </a:ext>
            </a:extLst>
          </p:cNvPr>
          <p:cNvSpPr>
            <a:spLocks noGrp="1"/>
          </p:cNvSpPr>
          <p:nvPr>
            <p:ph type="title"/>
          </p:nvPr>
        </p:nvSpPr>
        <p:spPr/>
        <p:txBody>
          <a:bodyPr>
            <a:normAutofit/>
          </a:bodyPr>
          <a:lstStyle/>
          <a:p>
            <a:r>
              <a:rPr lang="en-US" sz="2800" dirty="0"/>
              <a:t>Scenario to Zero-shot and Few-shot</a:t>
            </a:r>
          </a:p>
        </p:txBody>
      </p:sp>
      <p:sp>
        <p:nvSpPr>
          <p:cNvPr id="3" name="Content Placeholder 2">
            <a:extLst>
              <a:ext uri="{FF2B5EF4-FFF2-40B4-BE49-F238E27FC236}">
                <a16:creationId xmlns:a16="http://schemas.microsoft.com/office/drawing/2014/main" id="{F881AFD1-271F-6107-6525-15F81F9289ED}"/>
              </a:ext>
            </a:extLst>
          </p:cNvPr>
          <p:cNvSpPr>
            <a:spLocks noGrp="1"/>
          </p:cNvSpPr>
          <p:nvPr>
            <p:ph idx="14"/>
          </p:nvPr>
        </p:nvSpPr>
        <p:spPr>
          <a:xfrm>
            <a:off x="3465576" y="3108960"/>
            <a:ext cx="7088124" cy="3108960"/>
          </a:xfrm>
        </p:spPr>
        <p:txBody>
          <a:bodyPr>
            <a:normAutofit/>
          </a:bodyPr>
          <a:lstStyle/>
          <a:p>
            <a:r>
              <a:rPr lang="en-US" b="1" dirty="0"/>
              <a:t>Choose Zero-Shot when:</a:t>
            </a:r>
            <a:r>
              <a:rPr lang="en-US" dirty="0"/>
              <a:t> You are using a highly capable model (like GPT-4o or Claude 3.5 Sonnet) for everyday text generation, brainstorming ideas, translating simple phrases, or writing emails where the precise structure isn't critical.</a:t>
            </a:r>
          </a:p>
          <a:p>
            <a:r>
              <a:rPr lang="en-US" b="1" dirty="0"/>
              <a:t>Choose Few-Shot when:</a:t>
            </a:r>
            <a:r>
              <a:rPr lang="en-US" dirty="0"/>
              <a:t> You need the output to match a highly specific corporate voice, you are generating code that must fit a rigid syntax, or you are extracting data into a clean structure (like JSON or CSV arrays) to pass into another software application.</a:t>
            </a:r>
          </a:p>
          <a:p>
            <a:endParaRPr lang="en-US" dirty="0"/>
          </a:p>
        </p:txBody>
      </p:sp>
      <p:sp>
        <p:nvSpPr>
          <p:cNvPr id="5" name="Slide Number Placeholder 4">
            <a:extLst>
              <a:ext uri="{FF2B5EF4-FFF2-40B4-BE49-F238E27FC236}">
                <a16:creationId xmlns:a16="http://schemas.microsoft.com/office/drawing/2014/main" id="{A2AEDD97-1B52-E8FB-8540-77675EBDEFC6}"/>
              </a:ext>
            </a:extLst>
          </p:cNvPr>
          <p:cNvSpPr>
            <a:spLocks noGrp="1"/>
          </p:cNvSpPr>
          <p:nvPr>
            <p:ph type="sldNum" sz="quarter" idx="40"/>
          </p:nvPr>
        </p:nvSpPr>
        <p:spPr/>
        <p:txBody>
          <a:bodyPr/>
          <a:lstStyle/>
          <a:p>
            <a:fld id="{47FEACEE-25B4-4A2D-B147-27296E36371D}" type="slidenum">
              <a:rPr lang="en-US" altLang="zh-CN" noProof="0" smtClean="0"/>
              <a:pPr/>
              <a:t>19</a:t>
            </a:fld>
            <a:endParaRPr lang="en-US" altLang="zh-CN" noProof="0" dirty="0"/>
          </a:p>
        </p:txBody>
      </p:sp>
    </p:spTree>
    <p:extLst>
      <p:ext uri="{BB962C8B-B14F-4D97-AF65-F5344CB8AC3E}">
        <p14:creationId xmlns:p14="http://schemas.microsoft.com/office/powerpoint/2010/main" val="3707922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8F6DF-E13D-9C6F-CA25-0C856BF37ADE}"/>
              </a:ext>
            </a:extLst>
          </p:cNvPr>
          <p:cNvSpPr>
            <a:spLocks noGrp="1"/>
          </p:cNvSpPr>
          <p:nvPr>
            <p:ph type="title"/>
          </p:nvPr>
        </p:nvSpPr>
        <p:spPr/>
        <p:txBody>
          <a:bodyPr/>
          <a:lstStyle/>
          <a:p>
            <a:r>
              <a:rPr lang="en-US" dirty="0"/>
              <a:t>Controlling the Output</a:t>
            </a:r>
          </a:p>
        </p:txBody>
      </p:sp>
      <p:sp>
        <p:nvSpPr>
          <p:cNvPr id="3" name="Content Placeholder 2">
            <a:extLst>
              <a:ext uri="{FF2B5EF4-FFF2-40B4-BE49-F238E27FC236}">
                <a16:creationId xmlns:a16="http://schemas.microsoft.com/office/drawing/2014/main" id="{03A3549C-738C-7319-4053-CE843D27FC8C}"/>
              </a:ext>
            </a:extLst>
          </p:cNvPr>
          <p:cNvSpPr>
            <a:spLocks noGrp="1"/>
          </p:cNvSpPr>
          <p:nvPr>
            <p:ph idx="14"/>
          </p:nvPr>
        </p:nvSpPr>
        <p:spPr/>
        <p:txBody>
          <a:bodyPr/>
          <a:lstStyle/>
          <a:p>
            <a:r>
              <a:rPr lang="en-US" b="1" dirty="0"/>
              <a:t>Controlling output format is the difference between copy-pasting an AI's response directly into your workflow and spending 15 minutes formatting it yourself.</a:t>
            </a:r>
            <a:endParaRPr lang="en-US" dirty="0"/>
          </a:p>
          <a:p>
            <a:endParaRPr lang="en-US" dirty="0"/>
          </a:p>
        </p:txBody>
      </p:sp>
      <p:sp>
        <p:nvSpPr>
          <p:cNvPr id="4" name="Content Placeholder 3">
            <a:extLst>
              <a:ext uri="{FF2B5EF4-FFF2-40B4-BE49-F238E27FC236}">
                <a16:creationId xmlns:a16="http://schemas.microsoft.com/office/drawing/2014/main" id="{05AAE010-84FB-D50C-85C8-4BBACE184BD1}"/>
              </a:ext>
            </a:extLst>
          </p:cNvPr>
          <p:cNvSpPr>
            <a:spLocks noGrp="1"/>
          </p:cNvSpPr>
          <p:nvPr>
            <p:ph idx="1"/>
          </p:nvPr>
        </p:nvSpPr>
        <p:spPr/>
        <p:txBody>
          <a:bodyPr>
            <a:normAutofit fontScale="92500" lnSpcReduction="10000"/>
          </a:bodyPr>
          <a:lstStyle/>
          <a:p>
            <a:pPr marL="342900" indent="-342900">
              <a:buAutoNum type="arabicPeriod"/>
            </a:pPr>
            <a:r>
              <a:rPr lang="en-US" dirty="0"/>
              <a:t>Markdown &amp; Tables</a:t>
            </a:r>
          </a:p>
          <a:p>
            <a:pPr marL="342900" indent="-342900">
              <a:buAutoNum type="arabicPeriod"/>
            </a:pPr>
            <a:endParaRPr lang="en-US" dirty="0"/>
          </a:p>
          <a:p>
            <a:r>
              <a:rPr lang="en-US" dirty="0"/>
              <a:t>Markdown is the universal language of AI formatting. It allows you to enforce clean hierarchies using headers (#, ##), bold text (**), and structured data grids. Tables are ideal for direct comparisons, features, or metrics.</a:t>
            </a:r>
          </a:p>
          <a:p>
            <a:pPr marL="342900" indent="-342900">
              <a:buAutoNum type="arabicPeriod"/>
            </a:pPr>
            <a:endParaRPr lang="en-US" dirty="0"/>
          </a:p>
        </p:txBody>
      </p:sp>
      <p:sp>
        <p:nvSpPr>
          <p:cNvPr id="5" name="Slide Number Placeholder 4">
            <a:extLst>
              <a:ext uri="{FF2B5EF4-FFF2-40B4-BE49-F238E27FC236}">
                <a16:creationId xmlns:a16="http://schemas.microsoft.com/office/drawing/2014/main" id="{005CD1C9-9770-BB5D-C49F-8203565C5226}"/>
              </a:ext>
            </a:extLst>
          </p:cNvPr>
          <p:cNvSpPr>
            <a:spLocks noGrp="1"/>
          </p:cNvSpPr>
          <p:nvPr>
            <p:ph type="sldNum" sz="quarter" idx="40"/>
          </p:nvPr>
        </p:nvSpPr>
        <p:spPr/>
        <p:txBody>
          <a:bodyPr/>
          <a:lstStyle/>
          <a:p>
            <a:fld id="{47FEACEE-25B4-4A2D-B147-27296E36371D}" type="slidenum">
              <a:rPr lang="en-US" altLang="zh-CN" noProof="0" smtClean="0"/>
              <a:pPr/>
              <a:t>20</a:t>
            </a:fld>
            <a:endParaRPr lang="en-US" altLang="zh-CN" noProof="0" dirty="0"/>
          </a:p>
        </p:txBody>
      </p:sp>
    </p:spTree>
    <p:extLst>
      <p:ext uri="{BB962C8B-B14F-4D97-AF65-F5344CB8AC3E}">
        <p14:creationId xmlns:p14="http://schemas.microsoft.com/office/powerpoint/2010/main" val="1505158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F5DF-4869-1E5B-7A5E-014B38EB0962}"/>
              </a:ext>
            </a:extLst>
          </p:cNvPr>
          <p:cNvSpPr>
            <a:spLocks noGrp="1"/>
          </p:cNvSpPr>
          <p:nvPr>
            <p:ph type="title"/>
          </p:nvPr>
        </p:nvSpPr>
        <p:spPr/>
        <p:txBody>
          <a:bodyPr/>
          <a:lstStyle/>
          <a:p>
            <a:r>
              <a:rPr lang="en-US" dirty="0"/>
              <a:t>Power of Structured Output</a:t>
            </a:r>
          </a:p>
        </p:txBody>
      </p:sp>
      <p:sp>
        <p:nvSpPr>
          <p:cNvPr id="3" name="Content Placeholder 2">
            <a:extLst>
              <a:ext uri="{FF2B5EF4-FFF2-40B4-BE49-F238E27FC236}">
                <a16:creationId xmlns:a16="http://schemas.microsoft.com/office/drawing/2014/main" id="{6B3F80B7-EEAF-513E-172C-B7B2EB9E051A}"/>
              </a:ext>
            </a:extLst>
          </p:cNvPr>
          <p:cNvSpPr>
            <a:spLocks noGrp="1"/>
          </p:cNvSpPr>
          <p:nvPr>
            <p:ph idx="14"/>
          </p:nvPr>
        </p:nvSpPr>
        <p:spPr/>
        <p:txBody>
          <a:bodyPr/>
          <a:lstStyle/>
          <a:p>
            <a:pPr marL="0" indent="0">
              <a:buNone/>
            </a:pPr>
            <a:r>
              <a:rPr lang="en-US" dirty="0"/>
              <a:t>2. Enforcing JSON forces the model to drop all conversational text and output raw code.</a:t>
            </a:r>
          </a:p>
          <a:p>
            <a:pPr marL="0" indent="0">
              <a:buNone/>
            </a:pPr>
            <a:endParaRPr lang="en-US" dirty="0"/>
          </a:p>
        </p:txBody>
      </p:sp>
      <p:sp>
        <p:nvSpPr>
          <p:cNvPr id="4" name="Content Placeholder 3">
            <a:extLst>
              <a:ext uri="{FF2B5EF4-FFF2-40B4-BE49-F238E27FC236}">
                <a16:creationId xmlns:a16="http://schemas.microsoft.com/office/drawing/2014/main" id="{0C1EE95C-125E-3ED7-1CB4-A24BBE90DCD2}"/>
              </a:ext>
            </a:extLst>
          </p:cNvPr>
          <p:cNvSpPr>
            <a:spLocks noGrp="1"/>
          </p:cNvSpPr>
          <p:nvPr>
            <p:ph idx="1"/>
          </p:nvPr>
        </p:nvSpPr>
        <p:spPr>
          <a:xfrm>
            <a:off x="8229599" y="3108960"/>
            <a:ext cx="3423161" cy="3108960"/>
          </a:xfrm>
        </p:spPr>
        <p:txBody>
          <a:bodyPr>
            <a:normAutofit fontScale="77500" lnSpcReduction="20000"/>
          </a:bodyPr>
          <a:lstStyle/>
          <a:p>
            <a:r>
              <a:rPr lang="en-US" dirty="0"/>
              <a:t>Two Rules for Flawless Output Control </a:t>
            </a:r>
          </a:p>
          <a:p>
            <a:endParaRPr lang="en-US" dirty="0"/>
          </a:p>
          <a:p>
            <a:pPr lvl="0"/>
            <a:r>
              <a:rPr lang="en-US" b="1" dirty="0"/>
              <a:t>Use Negative Constraints (The "Do Not" Rule):</a:t>
            </a:r>
            <a:r>
              <a:rPr lang="en-US" dirty="0"/>
              <a:t> Models are eager to please and will often add polite conversational filler. You must explicitly forbid it.</a:t>
            </a:r>
          </a:p>
          <a:p>
            <a:pPr lvl="1"/>
            <a:r>
              <a:rPr lang="en-US" i="1" dirty="0"/>
              <a:t>Good:</a:t>
            </a:r>
            <a:r>
              <a:rPr lang="en-US" dirty="0"/>
              <a:t> </a:t>
            </a:r>
            <a:r>
              <a:rPr lang="en-US" i="1" dirty="0"/>
              <a:t>"Provide only the raw markdown list. Do not include introductory or concluding remarks."</a:t>
            </a:r>
            <a:endParaRPr lang="en-US" dirty="0"/>
          </a:p>
          <a:p>
            <a:pPr lvl="0"/>
            <a:r>
              <a:rPr lang="en-US" b="1" dirty="0"/>
              <a:t>Provide a Blank Target:</a:t>
            </a:r>
            <a:r>
              <a:rPr lang="en-US" dirty="0"/>
              <a:t> When asking for a specific format, leave a structural placeholder at the very end of your prompt to signal to the model exactly where its text should begin.</a:t>
            </a:r>
          </a:p>
          <a:p>
            <a:endParaRPr lang="en-US" dirty="0"/>
          </a:p>
        </p:txBody>
      </p:sp>
      <p:sp>
        <p:nvSpPr>
          <p:cNvPr id="5" name="Slide Number Placeholder 4">
            <a:extLst>
              <a:ext uri="{FF2B5EF4-FFF2-40B4-BE49-F238E27FC236}">
                <a16:creationId xmlns:a16="http://schemas.microsoft.com/office/drawing/2014/main" id="{C74B8A50-059A-289B-57AF-15705E47BA79}"/>
              </a:ext>
            </a:extLst>
          </p:cNvPr>
          <p:cNvSpPr>
            <a:spLocks noGrp="1"/>
          </p:cNvSpPr>
          <p:nvPr>
            <p:ph type="sldNum" sz="quarter" idx="40"/>
          </p:nvPr>
        </p:nvSpPr>
        <p:spPr/>
        <p:txBody>
          <a:bodyPr/>
          <a:lstStyle/>
          <a:p>
            <a:fld id="{47FEACEE-25B4-4A2D-B147-27296E36371D}" type="slidenum">
              <a:rPr lang="en-US" altLang="zh-CN" noProof="0" smtClean="0"/>
              <a:pPr/>
              <a:t>21</a:t>
            </a:fld>
            <a:endParaRPr lang="en-US" altLang="zh-CN" noProof="0" dirty="0"/>
          </a:p>
        </p:txBody>
      </p:sp>
    </p:spTree>
    <p:extLst>
      <p:ext uri="{BB962C8B-B14F-4D97-AF65-F5344CB8AC3E}">
        <p14:creationId xmlns:p14="http://schemas.microsoft.com/office/powerpoint/2010/main" val="21313262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6D107-8D82-0098-7887-E72840D2CC73}"/>
              </a:ext>
            </a:extLst>
          </p:cNvPr>
          <p:cNvSpPr>
            <a:spLocks noGrp="1"/>
          </p:cNvSpPr>
          <p:nvPr>
            <p:ph type="title"/>
          </p:nvPr>
        </p:nvSpPr>
        <p:spPr>
          <a:xfrm>
            <a:off x="3468185" y="924429"/>
            <a:ext cx="7955280" cy="742139"/>
          </a:xfrm>
        </p:spPr>
        <p:txBody>
          <a:bodyPr>
            <a:normAutofit/>
          </a:bodyPr>
          <a:lstStyle/>
          <a:p>
            <a:r>
              <a:rPr lang="en-US" sz="2800" dirty="0"/>
              <a:t>Scenario to use Markdown Vs JSON</a:t>
            </a:r>
          </a:p>
        </p:txBody>
      </p:sp>
      <p:pic>
        <p:nvPicPr>
          <p:cNvPr id="7" name="Content Placeholder 6">
            <a:extLst>
              <a:ext uri="{FF2B5EF4-FFF2-40B4-BE49-F238E27FC236}">
                <a16:creationId xmlns:a16="http://schemas.microsoft.com/office/drawing/2014/main" id="{3A0F1B3B-4492-1ABA-B97E-35B3EC156052}"/>
              </a:ext>
            </a:extLst>
          </p:cNvPr>
          <p:cNvPicPr>
            <a:picLocks noGrp="1" noChangeAspect="1"/>
          </p:cNvPicPr>
          <p:nvPr>
            <p:ph idx="14"/>
          </p:nvPr>
        </p:nvPicPr>
        <p:blipFill>
          <a:blip r:embed="rId2"/>
          <a:stretch>
            <a:fillRect/>
          </a:stretch>
        </p:blipFill>
        <p:spPr>
          <a:xfrm>
            <a:off x="3686739" y="2311727"/>
            <a:ext cx="6032448" cy="3621844"/>
          </a:xfrm>
          <a:prstGeom prst="rect">
            <a:avLst/>
          </a:prstGeom>
          <a:ln>
            <a:noFill/>
          </a:ln>
          <a:effectLst>
            <a:outerShdw blurRad="292100" dist="139700" dir="2700000" algn="tl" rotWithShape="0">
              <a:srgbClr val="333333">
                <a:alpha val="65000"/>
              </a:srgbClr>
            </a:outerShdw>
          </a:effectLst>
        </p:spPr>
      </p:pic>
      <p:sp>
        <p:nvSpPr>
          <p:cNvPr id="5" name="Slide Number Placeholder 4">
            <a:extLst>
              <a:ext uri="{FF2B5EF4-FFF2-40B4-BE49-F238E27FC236}">
                <a16:creationId xmlns:a16="http://schemas.microsoft.com/office/drawing/2014/main" id="{8176DE02-23E0-9D51-A313-E7AD2F6313BD}"/>
              </a:ext>
            </a:extLst>
          </p:cNvPr>
          <p:cNvSpPr>
            <a:spLocks noGrp="1"/>
          </p:cNvSpPr>
          <p:nvPr>
            <p:ph type="sldNum" sz="quarter" idx="40"/>
          </p:nvPr>
        </p:nvSpPr>
        <p:spPr/>
        <p:txBody>
          <a:bodyPr/>
          <a:lstStyle/>
          <a:p>
            <a:fld id="{47FEACEE-25B4-4A2D-B147-27296E36371D}" type="slidenum">
              <a:rPr lang="en-US" altLang="zh-CN" noProof="0" smtClean="0"/>
              <a:pPr/>
              <a:t>22</a:t>
            </a:fld>
            <a:endParaRPr lang="en-US" altLang="zh-CN" noProof="0" dirty="0"/>
          </a:p>
        </p:txBody>
      </p:sp>
    </p:spTree>
    <p:extLst>
      <p:ext uri="{BB962C8B-B14F-4D97-AF65-F5344CB8AC3E}">
        <p14:creationId xmlns:p14="http://schemas.microsoft.com/office/powerpoint/2010/main" val="25859140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90214-FE94-F059-EF31-D6F5796909EC}"/>
              </a:ext>
            </a:extLst>
          </p:cNvPr>
          <p:cNvSpPr>
            <a:spLocks noGrp="1"/>
          </p:cNvSpPr>
          <p:nvPr>
            <p:ph type="title"/>
          </p:nvPr>
        </p:nvSpPr>
        <p:spPr>
          <a:xfrm>
            <a:off x="3465576" y="640080"/>
            <a:ext cx="7955280" cy="1335024"/>
          </a:xfrm>
        </p:spPr>
        <p:txBody>
          <a:bodyPr/>
          <a:lstStyle/>
          <a:p>
            <a:r>
              <a:rPr lang="en-US" dirty="0"/>
              <a:t>Controlling Tone, Reading level and Length</a:t>
            </a:r>
          </a:p>
        </p:txBody>
      </p:sp>
      <p:sp>
        <p:nvSpPr>
          <p:cNvPr id="3" name="Content Placeholder 2">
            <a:extLst>
              <a:ext uri="{FF2B5EF4-FFF2-40B4-BE49-F238E27FC236}">
                <a16:creationId xmlns:a16="http://schemas.microsoft.com/office/drawing/2014/main" id="{D82CA0E0-F032-BFCF-2413-E69186059DC6}"/>
              </a:ext>
            </a:extLst>
          </p:cNvPr>
          <p:cNvSpPr>
            <a:spLocks noGrp="1"/>
          </p:cNvSpPr>
          <p:nvPr>
            <p:ph idx="14"/>
          </p:nvPr>
        </p:nvSpPr>
        <p:spPr>
          <a:xfrm>
            <a:off x="3465576" y="2477729"/>
            <a:ext cx="7595714" cy="3740191"/>
          </a:xfrm>
        </p:spPr>
        <p:txBody>
          <a:bodyPr/>
          <a:lstStyle/>
          <a:p>
            <a:r>
              <a:rPr lang="en-US" b="1" dirty="0"/>
              <a:t>Controlling Tone (The Emotional Frame)</a:t>
            </a:r>
          </a:p>
          <a:p>
            <a:pPr marL="0" indent="0">
              <a:buNone/>
            </a:pPr>
            <a:r>
              <a:rPr lang="en-US" dirty="0"/>
              <a:t>Tone sets the attitude of the response. To get the exact voice you want, avoid vague words like </a:t>
            </a:r>
            <a:r>
              <a:rPr lang="en-US" i="1" dirty="0"/>
              <a:t>"make it sound professional."</a:t>
            </a:r>
            <a:r>
              <a:rPr lang="en-US" dirty="0"/>
              <a:t> Instead, provide contrasting guardrails.</a:t>
            </a:r>
          </a:p>
          <a:p>
            <a:pPr marL="0" lvl="0" indent="0">
              <a:buNone/>
            </a:pPr>
            <a:r>
              <a:rPr lang="en-US" b="1" dirty="0"/>
              <a:t>The Command Strategy:</a:t>
            </a:r>
            <a:r>
              <a:rPr lang="en-US" dirty="0"/>
              <a:t> Give the model a target tone along with an explicit "anti-tone" to avoid.</a:t>
            </a:r>
          </a:p>
          <a:p>
            <a:pPr marL="0" lvl="0" indent="0">
              <a:buNone/>
            </a:pPr>
            <a:r>
              <a:rPr lang="en-US" i="1" dirty="0"/>
              <a:t>Write a reply to this customer complaint regarding a shipping </a:t>
            </a:r>
            <a:r>
              <a:rPr lang="en-US" i="1" dirty="0" err="1"/>
              <a:t>delay.Tone</a:t>
            </a:r>
            <a:r>
              <a:rPr lang="en-US" i="1" dirty="0"/>
              <a:t>: Empathetic, direct, and solutions-oriented. Anti-Tone: Do not sound overly defensive, stiffly corporate, or robotic. Do not use exclamation marks.</a:t>
            </a:r>
          </a:p>
          <a:p>
            <a:pPr marL="0" indent="0">
              <a:buNone/>
            </a:pPr>
            <a:endParaRPr lang="en-US" dirty="0"/>
          </a:p>
        </p:txBody>
      </p:sp>
      <p:sp>
        <p:nvSpPr>
          <p:cNvPr id="5" name="Slide Number Placeholder 4">
            <a:extLst>
              <a:ext uri="{FF2B5EF4-FFF2-40B4-BE49-F238E27FC236}">
                <a16:creationId xmlns:a16="http://schemas.microsoft.com/office/drawing/2014/main" id="{5EA1FAC2-D1D6-57F9-7331-E63532BF9DD9}"/>
              </a:ext>
            </a:extLst>
          </p:cNvPr>
          <p:cNvSpPr>
            <a:spLocks noGrp="1"/>
          </p:cNvSpPr>
          <p:nvPr>
            <p:ph type="sldNum" sz="quarter" idx="40"/>
          </p:nvPr>
        </p:nvSpPr>
        <p:spPr/>
        <p:txBody>
          <a:bodyPr/>
          <a:lstStyle/>
          <a:p>
            <a:fld id="{47FEACEE-25B4-4A2D-B147-27296E36371D}" type="slidenum">
              <a:rPr lang="en-US" altLang="zh-CN" noProof="0" smtClean="0"/>
              <a:pPr/>
              <a:t>23</a:t>
            </a:fld>
            <a:endParaRPr lang="en-US" altLang="zh-CN" noProof="0" dirty="0"/>
          </a:p>
        </p:txBody>
      </p:sp>
    </p:spTree>
    <p:extLst>
      <p:ext uri="{BB962C8B-B14F-4D97-AF65-F5344CB8AC3E}">
        <p14:creationId xmlns:p14="http://schemas.microsoft.com/office/powerpoint/2010/main" val="2150537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510FB-4A7E-457C-A0AD-AE7A81E927E8}"/>
              </a:ext>
            </a:extLst>
          </p:cNvPr>
          <p:cNvSpPr>
            <a:spLocks noGrp="1"/>
          </p:cNvSpPr>
          <p:nvPr>
            <p:ph type="title"/>
          </p:nvPr>
        </p:nvSpPr>
        <p:spPr>
          <a:xfrm>
            <a:off x="3465576" y="1499616"/>
            <a:ext cx="7955280" cy="365125"/>
          </a:xfrm>
        </p:spPr>
        <p:txBody>
          <a:bodyPr>
            <a:normAutofit fontScale="90000"/>
          </a:bodyPr>
          <a:lstStyle/>
          <a:p>
            <a:r>
              <a:rPr lang="en-US" dirty="0"/>
              <a:t>2. Controlling Reading Level</a:t>
            </a:r>
          </a:p>
        </p:txBody>
      </p:sp>
      <p:sp>
        <p:nvSpPr>
          <p:cNvPr id="3" name="Content Placeholder 2">
            <a:extLst>
              <a:ext uri="{FF2B5EF4-FFF2-40B4-BE49-F238E27FC236}">
                <a16:creationId xmlns:a16="http://schemas.microsoft.com/office/drawing/2014/main" id="{BFB810F5-8C58-EA74-F171-43DC8864200B}"/>
              </a:ext>
            </a:extLst>
          </p:cNvPr>
          <p:cNvSpPr>
            <a:spLocks noGrp="1"/>
          </p:cNvSpPr>
          <p:nvPr>
            <p:ph idx="14"/>
          </p:nvPr>
        </p:nvSpPr>
        <p:spPr>
          <a:xfrm>
            <a:off x="3465575" y="3108960"/>
            <a:ext cx="7728593" cy="3108960"/>
          </a:xfrm>
        </p:spPr>
        <p:txBody>
          <a:bodyPr/>
          <a:lstStyle/>
          <a:p>
            <a:r>
              <a:rPr lang="en-US" b="1" dirty="0"/>
              <a:t>2. Controlling Reading Level (The Complexity Frame)</a:t>
            </a:r>
          </a:p>
          <a:p>
            <a:pPr marL="0" indent="0">
              <a:buNone/>
            </a:pPr>
            <a:r>
              <a:rPr lang="en-US" dirty="0"/>
              <a:t>If you do not specify a reading level, AI models tend to write at a university or postgraduate level, using complex sentence structures and industry jargon. You can pin the model to a specific audience using the CEFR scale, grade levels, or clear structural rules.</a:t>
            </a:r>
          </a:p>
          <a:p>
            <a:pPr marL="0" indent="0">
              <a:buNone/>
            </a:pPr>
            <a:r>
              <a:rPr lang="en-US" i="1" dirty="0"/>
              <a:t>Explain our new data privacy policy. Target a 12th-grade reading level. Use precise industry terms (GDPR compliance, data minimization) without over-simplifying, as this is for our legal and compliance stakeholders</a:t>
            </a:r>
            <a:r>
              <a:rPr lang="en-US" dirty="0"/>
              <a:t>.</a:t>
            </a:r>
          </a:p>
          <a:p>
            <a:endParaRPr lang="en-US" dirty="0"/>
          </a:p>
        </p:txBody>
      </p:sp>
      <p:sp>
        <p:nvSpPr>
          <p:cNvPr id="5" name="Slide Number Placeholder 4">
            <a:extLst>
              <a:ext uri="{FF2B5EF4-FFF2-40B4-BE49-F238E27FC236}">
                <a16:creationId xmlns:a16="http://schemas.microsoft.com/office/drawing/2014/main" id="{E7890D9C-22B4-5C26-3241-B08D15A18B58}"/>
              </a:ext>
            </a:extLst>
          </p:cNvPr>
          <p:cNvSpPr>
            <a:spLocks noGrp="1"/>
          </p:cNvSpPr>
          <p:nvPr>
            <p:ph type="sldNum" sz="quarter" idx="40"/>
          </p:nvPr>
        </p:nvSpPr>
        <p:spPr/>
        <p:txBody>
          <a:bodyPr/>
          <a:lstStyle/>
          <a:p>
            <a:fld id="{47FEACEE-25B4-4A2D-B147-27296E36371D}" type="slidenum">
              <a:rPr lang="en-US" altLang="zh-CN" noProof="0" smtClean="0"/>
              <a:pPr/>
              <a:t>24</a:t>
            </a:fld>
            <a:endParaRPr lang="en-US" altLang="zh-CN" noProof="0" dirty="0"/>
          </a:p>
        </p:txBody>
      </p:sp>
    </p:spTree>
    <p:extLst>
      <p:ext uri="{BB962C8B-B14F-4D97-AF65-F5344CB8AC3E}">
        <p14:creationId xmlns:p14="http://schemas.microsoft.com/office/powerpoint/2010/main" val="22659789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DE7CB-22FD-C35B-EC59-CD23A3E8E0D4}"/>
              </a:ext>
            </a:extLst>
          </p:cNvPr>
          <p:cNvSpPr>
            <a:spLocks noGrp="1"/>
          </p:cNvSpPr>
          <p:nvPr>
            <p:ph type="title"/>
          </p:nvPr>
        </p:nvSpPr>
        <p:spPr/>
        <p:txBody>
          <a:bodyPr/>
          <a:lstStyle/>
          <a:p>
            <a:r>
              <a:rPr lang="en-US" dirty="0"/>
              <a:t>3. Controlling the Length</a:t>
            </a:r>
          </a:p>
        </p:txBody>
      </p:sp>
      <p:sp>
        <p:nvSpPr>
          <p:cNvPr id="3" name="Content Placeholder 2">
            <a:extLst>
              <a:ext uri="{FF2B5EF4-FFF2-40B4-BE49-F238E27FC236}">
                <a16:creationId xmlns:a16="http://schemas.microsoft.com/office/drawing/2014/main" id="{0FC8C551-114B-0BF9-1B09-314926493CCF}"/>
              </a:ext>
            </a:extLst>
          </p:cNvPr>
          <p:cNvSpPr>
            <a:spLocks noGrp="1"/>
          </p:cNvSpPr>
          <p:nvPr>
            <p:ph idx="14"/>
          </p:nvPr>
        </p:nvSpPr>
        <p:spPr>
          <a:xfrm>
            <a:off x="3465575" y="3108960"/>
            <a:ext cx="7403985" cy="3108960"/>
          </a:xfrm>
        </p:spPr>
        <p:txBody>
          <a:bodyPr>
            <a:normAutofit fontScale="92500" lnSpcReduction="10000"/>
          </a:bodyPr>
          <a:lstStyle/>
          <a:p>
            <a:pPr marL="0" indent="0">
              <a:buNone/>
            </a:pPr>
            <a:r>
              <a:rPr lang="en-US" dirty="0"/>
              <a:t>Models are notoriously bad at counting characters or exact words because they process text in "tokens" (chunks of characters), not words. Asking for </a:t>
            </a:r>
            <a:r>
              <a:rPr lang="en-US" i="1" dirty="0"/>
              <a:t>"exactly 240 words"</a:t>
            </a:r>
            <a:r>
              <a:rPr lang="en-US" dirty="0"/>
              <a:t> usually fails. Instead, enforce length using structural units that the model can track mathematically.</a:t>
            </a:r>
          </a:p>
          <a:p>
            <a:pPr marL="0" indent="0">
              <a:buNone/>
            </a:pPr>
            <a:r>
              <a:rPr lang="en-US" b="1" dirty="0"/>
              <a:t>High-Leverage Length Constraints</a:t>
            </a:r>
          </a:p>
          <a:p>
            <a:pPr marL="0" lvl="0" indent="0">
              <a:buNone/>
            </a:pPr>
            <a:r>
              <a:rPr lang="en-US" b="1" dirty="0"/>
              <a:t>Paragraph/Sentence Counts:</a:t>
            </a:r>
            <a:r>
              <a:rPr lang="en-US" dirty="0"/>
              <a:t> </a:t>
            </a:r>
            <a:r>
              <a:rPr lang="en-US" i="1" dirty="0"/>
              <a:t>"Write exactly two paragraphs. The first paragraph must contain three sentences, and the second must contain two."</a:t>
            </a:r>
            <a:endParaRPr lang="en-US" dirty="0"/>
          </a:p>
          <a:p>
            <a:pPr marL="0" lvl="0" indent="0">
              <a:buNone/>
            </a:pPr>
            <a:r>
              <a:rPr lang="en-US" b="1" dirty="0"/>
              <a:t>Hard </a:t>
            </a:r>
            <a:r>
              <a:rPr lang="en-US" b="1" dirty="0" err="1"/>
              <a:t>Hard</a:t>
            </a:r>
            <a:r>
              <a:rPr lang="en-US" b="1" dirty="0"/>
              <a:t> Ceilings:</a:t>
            </a:r>
            <a:r>
              <a:rPr lang="en-US" dirty="0"/>
              <a:t> </a:t>
            </a:r>
            <a:r>
              <a:rPr lang="en-US" i="1" dirty="0"/>
              <a:t>"Keep the entire response under 50 words total."</a:t>
            </a:r>
            <a:endParaRPr lang="en-US" dirty="0"/>
          </a:p>
          <a:p>
            <a:pPr marL="0" lvl="0" indent="0">
              <a:buNone/>
            </a:pPr>
            <a:r>
              <a:rPr lang="en-US" b="1" dirty="0"/>
              <a:t>Visual/Layout Caps:</a:t>
            </a:r>
            <a:r>
              <a:rPr lang="en-US" dirty="0"/>
              <a:t> </a:t>
            </a:r>
            <a:r>
              <a:rPr lang="en-US" i="1" dirty="0"/>
              <a:t>"Provide exactly three bullet points. Each bullet point must be a single line of text and contain no more than 10 words."</a:t>
            </a:r>
            <a:endParaRPr lang="en-US" dirty="0"/>
          </a:p>
          <a:p>
            <a:endParaRPr lang="en-US" dirty="0"/>
          </a:p>
        </p:txBody>
      </p:sp>
      <p:sp>
        <p:nvSpPr>
          <p:cNvPr id="5" name="Slide Number Placeholder 4">
            <a:extLst>
              <a:ext uri="{FF2B5EF4-FFF2-40B4-BE49-F238E27FC236}">
                <a16:creationId xmlns:a16="http://schemas.microsoft.com/office/drawing/2014/main" id="{9D84743E-6192-255F-440F-9ED5215CFEF2}"/>
              </a:ext>
            </a:extLst>
          </p:cNvPr>
          <p:cNvSpPr>
            <a:spLocks noGrp="1"/>
          </p:cNvSpPr>
          <p:nvPr>
            <p:ph type="sldNum" sz="quarter" idx="40"/>
          </p:nvPr>
        </p:nvSpPr>
        <p:spPr/>
        <p:txBody>
          <a:bodyPr/>
          <a:lstStyle/>
          <a:p>
            <a:fld id="{47FEACEE-25B4-4A2D-B147-27296E36371D}" type="slidenum">
              <a:rPr lang="en-US" altLang="zh-CN" noProof="0" smtClean="0"/>
              <a:pPr/>
              <a:t>25</a:t>
            </a:fld>
            <a:endParaRPr lang="en-US" altLang="zh-CN" noProof="0" dirty="0"/>
          </a:p>
        </p:txBody>
      </p:sp>
    </p:spTree>
    <p:extLst>
      <p:ext uri="{BB962C8B-B14F-4D97-AF65-F5344CB8AC3E}">
        <p14:creationId xmlns:p14="http://schemas.microsoft.com/office/powerpoint/2010/main" val="12505198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6BEE5-7C40-DEE0-0B12-2D8492771714}"/>
              </a:ext>
            </a:extLst>
          </p:cNvPr>
          <p:cNvSpPr>
            <a:spLocks noGrp="1"/>
          </p:cNvSpPr>
          <p:nvPr>
            <p:ph type="title"/>
          </p:nvPr>
        </p:nvSpPr>
        <p:spPr>
          <a:xfrm>
            <a:off x="3465576" y="1499616"/>
            <a:ext cx="7955280" cy="845378"/>
          </a:xfrm>
        </p:spPr>
        <p:txBody>
          <a:bodyPr>
            <a:normAutofit fontScale="90000"/>
          </a:bodyPr>
          <a:lstStyle/>
          <a:p>
            <a:r>
              <a:rPr lang="en-US" dirty="0"/>
              <a:t>Constraining scope to prevent rambling or off-topic answers</a:t>
            </a:r>
          </a:p>
        </p:txBody>
      </p:sp>
      <p:sp>
        <p:nvSpPr>
          <p:cNvPr id="3" name="Content Placeholder 2">
            <a:extLst>
              <a:ext uri="{FF2B5EF4-FFF2-40B4-BE49-F238E27FC236}">
                <a16:creationId xmlns:a16="http://schemas.microsoft.com/office/drawing/2014/main" id="{37C41968-43DA-4F48-B962-18DEAA848D29}"/>
              </a:ext>
            </a:extLst>
          </p:cNvPr>
          <p:cNvSpPr>
            <a:spLocks noGrp="1"/>
          </p:cNvSpPr>
          <p:nvPr>
            <p:ph idx="14"/>
          </p:nvPr>
        </p:nvSpPr>
        <p:spPr>
          <a:xfrm>
            <a:off x="3465575" y="3108960"/>
            <a:ext cx="7728593" cy="3108960"/>
          </a:xfrm>
        </p:spPr>
        <p:txBody>
          <a:bodyPr>
            <a:normAutofit fontScale="92500" lnSpcReduction="20000"/>
          </a:bodyPr>
          <a:lstStyle/>
          <a:p>
            <a:pPr marL="0" indent="0">
              <a:buNone/>
            </a:pPr>
            <a:r>
              <a:rPr lang="en-US" dirty="0"/>
              <a:t>To keep an AI tightly focused and prevent it from rambling, hallucinating, or wandering off-topic, you must establish strict operational boundaries.</a:t>
            </a:r>
          </a:p>
          <a:p>
            <a:pPr marL="0" indent="0">
              <a:buNone/>
            </a:pPr>
            <a:endParaRPr lang="en-US" dirty="0"/>
          </a:p>
          <a:p>
            <a:pPr marL="0" indent="0">
              <a:buNone/>
            </a:pPr>
            <a:r>
              <a:rPr lang="en-US" b="1" dirty="0"/>
              <a:t>Prevent Rambling </a:t>
            </a:r>
          </a:p>
          <a:p>
            <a:r>
              <a:rPr lang="en-US" b="1" dirty="0"/>
              <a:t>Use "Negative Prompting" (What </a:t>
            </a:r>
            <a:r>
              <a:rPr lang="en-US" b="1" i="1" dirty="0"/>
              <a:t>Not</a:t>
            </a:r>
            <a:r>
              <a:rPr lang="en-US" b="1" dirty="0"/>
              <a:t> to Do)</a:t>
            </a:r>
          </a:p>
          <a:p>
            <a:pPr marL="0" indent="0">
              <a:buNone/>
            </a:pPr>
            <a:r>
              <a:rPr lang="en-US" dirty="0"/>
              <a:t>Explicitly stating what the AI should omit is often more powerful than telling it what to include.</a:t>
            </a:r>
          </a:p>
          <a:p>
            <a:pPr marL="0" lvl="0" indent="0">
              <a:buNone/>
            </a:pPr>
            <a:r>
              <a:rPr lang="en-US" b="1" dirty="0"/>
              <a:t>Instead of:</a:t>
            </a:r>
            <a:r>
              <a:rPr lang="en-US" dirty="0"/>
              <a:t> </a:t>
            </a:r>
            <a:r>
              <a:rPr lang="en-US" i="1" dirty="0"/>
              <a:t>"Keep it brief."</a:t>
            </a:r>
            <a:endParaRPr lang="en-US" dirty="0"/>
          </a:p>
          <a:p>
            <a:pPr marL="0" lvl="0" indent="0">
              <a:buNone/>
            </a:pPr>
            <a:r>
              <a:rPr lang="en-US" b="1" dirty="0"/>
              <a:t>Use:</a:t>
            </a:r>
            <a:r>
              <a:rPr lang="en-US" dirty="0"/>
              <a:t> </a:t>
            </a:r>
            <a:r>
              <a:rPr lang="en-US" i="1" dirty="0"/>
              <a:t>"Do not introduce background history, adjacent theories, or introductory fluff. Answer the query directly in the first sentence."</a:t>
            </a:r>
            <a:endParaRPr lang="en-US" dirty="0"/>
          </a:p>
          <a:p>
            <a:pPr marL="0" indent="0">
              <a:buNone/>
            </a:pPr>
            <a:endParaRPr lang="en-US" dirty="0"/>
          </a:p>
        </p:txBody>
      </p:sp>
      <p:sp>
        <p:nvSpPr>
          <p:cNvPr id="5" name="Slide Number Placeholder 4">
            <a:extLst>
              <a:ext uri="{FF2B5EF4-FFF2-40B4-BE49-F238E27FC236}">
                <a16:creationId xmlns:a16="http://schemas.microsoft.com/office/drawing/2014/main" id="{9FD9CE98-2D15-BE2D-78C9-6ACF73A3D01E}"/>
              </a:ext>
            </a:extLst>
          </p:cNvPr>
          <p:cNvSpPr>
            <a:spLocks noGrp="1"/>
          </p:cNvSpPr>
          <p:nvPr>
            <p:ph type="sldNum" sz="quarter" idx="40"/>
          </p:nvPr>
        </p:nvSpPr>
        <p:spPr/>
        <p:txBody>
          <a:bodyPr/>
          <a:lstStyle/>
          <a:p>
            <a:fld id="{47FEACEE-25B4-4A2D-B147-27296E36371D}" type="slidenum">
              <a:rPr lang="en-US" altLang="zh-CN" noProof="0" smtClean="0"/>
              <a:pPr/>
              <a:t>26</a:t>
            </a:fld>
            <a:endParaRPr lang="en-US" altLang="zh-CN" noProof="0" dirty="0"/>
          </a:p>
        </p:txBody>
      </p:sp>
    </p:spTree>
    <p:extLst>
      <p:ext uri="{BB962C8B-B14F-4D97-AF65-F5344CB8AC3E}">
        <p14:creationId xmlns:p14="http://schemas.microsoft.com/office/powerpoint/2010/main" val="16239287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BB23C6-3400-0C5F-8BD4-88EDA6DA07E9}"/>
              </a:ext>
            </a:extLst>
          </p:cNvPr>
          <p:cNvSpPr>
            <a:spLocks noGrp="1"/>
          </p:cNvSpPr>
          <p:nvPr>
            <p:ph idx="14"/>
          </p:nvPr>
        </p:nvSpPr>
        <p:spPr>
          <a:xfrm>
            <a:off x="3465575" y="3108960"/>
            <a:ext cx="7402293" cy="3108960"/>
          </a:xfrm>
        </p:spPr>
        <p:txBody>
          <a:bodyPr/>
          <a:lstStyle/>
          <a:p>
            <a:pPr marL="0" indent="0">
              <a:buNone/>
            </a:pPr>
            <a:r>
              <a:rPr lang="en-US" b="1" dirty="0"/>
              <a:t>2. Implement Structural Hard Caps</a:t>
            </a:r>
          </a:p>
          <a:p>
            <a:pPr marL="0" indent="0">
              <a:buNone/>
            </a:pPr>
            <a:r>
              <a:rPr lang="en-US" dirty="0"/>
              <a:t>Force the AI into a strict structural container. When the model has to fit its thoughts into a rigid visual format, it naturally cuts out filler text.</a:t>
            </a:r>
          </a:p>
          <a:p>
            <a:pPr marL="0" lvl="0" indent="0">
              <a:buNone/>
            </a:pPr>
            <a:r>
              <a:rPr lang="en-US" b="1" dirty="0"/>
              <a:t>Instead of:</a:t>
            </a:r>
            <a:r>
              <a:rPr lang="en-US" dirty="0"/>
              <a:t> </a:t>
            </a:r>
            <a:r>
              <a:rPr lang="en-US" i="1" dirty="0"/>
              <a:t>"Write a summary."</a:t>
            </a:r>
            <a:endParaRPr lang="en-US" dirty="0"/>
          </a:p>
          <a:p>
            <a:pPr marL="0" lvl="0" indent="0">
              <a:buNone/>
            </a:pPr>
            <a:r>
              <a:rPr lang="en-US" b="1" dirty="0"/>
              <a:t>Use:</a:t>
            </a:r>
            <a:r>
              <a:rPr lang="en-US" dirty="0"/>
              <a:t> </a:t>
            </a:r>
            <a:r>
              <a:rPr lang="en-US" i="1" dirty="0"/>
              <a:t>"Provide exactly three bullet points. Each bullet point must be a single sentence fragment of no more than 15 words. Do not write a concluding paragraph.</a:t>
            </a:r>
            <a:endParaRPr lang="en-US" dirty="0"/>
          </a:p>
          <a:p>
            <a:endParaRPr lang="en-US" dirty="0"/>
          </a:p>
        </p:txBody>
      </p:sp>
      <p:sp>
        <p:nvSpPr>
          <p:cNvPr id="5" name="Slide Number Placeholder 4">
            <a:extLst>
              <a:ext uri="{FF2B5EF4-FFF2-40B4-BE49-F238E27FC236}">
                <a16:creationId xmlns:a16="http://schemas.microsoft.com/office/drawing/2014/main" id="{1F087D66-B1DD-F4B5-E614-FBA1503D7A83}"/>
              </a:ext>
            </a:extLst>
          </p:cNvPr>
          <p:cNvSpPr>
            <a:spLocks noGrp="1"/>
          </p:cNvSpPr>
          <p:nvPr>
            <p:ph type="sldNum" sz="quarter" idx="40"/>
          </p:nvPr>
        </p:nvSpPr>
        <p:spPr/>
        <p:txBody>
          <a:bodyPr/>
          <a:lstStyle/>
          <a:p>
            <a:fld id="{47FEACEE-25B4-4A2D-B147-27296E36371D}" type="slidenum">
              <a:rPr lang="en-US" altLang="zh-CN" noProof="0" smtClean="0"/>
              <a:pPr/>
              <a:t>27</a:t>
            </a:fld>
            <a:endParaRPr lang="en-US" altLang="zh-CN" noProof="0" dirty="0"/>
          </a:p>
        </p:txBody>
      </p:sp>
    </p:spTree>
    <p:extLst>
      <p:ext uri="{BB962C8B-B14F-4D97-AF65-F5344CB8AC3E}">
        <p14:creationId xmlns:p14="http://schemas.microsoft.com/office/powerpoint/2010/main" val="271346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56C558-8412-932F-6A1D-E2389D4E8E61}"/>
              </a:ext>
            </a:extLst>
          </p:cNvPr>
          <p:cNvSpPr>
            <a:spLocks noGrp="1"/>
          </p:cNvSpPr>
          <p:nvPr>
            <p:ph idx="14"/>
          </p:nvPr>
        </p:nvSpPr>
        <p:spPr>
          <a:xfrm>
            <a:off x="3465576" y="2035277"/>
            <a:ext cx="6755056" cy="4182643"/>
          </a:xfrm>
        </p:spPr>
        <p:txBody>
          <a:bodyPr>
            <a:normAutofit/>
          </a:bodyPr>
          <a:lstStyle/>
          <a:p>
            <a:pPr marL="0" indent="0">
              <a:buNone/>
            </a:pPr>
            <a:r>
              <a:rPr lang="en-US" b="1" dirty="0"/>
              <a:t>3. Anchor the Source Data</a:t>
            </a:r>
          </a:p>
          <a:p>
            <a:pPr marL="0" indent="0">
              <a:buNone/>
            </a:pPr>
            <a:r>
              <a:rPr lang="en-US" dirty="0"/>
              <a:t>Prevent the AI from pulling from its general internet knowledge base by locking it down to a specific set of facts.</a:t>
            </a:r>
          </a:p>
          <a:p>
            <a:pPr marL="0" lvl="0" indent="0">
              <a:buNone/>
            </a:pPr>
            <a:r>
              <a:rPr lang="en-US" b="1" dirty="0"/>
              <a:t>Instead of:</a:t>
            </a:r>
            <a:r>
              <a:rPr lang="en-US" dirty="0"/>
              <a:t> </a:t>
            </a:r>
            <a:r>
              <a:rPr lang="en-US" i="1" dirty="0"/>
              <a:t>"Tell me about X based on standard practices."</a:t>
            </a:r>
            <a:endParaRPr lang="en-US" dirty="0"/>
          </a:p>
          <a:p>
            <a:pPr marL="0" lvl="0" indent="0">
              <a:buNone/>
            </a:pPr>
            <a:r>
              <a:rPr lang="en-US" b="1" dirty="0"/>
              <a:t>Use:</a:t>
            </a:r>
            <a:r>
              <a:rPr lang="en-US" dirty="0"/>
              <a:t> </a:t>
            </a:r>
            <a:r>
              <a:rPr lang="en-US" i="1" dirty="0"/>
              <a:t>"Rely exclusively on the text provided below. If the answer cannot be found directly within the text, state 'Information not available' and stop writing. Do not extrapolate."</a:t>
            </a:r>
            <a:endParaRPr lang="en-US" dirty="0"/>
          </a:p>
          <a:p>
            <a:endParaRPr lang="en-US" dirty="0"/>
          </a:p>
        </p:txBody>
      </p:sp>
      <p:sp>
        <p:nvSpPr>
          <p:cNvPr id="5" name="Slide Number Placeholder 4">
            <a:extLst>
              <a:ext uri="{FF2B5EF4-FFF2-40B4-BE49-F238E27FC236}">
                <a16:creationId xmlns:a16="http://schemas.microsoft.com/office/drawing/2014/main" id="{B3E05126-692D-6B49-C24C-A9B65BC6BB25}"/>
              </a:ext>
            </a:extLst>
          </p:cNvPr>
          <p:cNvSpPr>
            <a:spLocks noGrp="1"/>
          </p:cNvSpPr>
          <p:nvPr>
            <p:ph type="sldNum" sz="quarter" idx="40"/>
          </p:nvPr>
        </p:nvSpPr>
        <p:spPr/>
        <p:txBody>
          <a:bodyPr/>
          <a:lstStyle/>
          <a:p>
            <a:fld id="{47FEACEE-25B4-4A2D-B147-27296E36371D}" type="slidenum">
              <a:rPr lang="en-US" altLang="zh-CN" noProof="0" smtClean="0"/>
              <a:pPr/>
              <a:t>28</a:t>
            </a:fld>
            <a:endParaRPr lang="en-US" altLang="zh-CN" noProof="0" dirty="0"/>
          </a:p>
        </p:txBody>
      </p:sp>
    </p:spTree>
    <p:extLst>
      <p:ext uri="{BB962C8B-B14F-4D97-AF65-F5344CB8AC3E}">
        <p14:creationId xmlns:p14="http://schemas.microsoft.com/office/powerpoint/2010/main" val="34308041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66C96F-7232-0D1D-5832-493573F69F90}"/>
              </a:ext>
            </a:extLst>
          </p:cNvPr>
          <p:cNvSpPr>
            <a:spLocks noGrp="1"/>
          </p:cNvSpPr>
          <p:nvPr>
            <p:ph idx="14"/>
          </p:nvPr>
        </p:nvSpPr>
        <p:spPr>
          <a:xfrm>
            <a:off x="3465575" y="3108960"/>
            <a:ext cx="6165121" cy="3108960"/>
          </a:xfrm>
        </p:spPr>
        <p:txBody>
          <a:bodyPr>
            <a:normAutofit/>
          </a:bodyPr>
          <a:lstStyle/>
          <a:p>
            <a:pPr marL="0" indent="0">
              <a:buNone/>
            </a:pPr>
            <a:r>
              <a:rPr lang="en-US" b="1" dirty="0"/>
              <a:t>4. Define the Exact "Scope of Expertise"</a:t>
            </a:r>
          </a:p>
          <a:p>
            <a:pPr marL="0" indent="0">
              <a:buNone/>
            </a:pPr>
            <a:r>
              <a:rPr lang="en-US" dirty="0"/>
              <a:t>Give the AI a narrow identity that naturally limits its vocabulary and perspective.</a:t>
            </a:r>
          </a:p>
          <a:p>
            <a:pPr marL="0" lvl="0" indent="0">
              <a:buNone/>
            </a:pPr>
            <a:r>
              <a:rPr lang="en-US" b="1" dirty="0"/>
              <a:t>Instead of:</a:t>
            </a:r>
            <a:r>
              <a:rPr lang="en-US" dirty="0"/>
              <a:t> </a:t>
            </a:r>
            <a:r>
              <a:rPr lang="en-US" i="1" dirty="0"/>
              <a:t>"Act as a business consultant."</a:t>
            </a:r>
            <a:endParaRPr lang="en-US" dirty="0"/>
          </a:p>
          <a:p>
            <a:pPr marL="0" lvl="0" indent="0">
              <a:buNone/>
            </a:pPr>
            <a:r>
              <a:rPr lang="en-US" b="1" dirty="0"/>
              <a:t>Use:</a:t>
            </a:r>
            <a:r>
              <a:rPr lang="en-US" dirty="0"/>
              <a:t> </a:t>
            </a:r>
            <a:r>
              <a:rPr lang="en-US" i="1" dirty="0"/>
              <a:t>"Act as a strict compliance auditor. Your scope is limited entirely to identifying regulatory violations in the text. Ignore operational efficiency, marketing, or revenue suggestions."</a:t>
            </a:r>
            <a:endParaRPr lang="en-US" dirty="0"/>
          </a:p>
          <a:p>
            <a:endParaRPr lang="en-US" dirty="0"/>
          </a:p>
        </p:txBody>
      </p:sp>
      <p:sp>
        <p:nvSpPr>
          <p:cNvPr id="5" name="Slide Number Placeholder 4">
            <a:extLst>
              <a:ext uri="{FF2B5EF4-FFF2-40B4-BE49-F238E27FC236}">
                <a16:creationId xmlns:a16="http://schemas.microsoft.com/office/drawing/2014/main" id="{C98EB585-2620-3AF2-EB75-7215326A0F5C}"/>
              </a:ext>
            </a:extLst>
          </p:cNvPr>
          <p:cNvSpPr>
            <a:spLocks noGrp="1"/>
          </p:cNvSpPr>
          <p:nvPr>
            <p:ph type="sldNum" sz="quarter" idx="40"/>
          </p:nvPr>
        </p:nvSpPr>
        <p:spPr/>
        <p:txBody>
          <a:bodyPr/>
          <a:lstStyle/>
          <a:p>
            <a:fld id="{47FEACEE-25B4-4A2D-B147-27296E36371D}" type="slidenum">
              <a:rPr lang="en-US" altLang="zh-CN" noProof="0" smtClean="0"/>
              <a:pPr/>
              <a:t>29</a:t>
            </a:fld>
            <a:endParaRPr lang="en-US" altLang="zh-CN" noProof="0" dirty="0"/>
          </a:p>
        </p:txBody>
      </p:sp>
    </p:spTree>
    <p:extLst>
      <p:ext uri="{BB962C8B-B14F-4D97-AF65-F5344CB8AC3E}">
        <p14:creationId xmlns:p14="http://schemas.microsoft.com/office/powerpoint/2010/main" val="23087685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40CA23-0303-BC98-7805-E55CF5F175BB}"/>
              </a:ext>
            </a:extLst>
          </p:cNvPr>
          <p:cNvSpPr>
            <a:spLocks noGrp="1"/>
          </p:cNvSpPr>
          <p:nvPr>
            <p:ph idx="14"/>
          </p:nvPr>
        </p:nvSpPr>
        <p:spPr>
          <a:xfrm>
            <a:off x="3465575" y="2610465"/>
            <a:ext cx="7330243" cy="3607455"/>
          </a:xfrm>
        </p:spPr>
        <p:txBody>
          <a:bodyPr/>
          <a:lstStyle/>
          <a:p>
            <a:pPr marL="0" indent="0">
              <a:buNone/>
            </a:pPr>
            <a:r>
              <a:rPr lang="en-US" b="1" dirty="0"/>
              <a:t>5. Use Trigger Words for Directness</a:t>
            </a:r>
          </a:p>
          <a:p>
            <a:pPr marL="0" indent="0">
              <a:buNone/>
            </a:pPr>
            <a:r>
              <a:rPr lang="en-US" dirty="0"/>
              <a:t>Incorporate command verbs that explicitly demand brevity.</a:t>
            </a:r>
          </a:p>
          <a:p>
            <a:pPr marL="0" lvl="0" indent="0">
              <a:buNone/>
            </a:pPr>
            <a:r>
              <a:rPr lang="en-US" b="1" dirty="0"/>
              <a:t>Good target phrases:</a:t>
            </a:r>
            <a:r>
              <a:rPr lang="en-US" dirty="0"/>
              <a:t> </a:t>
            </a:r>
            <a:r>
              <a:rPr lang="en-US" i="1" dirty="0"/>
              <a:t>"Be concise," "Provide an executive summary," "Give a stark, minimalist breakdown," "Answer in a single word/phrase."</a:t>
            </a:r>
            <a:endParaRPr lang="en-US" dirty="0"/>
          </a:p>
          <a:p>
            <a:endParaRPr lang="en-US" dirty="0"/>
          </a:p>
        </p:txBody>
      </p:sp>
      <p:sp>
        <p:nvSpPr>
          <p:cNvPr id="5" name="Slide Number Placeholder 4">
            <a:extLst>
              <a:ext uri="{FF2B5EF4-FFF2-40B4-BE49-F238E27FC236}">
                <a16:creationId xmlns:a16="http://schemas.microsoft.com/office/drawing/2014/main" id="{CB470DE2-F760-6EB3-B073-838A0DB14011}"/>
              </a:ext>
            </a:extLst>
          </p:cNvPr>
          <p:cNvSpPr>
            <a:spLocks noGrp="1"/>
          </p:cNvSpPr>
          <p:nvPr>
            <p:ph type="sldNum" sz="quarter" idx="40"/>
          </p:nvPr>
        </p:nvSpPr>
        <p:spPr/>
        <p:txBody>
          <a:bodyPr/>
          <a:lstStyle/>
          <a:p>
            <a:fld id="{47FEACEE-25B4-4A2D-B147-27296E36371D}" type="slidenum">
              <a:rPr lang="en-US" altLang="zh-CN" noProof="0" smtClean="0"/>
              <a:pPr/>
              <a:t>30</a:t>
            </a:fld>
            <a:endParaRPr lang="en-US" altLang="zh-CN" noProof="0" dirty="0"/>
          </a:p>
        </p:txBody>
      </p:sp>
    </p:spTree>
    <p:extLst>
      <p:ext uri="{BB962C8B-B14F-4D97-AF65-F5344CB8AC3E}">
        <p14:creationId xmlns:p14="http://schemas.microsoft.com/office/powerpoint/2010/main" val="37336704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25486-B6D3-AE18-85DC-8426032DE4FF}"/>
              </a:ext>
            </a:extLst>
          </p:cNvPr>
          <p:cNvSpPr>
            <a:spLocks noGrp="1"/>
          </p:cNvSpPr>
          <p:nvPr>
            <p:ph type="title"/>
          </p:nvPr>
        </p:nvSpPr>
        <p:spPr>
          <a:xfrm>
            <a:off x="3465576" y="1499616"/>
            <a:ext cx="7955280" cy="756887"/>
          </a:xfrm>
        </p:spPr>
        <p:txBody>
          <a:bodyPr/>
          <a:lstStyle/>
          <a:p>
            <a:r>
              <a:rPr lang="en-US" dirty="0"/>
              <a:t>Constraint Blueprint</a:t>
            </a:r>
          </a:p>
        </p:txBody>
      </p:sp>
      <p:sp>
        <p:nvSpPr>
          <p:cNvPr id="5" name="Slide Number Placeholder 4">
            <a:extLst>
              <a:ext uri="{FF2B5EF4-FFF2-40B4-BE49-F238E27FC236}">
                <a16:creationId xmlns:a16="http://schemas.microsoft.com/office/drawing/2014/main" id="{AD57CFBC-5AD6-3EA4-1CD5-8A0237979E47}"/>
              </a:ext>
            </a:extLst>
          </p:cNvPr>
          <p:cNvSpPr>
            <a:spLocks noGrp="1"/>
          </p:cNvSpPr>
          <p:nvPr>
            <p:ph type="sldNum" sz="quarter" idx="40"/>
          </p:nvPr>
        </p:nvSpPr>
        <p:spPr/>
        <p:txBody>
          <a:bodyPr/>
          <a:lstStyle/>
          <a:p>
            <a:fld id="{47FEACEE-25B4-4A2D-B147-27296E36371D}" type="slidenum">
              <a:rPr lang="en-US" altLang="zh-CN" noProof="0" smtClean="0"/>
              <a:pPr/>
              <a:t>31</a:t>
            </a:fld>
            <a:endParaRPr lang="en-US" altLang="zh-CN" noProof="0" dirty="0"/>
          </a:p>
        </p:txBody>
      </p:sp>
      <p:pic>
        <p:nvPicPr>
          <p:cNvPr id="7" name="Picture 6">
            <a:extLst>
              <a:ext uri="{FF2B5EF4-FFF2-40B4-BE49-F238E27FC236}">
                <a16:creationId xmlns:a16="http://schemas.microsoft.com/office/drawing/2014/main" id="{6D591BF2-0504-5C3E-611A-98702E882843}"/>
              </a:ext>
            </a:extLst>
          </p:cNvPr>
          <p:cNvPicPr>
            <a:picLocks noChangeAspect="1"/>
          </p:cNvPicPr>
          <p:nvPr/>
        </p:nvPicPr>
        <p:blipFill>
          <a:blip r:embed="rId2"/>
          <a:stretch>
            <a:fillRect/>
          </a:stretch>
        </p:blipFill>
        <p:spPr>
          <a:xfrm>
            <a:off x="3821368" y="3116021"/>
            <a:ext cx="5735587" cy="310189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753718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0DE0F-95FC-2364-8150-7CBAF12E017F}"/>
              </a:ext>
            </a:extLst>
          </p:cNvPr>
          <p:cNvSpPr>
            <a:spLocks noGrp="1"/>
          </p:cNvSpPr>
          <p:nvPr>
            <p:ph type="title"/>
          </p:nvPr>
        </p:nvSpPr>
        <p:spPr/>
        <p:txBody>
          <a:bodyPr/>
          <a:lstStyle/>
          <a:p>
            <a:r>
              <a:rPr lang="en-US" dirty="0"/>
              <a:t>Iteration and Debugging</a:t>
            </a:r>
          </a:p>
        </p:txBody>
      </p:sp>
      <p:sp>
        <p:nvSpPr>
          <p:cNvPr id="3" name="Content Placeholder 2">
            <a:extLst>
              <a:ext uri="{FF2B5EF4-FFF2-40B4-BE49-F238E27FC236}">
                <a16:creationId xmlns:a16="http://schemas.microsoft.com/office/drawing/2014/main" id="{33F536FC-B8A9-94C8-FDF5-FD17149762C9}"/>
              </a:ext>
            </a:extLst>
          </p:cNvPr>
          <p:cNvSpPr>
            <a:spLocks noGrp="1"/>
          </p:cNvSpPr>
          <p:nvPr>
            <p:ph idx="14"/>
          </p:nvPr>
        </p:nvSpPr>
        <p:spPr>
          <a:xfrm>
            <a:off x="3465575" y="3108960"/>
            <a:ext cx="7955279" cy="3108960"/>
          </a:xfrm>
        </p:spPr>
        <p:txBody>
          <a:bodyPr>
            <a:normAutofit fontScale="92500" lnSpcReduction="20000"/>
          </a:bodyPr>
          <a:lstStyle/>
          <a:p>
            <a:pPr marL="0" indent="0">
              <a:buNone/>
            </a:pPr>
            <a:r>
              <a:rPr lang="en-US" dirty="0"/>
              <a:t>To systematically improve a prompt, use this cyclical debugging process:</a:t>
            </a:r>
          </a:p>
          <a:p>
            <a:pPr marL="0" indent="0">
              <a:buNone/>
            </a:pPr>
            <a:endParaRPr lang="en-US" dirty="0"/>
          </a:p>
          <a:p>
            <a:pPr lvl="0"/>
            <a:r>
              <a:rPr lang="en-US" b="1" dirty="0"/>
              <a:t>Test Baseline:</a:t>
            </a:r>
            <a:r>
              <a:rPr lang="en-US" dirty="0"/>
              <a:t> Run your prompt 3 to 5 times on different inputs to see if the output is consistently flawed or just a one-off variance.</a:t>
            </a:r>
          </a:p>
          <a:p>
            <a:pPr lvl="0"/>
            <a:r>
              <a:rPr lang="en-US" b="1" dirty="0"/>
              <a:t>Isolate Failure:</a:t>
            </a:r>
            <a:r>
              <a:rPr lang="en-US" dirty="0"/>
              <a:t> Identify exactly where it broke. Did it break format? Did it ramble? Did it misunderstand a specific word?</a:t>
            </a:r>
          </a:p>
          <a:p>
            <a:pPr lvl="0"/>
            <a:r>
              <a:rPr lang="en-US" b="1" dirty="0"/>
              <a:t>Patch Prompt:</a:t>
            </a:r>
            <a:r>
              <a:rPr lang="en-US" dirty="0"/>
              <a:t> Apply a specific constraint or an </a:t>
            </a:r>
            <a:r>
              <a:rPr lang="en-US" b="1" dirty="0"/>
              <a:t>example (few-shot template)</a:t>
            </a:r>
            <a:r>
              <a:rPr lang="en-US" dirty="0"/>
              <a:t> to show the AI exactly what correct looks like.</a:t>
            </a:r>
          </a:p>
          <a:p>
            <a:pPr lvl="0"/>
            <a:r>
              <a:rPr lang="en-US" b="1" dirty="0"/>
              <a:t>Stress Test:</a:t>
            </a:r>
            <a:r>
              <a:rPr lang="en-US" dirty="0"/>
              <a:t> Push the prompt to its limits with edge cases (e.g., feeding it intentionally messy data) to ensure your patch holds up.</a:t>
            </a:r>
          </a:p>
          <a:p>
            <a:pPr marL="0" indent="0">
              <a:buNone/>
            </a:pPr>
            <a:endParaRPr lang="en-US" dirty="0"/>
          </a:p>
          <a:p>
            <a:endParaRPr lang="en-US" dirty="0"/>
          </a:p>
        </p:txBody>
      </p:sp>
      <p:sp>
        <p:nvSpPr>
          <p:cNvPr id="5" name="Slide Number Placeholder 4">
            <a:extLst>
              <a:ext uri="{FF2B5EF4-FFF2-40B4-BE49-F238E27FC236}">
                <a16:creationId xmlns:a16="http://schemas.microsoft.com/office/drawing/2014/main" id="{D16A03F0-5CD3-D820-6E1A-C32649F916C8}"/>
              </a:ext>
            </a:extLst>
          </p:cNvPr>
          <p:cNvSpPr>
            <a:spLocks noGrp="1"/>
          </p:cNvSpPr>
          <p:nvPr>
            <p:ph type="sldNum" sz="quarter" idx="40"/>
          </p:nvPr>
        </p:nvSpPr>
        <p:spPr/>
        <p:txBody>
          <a:bodyPr/>
          <a:lstStyle/>
          <a:p>
            <a:fld id="{47FEACEE-25B4-4A2D-B147-27296E36371D}" type="slidenum">
              <a:rPr lang="en-US" altLang="zh-CN" noProof="0" smtClean="0"/>
              <a:pPr/>
              <a:t>32</a:t>
            </a:fld>
            <a:endParaRPr lang="en-US" altLang="zh-CN" noProof="0" dirty="0"/>
          </a:p>
        </p:txBody>
      </p:sp>
    </p:spTree>
    <p:extLst>
      <p:ext uri="{BB962C8B-B14F-4D97-AF65-F5344CB8AC3E}">
        <p14:creationId xmlns:p14="http://schemas.microsoft.com/office/powerpoint/2010/main" val="13479822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6BE80-EA3A-DA27-68DD-D82ABAAE124F}"/>
              </a:ext>
            </a:extLst>
          </p:cNvPr>
          <p:cNvSpPr>
            <a:spLocks noGrp="1"/>
          </p:cNvSpPr>
          <p:nvPr>
            <p:ph type="title"/>
          </p:nvPr>
        </p:nvSpPr>
        <p:spPr/>
        <p:txBody>
          <a:bodyPr/>
          <a:lstStyle/>
          <a:p>
            <a:r>
              <a:rPr lang="en-US" dirty="0"/>
              <a:t>The post-mortem of response missing</a:t>
            </a:r>
          </a:p>
        </p:txBody>
      </p:sp>
      <p:sp>
        <p:nvSpPr>
          <p:cNvPr id="3" name="Content Placeholder 2">
            <a:extLst>
              <a:ext uri="{FF2B5EF4-FFF2-40B4-BE49-F238E27FC236}">
                <a16:creationId xmlns:a16="http://schemas.microsoft.com/office/drawing/2014/main" id="{6084CDE9-6113-F2C5-C397-21847CC54D7E}"/>
              </a:ext>
            </a:extLst>
          </p:cNvPr>
          <p:cNvSpPr>
            <a:spLocks noGrp="1"/>
          </p:cNvSpPr>
          <p:nvPr>
            <p:ph idx="14"/>
          </p:nvPr>
        </p:nvSpPr>
        <p:spPr>
          <a:xfrm>
            <a:off x="3465575" y="3108960"/>
            <a:ext cx="7728593" cy="3108960"/>
          </a:xfrm>
        </p:spPr>
        <p:txBody>
          <a:bodyPr/>
          <a:lstStyle/>
          <a:p>
            <a:r>
              <a:rPr lang="en-US" dirty="0"/>
              <a:t>When an AI model delivers a frustrating or useless response, it usually stems from one of three structural flaws in your prompt. Diagnosing the exact root cause tells you exactly how to patch it.</a:t>
            </a:r>
          </a:p>
          <a:p>
            <a:endParaRPr lang="en-US" dirty="0"/>
          </a:p>
        </p:txBody>
      </p:sp>
      <p:sp>
        <p:nvSpPr>
          <p:cNvPr id="5" name="Slide Number Placeholder 4">
            <a:extLst>
              <a:ext uri="{FF2B5EF4-FFF2-40B4-BE49-F238E27FC236}">
                <a16:creationId xmlns:a16="http://schemas.microsoft.com/office/drawing/2014/main" id="{2A53355E-A60F-28F5-3A32-9543FDE7C296}"/>
              </a:ext>
            </a:extLst>
          </p:cNvPr>
          <p:cNvSpPr>
            <a:spLocks noGrp="1"/>
          </p:cNvSpPr>
          <p:nvPr>
            <p:ph type="sldNum" sz="quarter" idx="40"/>
          </p:nvPr>
        </p:nvSpPr>
        <p:spPr/>
        <p:txBody>
          <a:bodyPr/>
          <a:lstStyle/>
          <a:p>
            <a:fld id="{47FEACEE-25B4-4A2D-B147-27296E36371D}" type="slidenum">
              <a:rPr lang="en-US" altLang="zh-CN" noProof="0" smtClean="0"/>
              <a:pPr/>
              <a:t>33</a:t>
            </a:fld>
            <a:endParaRPr lang="en-US" altLang="zh-CN" noProof="0" dirty="0"/>
          </a:p>
        </p:txBody>
      </p:sp>
      <p:pic>
        <p:nvPicPr>
          <p:cNvPr id="7" name="Picture 6">
            <a:extLst>
              <a:ext uri="{FF2B5EF4-FFF2-40B4-BE49-F238E27FC236}">
                <a16:creationId xmlns:a16="http://schemas.microsoft.com/office/drawing/2014/main" id="{3EF710F6-1037-8DB2-B1B0-A9BF0DE0AA59}"/>
              </a:ext>
            </a:extLst>
          </p:cNvPr>
          <p:cNvPicPr>
            <a:picLocks noChangeAspect="1"/>
          </p:cNvPicPr>
          <p:nvPr/>
        </p:nvPicPr>
        <p:blipFill>
          <a:blip r:embed="rId2"/>
          <a:stretch>
            <a:fillRect/>
          </a:stretch>
        </p:blipFill>
        <p:spPr>
          <a:xfrm>
            <a:off x="3862695" y="4314210"/>
            <a:ext cx="5962094" cy="1540899"/>
          </a:xfrm>
          <a:prstGeom prst="rect">
            <a:avLst/>
          </a:prstGeom>
        </p:spPr>
      </p:pic>
    </p:spTree>
    <p:extLst>
      <p:ext uri="{BB962C8B-B14F-4D97-AF65-F5344CB8AC3E}">
        <p14:creationId xmlns:p14="http://schemas.microsoft.com/office/powerpoint/2010/main" val="29473864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FCA10-8B50-F7FF-0669-58B4B4EF9E74}"/>
              </a:ext>
            </a:extLst>
          </p:cNvPr>
          <p:cNvSpPr>
            <a:spLocks noGrp="1"/>
          </p:cNvSpPr>
          <p:nvPr>
            <p:ph type="title"/>
          </p:nvPr>
        </p:nvSpPr>
        <p:spPr>
          <a:xfrm>
            <a:off x="3465576" y="1499616"/>
            <a:ext cx="7955280" cy="889623"/>
          </a:xfrm>
        </p:spPr>
        <p:txBody>
          <a:bodyPr>
            <a:normAutofit fontScale="90000"/>
          </a:bodyPr>
          <a:lstStyle/>
          <a:p>
            <a:r>
              <a:rPr lang="en-US" dirty="0"/>
              <a:t>Refine vs. Restart: The Decision Matrix</a:t>
            </a:r>
          </a:p>
        </p:txBody>
      </p:sp>
      <p:pic>
        <p:nvPicPr>
          <p:cNvPr id="7" name="Content Placeholder 6">
            <a:extLst>
              <a:ext uri="{FF2B5EF4-FFF2-40B4-BE49-F238E27FC236}">
                <a16:creationId xmlns:a16="http://schemas.microsoft.com/office/drawing/2014/main" id="{EE1206D7-D9B8-AD40-EBE1-1B942F2A14E9}"/>
              </a:ext>
            </a:extLst>
          </p:cNvPr>
          <p:cNvPicPr>
            <a:picLocks noGrp="1" noChangeAspect="1"/>
          </p:cNvPicPr>
          <p:nvPr>
            <p:ph idx="14"/>
          </p:nvPr>
        </p:nvPicPr>
        <p:blipFill>
          <a:blip r:embed="rId2"/>
          <a:stretch>
            <a:fillRect/>
          </a:stretch>
        </p:blipFill>
        <p:spPr>
          <a:xfrm>
            <a:off x="3958997" y="2913805"/>
            <a:ext cx="4274006" cy="3109913"/>
          </a:xfrm>
          <a:prstGeom prst="rect">
            <a:avLst/>
          </a:prstGeom>
        </p:spPr>
      </p:pic>
      <p:sp>
        <p:nvSpPr>
          <p:cNvPr id="5" name="Slide Number Placeholder 4">
            <a:extLst>
              <a:ext uri="{FF2B5EF4-FFF2-40B4-BE49-F238E27FC236}">
                <a16:creationId xmlns:a16="http://schemas.microsoft.com/office/drawing/2014/main" id="{560739B0-24C4-9270-1152-168D5128DE8B}"/>
              </a:ext>
            </a:extLst>
          </p:cNvPr>
          <p:cNvSpPr>
            <a:spLocks noGrp="1"/>
          </p:cNvSpPr>
          <p:nvPr>
            <p:ph type="sldNum" sz="quarter" idx="40"/>
          </p:nvPr>
        </p:nvSpPr>
        <p:spPr/>
        <p:txBody>
          <a:bodyPr/>
          <a:lstStyle/>
          <a:p>
            <a:fld id="{47FEACEE-25B4-4A2D-B147-27296E36371D}" type="slidenum">
              <a:rPr lang="en-US" altLang="zh-CN" noProof="0" smtClean="0"/>
              <a:pPr/>
              <a:t>34</a:t>
            </a:fld>
            <a:endParaRPr lang="en-US" altLang="zh-CN" noProof="0" dirty="0"/>
          </a:p>
        </p:txBody>
      </p:sp>
    </p:spTree>
    <p:extLst>
      <p:ext uri="{BB962C8B-B14F-4D97-AF65-F5344CB8AC3E}">
        <p14:creationId xmlns:p14="http://schemas.microsoft.com/office/powerpoint/2010/main" val="38324884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96C5B-7E8D-D4FC-0259-9C732052D3D1}"/>
              </a:ext>
            </a:extLst>
          </p:cNvPr>
          <p:cNvSpPr>
            <a:spLocks noGrp="1"/>
          </p:cNvSpPr>
          <p:nvPr>
            <p:ph type="title"/>
          </p:nvPr>
        </p:nvSpPr>
        <p:spPr/>
        <p:txBody>
          <a:bodyPr/>
          <a:lstStyle/>
          <a:p>
            <a:r>
              <a:rPr lang="en-US" dirty="0"/>
              <a:t>Smart Prompt Storage Strategy</a:t>
            </a:r>
          </a:p>
        </p:txBody>
      </p:sp>
      <p:sp>
        <p:nvSpPr>
          <p:cNvPr id="3" name="Content Placeholder 2">
            <a:extLst>
              <a:ext uri="{FF2B5EF4-FFF2-40B4-BE49-F238E27FC236}">
                <a16:creationId xmlns:a16="http://schemas.microsoft.com/office/drawing/2014/main" id="{2DD66B34-CDDB-8F55-9FA2-397D0DAFA7B7}"/>
              </a:ext>
            </a:extLst>
          </p:cNvPr>
          <p:cNvSpPr>
            <a:spLocks noGrp="1"/>
          </p:cNvSpPr>
          <p:nvPr>
            <p:ph idx="14"/>
          </p:nvPr>
        </p:nvSpPr>
        <p:spPr>
          <a:xfrm>
            <a:off x="3465576" y="3108960"/>
            <a:ext cx="7297362" cy="3108960"/>
          </a:xfrm>
        </p:spPr>
        <p:txBody>
          <a:bodyPr/>
          <a:lstStyle/>
          <a:p>
            <a:pPr lvl="0"/>
            <a:r>
              <a:rPr lang="en-US" b="1" dirty="0"/>
              <a:t>Create "Modular Elements":</a:t>
            </a:r>
            <a:r>
              <a:rPr lang="en-US" dirty="0"/>
              <a:t> Instead of saving massive, static 500-word prompts, save reusable components. Have a library of your favorite </a:t>
            </a:r>
            <a:r>
              <a:rPr lang="en-US" b="1" dirty="0"/>
              <a:t>Personas</a:t>
            </a:r>
            <a:r>
              <a:rPr lang="en-US" dirty="0"/>
              <a:t>, your absolute strictest </a:t>
            </a:r>
            <a:r>
              <a:rPr lang="en-US" b="1" dirty="0"/>
              <a:t>Formatting Constraints</a:t>
            </a:r>
            <a:r>
              <a:rPr lang="en-US" dirty="0"/>
              <a:t>, and your cleanest </a:t>
            </a:r>
            <a:r>
              <a:rPr lang="en-US" b="1" dirty="0"/>
              <a:t>Few-Shot Examples</a:t>
            </a:r>
            <a:r>
              <a:rPr lang="en-US" dirty="0"/>
              <a:t>. You can then mix and match them like LEGO bricks depending on your task.</a:t>
            </a:r>
          </a:p>
          <a:p>
            <a:pPr lvl="0"/>
            <a:r>
              <a:rPr lang="en-US" b="1" dirty="0"/>
              <a:t>Tag by Intent:</a:t>
            </a:r>
            <a:r>
              <a:rPr lang="en-US" dirty="0"/>
              <a:t> Organize your library using simple functional tags like #summarization, #code-review, #copywriting, or #data-extraction so you can find your blueprints instantly.</a:t>
            </a:r>
          </a:p>
          <a:p>
            <a:pPr marL="0" indent="0">
              <a:buNone/>
            </a:pPr>
            <a:endParaRPr lang="en-US" dirty="0"/>
          </a:p>
        </p:txBody>
      </p:sp>
      <p:sp>
        <p:nvSpPr>
          <p:cNvPr id="5" name="Slide Number Placeholder 4">
            <a:extLst>
              <a:ext uri="{FF2B5EF4-FFF2-40B4-BE49-F238E27FC236}">
                <a16:creationId xmlns:a16="http://schemas.microsoft.com/office/drawing/2014/main" id="{170125A5-6D78-29AE-53C9-29F14C51A21E}"/>
              </a:ext>
            </a:extLst>
          </p:cNvPr>
          <p:cNvSpPr>
            <a:spLocks noGrp="1"/>
          </p:cNvSpPr>
          <p:nvPr>
            <p:ph type="sldNum" sz="quarter" idx="40"/>
          </p:nvPr>
        </p:nvSpPr>
        <p:spPr/>
        <p:txBody>
          <a:bodyPr/>
          <a:lstStyle/>
          <a:p>
            <a:fld id="{47FEACEE-25B4-4A2D-B147-27296E36371D}" type="slidenum">
              <a:rPr lang="en-US" altLang="zh-CN" noProof="0" smtClean="0"/>
              <a:pPr/>
              <a:t>35</a:t>
            </a:fld>
            <a:endParaRPr lang="en-US" altLang="zh-CN" noProof="0" dirty="0"/>
          </a:p>
        </p:txBody>
      </p:sp>
    </p:spTree>
    <p:extLst>
      <p:ext uri="{BB962C8B-B14F-4D97-AF65-F5344CB8AC3E}">
        <p14:creationId xmlns:p14="http://schemas.microsoft.com/office/powerpoint/2010/main" val="16100225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Questions</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endParaRPr lang="en-US" dirty="0"/>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2.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dark</Template>
  <TotalTime>878</TotalTime>
  <Words>2253</Words>
  <Application>Microsoft Office PowerPoint</Application>
  <PresentationFormat>Widescreen</PresentationFormat>
  <Paragraphs>185</Paragraphs>
  <Slides>36</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等线</vt:lpstr>
      <vt:lpstr>Abadi</vt:lpstr>
      <vt:lpstr>Arial</vt:lpstr>
      <vt:lpstr>Calibri</vt:lpstr>
      <vt:lpstr>Posterama</vt:lpstr>
      <vt:lpstr>Posterama Text SemiBold</vt:lpstr>
      <vt:lpstr>Custom</vt:lpstr>
      <vt:lpstr>Working With AI Tools</vt:lpstr>
      <vt:lpstr>Agenda </vt:lpstr>
      <vt:lpstr>Prompt Engineering</vt:lpstr>
      <vt:lpstr>How LLMs read a Prompt </vt:lpstr>
      <vt:lpstr>Token Optimization &amp; Cost Efficiency</vt:lpstr>
      <vt:lpstr>The Token Ratio – 100 English words ~ 130 Tokens. Non-English words, code blocks and special characters take up more tokens per word.   Granular Tracking – Monitor the input token count with Token Library e.g. OpenAI supports tiktoken or anthropic-tokenizer (Claude).   Stop Sequences – Implementation of explicit stop token to prevent unnecessary fillers to overcome wastage of tokens and output precision  </vt:lpstr>
      <vt:lpstr>Context Window Management  Total Memory space available between input prompt and output </vt:lpstr>
      <vt:lpstr>Anatomy of Effective Prompt</vt:lpstr>
      <vt:lpstr>The 6 Core Building Blocks</vt:lpstr>
      <vt:lpstr>3 Rules for Prompt Mastery</vt:lpstr>
      <vt:lpstr>The Reusable Template</vt:lpstr>
      <vt:lpstr>Steps to build Prompt Library</vt:lpstr>
      <vt:lpstr>Core Prompting Techniques</vt:lpstr>
      <vt:lpstr>Zero-Shot Prompting</vt:lpstr>
      <vt:lpstr>Contrast Framework</vt:lpstr>
      <vt:lpstr>Zero-shot prompting asks an AI to complete a task without showing it any examples, while few-shot prompting provides 1 to 3 examples of the exact input-output structure you want before giving the final prompt.</vt:lpstr>
      <vt:lpstr>Zero Shot Example (no Guidance)</vt:lpstr>
      <vt:lpstr>Few-Shot Example (Pattern Lock-in)</vt:lpstr>
      <vt:lpstr>Scenario to Zero-shot and Few-shot</vt:lpstr>
      <vt:lpstr>Controlling the Output</vt:lpstr>
      <vt:lpstr>Power of Structured Output</vt:lpstr>
      <vt:lpstr>Scenario to use Markdown Vs JSON</vt:lpstr>
      <vt:lpstr>Controlling Tone, Reading level and Length</vt:lpstr>
      <vt:lpstr>2. Controlling Reading Level</vt:lpstr>
      <vt:lpstr>3. Controlling the Length</vt:lpstr>
      <vt:lpstr>Constraining scope to prevent rambling or off-topic answers</vt:lpstr>
      <vt:lpstr>PowerPoint Presentation</vt:lpstr>
      <vt:lpstr>PowerPoint Presentation</vt:lpstr>
      <vt:lpstr>PowerPoint Presentation</vt:lpstr>
      <vt:lpstr>PowerPoint Presentation</vt:lpstr>
      <vt:lpstr>Constraint Blueprint</vt:lpstr>
      <vt:lpstr>Iteration and Debugging</vt:lpstr>
      <vt:lpstr>The post-mortem of response missing</vt:lpstr>
      <vt:lpstr>Refine vs. Restart: The Decision Matrix</vt:lpstr>
      <vt:lpstr>Smart Prompt Storage Strategy</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32</cp:revision>
  <dcterms:created xsi:type="dcterms:W3CDTF">2026-10-11T10:57:53Z</dcterms:created>
  <dcterms:modified xsi:type="dcterms:W3CDTF">2026-10-23T11:06:27Z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